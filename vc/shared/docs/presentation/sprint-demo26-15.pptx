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Frame the two halves in one line: 'the marketplace we ship to customers now has two plugins, and the pipeline we run internally got smarter about where it spends effort.' Read the four numbers, give the running order, move on — this slide is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Section-one divider — the MARKETPLACE, the part a customer installs. Pause so the room resets context. Flag that vc-perf is the thing you'll actually drive live in two slides' time, so they know to pay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vc-fix. Don't read all four cards — pick two for the room. For leadership: containment (closed schema, client code can't leak by type) and the delivery fix. For engineers: the self-check three-layer split. The delivery one is the most concrete story — a token with MORE rights delivered LESS, because it printed a hand-off and sent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PLUGIN. The whole slide hangs on the 'blind to' row at the bottom of each card — that's WHY there are three layers rather than one. L1 can't see a round-trip you removed, L2 can't tell you who caused what it measured, L3 can't see what the load never exercised. Then the callout: it borrows vc-fix's machinery and ships only the measurement delta. Say 'advisory only, never a gate' out loud — nobody wants a flaky perf check blocking 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SLIDE — drive this live if the environment is up. The point to land is the OUTPUT: not a wall of trace data, but a ranked list where each candidate carries its evidence share, the shape of the fix, where the fix lands, and how to verify it. That's what a developer picks up. If the env isn't up, walk the terminal panel instead — it's the same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perf work earns its place — real numbers, this sprint. Be precise about attribution: this came from /qa-perf-measure, the sibling skill for DEPLOYED environments, not from the plugin itself; same discipline, different instrument. Two things to land: paired controls in the same window are what make a null result trustworthy, and the residual scaling at slope 1.0 is what proves it's an N+1 rather than a guess. If asked how confident: every measured value fell inside its predicted set across all ten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Section-two divider — the internal pipeline. Reset context: 'this is how WE test, day to day.' The colour shifts to indigo. Read the rail as the menu for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Keep it tight — the value slide is next and that's the one that matters. The single best line: 'a fix-ready bug is a VERIFICATION, not a feature test' — we were doing authoring and promotion work for tickets that needed neither. Point at the diagram rather than reading the bullets. End on the tie-break: when in doubt,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 read it as a table, don't narrate every cell. Three passes, in this order: across the top, five steps; down the OWNER row, note that every step has exactly one accountable owner and only Step 1 pulls in the BA agents; down the GATE row, note that three of the five are cheap inline checks and only two buy an independent verifier. The 'ends with' strip is what a stakeholder actually receives — and the amber chip is the boundary: the pipeline stops at a recommendation, a human merges and releases. If someone asks why Step 5 has two hard stops: one guards the verdict before it's filed, the other guards promotion after the close-out.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SLIDE — the most important one in section two. Work down the before/after rows; each is a real cost that went away. If you only have time for two: 'effort tracks risk' and 'one pipeline, one promoter' (cases now reach the real suites in the same run that authored them, and get reverted if they don't earn promotion). Close on --iterate, and stress that merge and release are still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The framing IS the content: judgement gates buy independence, deterministic gates buy certainty — don't mix them up. Left column: the verifier is a FRESH instance, never the step's own doer, and it re-checks live on a DIFFERENT browser lane. One re-verify round, then stop — it can't loop forever. Right column: four lints that simply refuse. The 'declared-but-missing suite' one is worth a sentence — that's how a selection could silently run zero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Oracle review. Lead with the merge rationale (two audits, one mechanism) then the evidence in the callout: the ECL axis had no gate at ALL, and its first run found 20 dangling references across ~65 cases. The citation-contract rule is the subtle one — renumbering a surviving entry silently repoints every previously-correct citation, and no gate can detect that, which is why it's forbidden rather than checked. If someone asks whether it can be wrong: yes — the gate proves a reference EXISTS, not that it's the RIGHT one; that call stays with the review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cards, mapped to the two sections. Marketplace: two products now, one of them handable to a customer. Pipeline: proportionate by default. Principle: independent where it counts, deterministic everywhere else, and merge stays human. Then open for questions and offer the live vc-perf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37612"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 / 13</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SPRINT 26-15 · AGENTIC QA</a:t>
            </a:r>
            <a:endParaRPr lang="en-US" sz="950" dirty="0"/>
          </a:p>
        </p:txBody>
      </p:sp>
      <p:sp>
        <p:nvSpPr>
          <p:cNvPr id="6" name="Text 4"/>
          <p:cNvSpPr/>
          <p:nvPr/>
        </p:nvSpPr>
        <p:spPr>
          <a:xfrm>
            <a:off x="658368" y="1051560"/>
            <a:ext cx="10872216" cy="1554480"/>
          </a:xfrm>
          <a:prstGeom prst="rect">
            <a:avLst/>
          </a:prstGeom>
          <a:noFill/>
          <a:ln/>
        </p:spPr>
        <p:txBody>
          <a:bodyPr wrap="square" rtlCol="0" anchor="t"/>
          <a:lstStyle/>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Two plugins to ship,</a:t>
            </a:r>
            <a:endParaRPr lang="en-US" sz="4200" dirty="0"/>
          </a:p>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one pipeline to run.</a:t>
            </a:r>
            <a:endParaRPr lang="en-US" sz="4200" dirty="0"/>
          </a:p>
        </p:txBody>
      </p:sp>
      <p:sp>
        <p:nvSpPr>
          <p:cNvPr id="7" name="Text 5"/>
          <p:cNvSpPr/>
          <p:nvPr/>
        </p:nvSpPr>
        <p:spPr>
          <a:xfrm>
            <a:off x="658368" y="2743200"/>
            <a:ext cx="7863840" cy="822960"/>
          </a:xfrm>
          <a:prstGeom prst="rect">
            <a:avLst/>
          </a:prstGeom>
          <a:noFill/>
          <a:ln/>
        </p:spPr>
        <p:txBody>
          <a:bodyPr wrap="square" rtlCol="0" anchor="t"/>
          <a:lstStyle/>
          <a:p>
            <a:pPr indent="0" marL="0">
              <a:lnSpc>
                <a:spcPct val="125000"/>
              </a:lnSpc>
              <a:buNone/>
            </a:pPr>
            <a:r>
              <a:rPr lang="en-US" sz="1350" dirty="0">
                <a:solidFill>
                  <a:srgbClr val="4D5C70"/>
                </a:solidFill>
                <a:latin typeface="Segoe UI" pitchFamily="34" charset="0"/>
                <a:ea typeface="Segoe UI" pitchFamily="34" charset="-122"/>
                <a:cs typeface="Segoe UI" pitchFamily="34" charset="-120"/>
              </a:rPr>
              <a:t>The vc-tools marketplace gained a second plugin this sprint, and the internal QA pipeline learned to spend effort in proportion to risk — and to prove its own knowledge is still true.</a:t>
            </a:r>
            <a:endParaRPr lang="en-US" sz="1350" dirty="0"/>
          </a:p>
        </p:txBody>
      </p:sp>
      <p:sp>
        <p:nvSpPr>
          <p:cNvPr id="8" name="Shape 6"/>
          <p:cNvSpPr/>
          <p:nvPr/>
        </p:nvSpPr>
        <p:spPr>
          <a:xfrm>
            <a:off x="658368" y="3794760"/>
            <a:ext cx="10872216" cy="0"/>
          </a:xfrm>
          <a:prstGeom prst="line">
            <a:avLst/>
          </a:prstGeom>
          <a:noFill/>
          <a:ln w="9525">
            <a:solidFill>
              <a:srgbClr val="DBE3EC"/>
            </a:solidFill>
            <a:prstDash val="solid"/>
          </a:ln>
        </p:spPr>
      </p:sp>
      <p:sp>
        <p:nvSpPr>
          <p:cNvPr id="9" name="Shape 7"/>
          <p:cNvSpPr/>
          <p:nvPr/>
        </p:nvSpPr>
        <p:spPr>
          <a:xfrm>
            <a:off x="658368" y="4709160"/>
            <a:ext cx="10872216" cy="0"/>
          </a:xfrm>
          <a:prstGeom prst="line">
            <a:avLst/>
          </a:prstGeom>
          <a:noFill/>
          <a:ln w="9525">
            <a:solidFill>
              <a:srgbClr val="DBE3EC"/>
            </a:solidFill>
            <a:prstDash val="solid"/>
          </a:ln>
        </p:spPr>
      </p:sp>
      <p:sp>
        <p:nvSpPr>
          <p:cNvPr id="10" name="Text 8"/>
          <p:cNvSpPr/>
          <p:nvPr/>
        </p:nvSpPr>
        <p:spPr>
          <a:xfrm>
            <a:off x="658368" y="3950208"/>
            <a:ext cx="2103120" cy="384048"/>
          </a:xfrm>
          <a:prstGeom prst="rect">
            <a:avLst/>
          </a:prstGeom>
          <a:noFill/>
          <a:ln/>
        </p:spPr>
        <p:txBody>
          <a:bodyPr wrap="square" rtlCol="0" anchor="t"/>
          <a:lstStyle/>
          <a:p>
            <a:pPr indent="0" marL="0">
              <a:buNone/>
            </a:pPr>
            <a:r>
              <a:rPr lang="en-US" sz="2200" b="1" dirty="0">
                <a:solidFill>
                  <a:srgbClr val="16202E"/>
                </a:solidFill>
                <a:latin typeface="Consolas" pitchFamily="34" charset="0"/>
                <a:ea typeface="Consolas" pitchFamily="34" charset="-122"/>
                <a:cs typeface="Consolas" pitchFamily="34" charset="-120"/>
              </a:rPr>
              <a:t>2</a:t>
            </a:r>
            <a:endParaRPr lang="en-US" sz="2200" dirty="0"/>
          </a:p>
        </p:txBody>
      </p:sp>
      <p:sp>
        <p:nvSpPr>
          <p:cNvPr id="11" name="Text 9"/>
          <p:cNvSpPr/>
          <p:nvPr/>
        </p:nvSpPr>
        <p:spPr>
          <a:xfrm>
            <a:off x="658368" y="4352544"/>
            <a:ext cx="210312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PLUGINS</a:t>
            </a:r>
            <a:endParaRPr lang="en-US" sz="800" dirty="0"/>
          </a:p>
        </p:txBody>
      </p:sp>
      <p:sp>
        <p:nvSpPr>
          <p:cNvPr id="12" name="Shape 10"/>
          <p:cNvSpPr/>
          <p:nvPr/>
        </p:nvSpPr>
        <p:spPr>
          <a:xfrm>
            <a:off x="2743200" y="3913632"/>
            <a:ext cx="0" cy="713232"/>
          </a:xfrm>
          <a:prstGeom prst="line">
            <a:avLst/>
          </a:prstGeom>
          <a:noFill/>
          <a:ln w="9525">
            <a:solidFill>
              <a:srgbClr val="DBE3EC"/>
            </a:solidFill>
            <a:prstDash val="solid"/>
          </a:ln>
        </p:spPr>
      </p:sp>
      <p:sp>
        <p:nvSpPr>
          <p:cNvPr id="13" name="Text 11"/>
          <p:cNvSpPr/>
          <p:nvPr/>
        </p:nvSpPr>
        <p:spPr>
          <a:xfrm>
            <a:off x="2944368" y="3950208"/>
            <a:ext cx="2103120" cy="384048"/>
          </a:xfrm>
          <a:prstGeom prst="rect">
            <a:avLst/>
          </a:prstGeom>
          <a:noFill/>
          <a:ln/>
        </p:spPr>
        <p:txBody>
          <a:bodyPr wrap="square" rtlCol="0" anchor="t"/>
          <a:lstStyle/>
          <a:p>
            <a:pPr indent="0" marL="0">
              <a:buNone/>
            </a:pPr>
            <a:r>
              <a:rPr lang="en-US" sz="2200" b="1" dirty="0">
                <a:solidFill>
                  <a:srgbClr val="16202E"/>
                </a:solidFill>
                <a:latin typeface="Consolas" pitchFamily="34" charset="0"/>
                <a:ea typeface="Consolas" pitchFamily="34" charset="-122"/>
                <a:cs typeface="Consolas" pitchFamily="34" charset="-120"/>
              </a:rPr>
              <a:t>3</a:t>
            </a:r>
            <a:endParaRPr lang="en-US" sz="2200" dirty="0"/>
          </a:p>
        </p:txBody>
      </p:sp>
      <p:sp>
        <p:nvSpPr>
          <p:cNvPr id="14" name="Text 12"/>
          <p:cNvSpPr/>
          <p:nvPr/>
        </p:nvSpPr>
        <p:spPr>
          <a:xfrm>
            <a:off x="2944368" y="4352544"/>
            <a:ext cx="210312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NEW COMMANDS</a:t>
            </a:r>
            <a:endParaRPr lang="en-US" sz="800" dirty="0"/>
          </a:p>
        </p:txBody>
      </p:sp>
      <p:sp>
        <p:nvSpPr>
          <p:cNvPr id="15" name="Shape 13"/>
          <p:cNvSpPr/>
          <p:nvPr/>
        </p:nvSpPr>
        <p:spPr>
          <a:xfrm>
            <a:off x="5029200" y="3913632"/>
            <a:ext cx="0" cy="713232"/>
          </a:xfrm>
          <a:prstGeom prst="line">
            <a:avLst/>
          </a:prstGeom>
          <a:noFill/>
          <a:ln w="9525">
            <a:solidFill>
              <a:srgbClr val="DBE3EC"/>
            </a:solidFill>
            <a:prstDash val="solid"/>
          </a:ln>
        </p:spPr>
      </p:sp>
      <p:sp>
        <p:nvSpPr>
          <p:cNvPr id="16" name="Text 14"/>
          <p:cNvSpPr/>
          <p:nvPr/>
        </p:nvSpPr>
        <p:spPr>
          <a:xfrm>
            <a:off x="5230368" y="3950208"/>
            <a:ext cx="2103120" cy="384048"/>
          </a:xfrm>
          <a:prstGeom prst="rect">
            <a:avLst/>
          </a:prstGeom>
          <a:noFill/>
          <a:ln/>
        </p:spPr>
        <p:txBody>
          <a:bodyPr wrap="square" rtlCol="0" anchor="t"/>
          <a:lstStyle/>
          <a:p>
            <a:pPr indent="0" marL="0">
              <a:buNone/>
            </a:pPr>
            <a:r>
              <a:rPr lang="en-US" sz="2200" b="1" dirty="0">
                <a:solidFill>
                  <a:srgbClr val="16202E"/>
                </a:solidFill>
                <a:latin typeface="Consolas" pitchFamily="34" charset="0"/>
                <a:ea typeface="Consolas" pitchFamily="34" charset="-122"/>
                <a:cs typeface="Consolas" pitchFamily="34" charset="-120"/>
              </a:rPr>
              <a:t>121</a:t>
            </a:r>
            <a:endParaRPr lang="en-US" sz="2200" dirty="0"/>
          </a:p>
        </p:txBody>
      </p:sp>
      <p:sp>
        <p:nvSpPr>
          <p:cNvPr id="17" name="Text 15"/>
          <p:cNvSpPr/>
          <p:nvPr/>
        </p:nvSpPr>
        <p:spPr>
          <a:xfrm>
            <a:off x="5230368" y="4352544"/>
            <a:ext cx="210312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SUITES</a:t>
            </a:r>
            <a:endParaRPr lang="en-US" sz="800" dirty="0"/>
          </a:p>
        </p:txBody>
      </p:sp>
      <p:sp>
        <p:nvSpPr>
          <p:cNvPr id="18" name="Shape 16"/>
          <p:cNvSpPr/>
          <p:nvPr/>
        </p:nvSpPr>
        <p:spPr>
          <a:xfrm>
            <a:off x="7315200" y="3913632"/>
            <a:ext cx="0" cy="713232"/>
          </a:xfrm>
          <a:prstGeom prst="line">
            <a:avLst/>
          </a:prstGeom>
          <a:noFill/>
          <a:ln w="9525">
            <a:solidFill>
              <a:srgbClr val="DBE3EC"/>
            </a:solidFill>
            <a:prstDash val="solid"/>
          </a:ln>
        </p:spPr>
      </p:sp>
      <p:sp>
        <p:nvSpPr>
          <p:cNvPr id="19" name="Text 17"/>
          <p:cNvSpPr/>
          <p:nvPr/>
        </p:nvSpPr>
        <p:spPr>
          <a:xfrm>
            <a:off x="7516368" y="3950208"/>
            <a:ext cx="2103120" cy="384048"/>
          </a:xfrm>
          <a:prstGeom prst="rect">
            <a:avLst/>
          </a:prstGeom>
          <a:noFill/>
          <a:ln/>
        </p:spPr>
        <p:txBody>
          <a:bodyPr wrap="square" rtlCol="0" anchor="t"/>
          <a:lstStyle/>
          <a:p>
            <a:pPr indent="0" marL="0">
              <a:buNone/>
            </a:pPr>
            <a:r>
              <a:rPr lang="en-US" sz="2200" b="1" dirty="0">
                <a:solidFill>
                  <a:srgbClr val="16202E"/>
                </a:solidFill>
                <a:latin typeface="Consolas" pitchFamily="34" charset="0"/>
                <a:ea typeface="Consolas" pitchFamily="34" charset="-122"/>
                <a:cs typeface="Consolas" pitchFamily="34" charset="-120"/>
              </a:rPr>
              <a:t>3,985</a:t>
            </a:r>
            <a:endParaRPr lang="en-US" sz="2200" dirty="0"/>
          </a:p>
        </p:txBody>
      </p:sp>
      <p:sp>
        <p:nvSpPr>
          <p:cNvPr id="20" name="Text 18"/>
          <p:cNvSpPr/>
          <p:nvPr/>
        </p:nvSpPr>
        <p:spPr>
          <a:xfrm>
            <a:off x="7516368" y="4352544"/>
            <a:ext cx="210312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TEST CASES</a:t>
            </a:r>
            <a:endParaRPr lang="en-US" sz="800" dirty="0"/>
          </a:p>
        </p:txBody>
      </p:sp>
      <p:sp>
        <p:nvSpPr>
          <p:cNvPr id="21" name="Text 19"/>
          <p:cNvSpPr/>
          <p:nvPr/>
        </p:nvSpPr>
        <p:spPr>
          <a:xfrm>
            <a:off x="658368" y="4983480"/>
            <a:ext cx="10872216" cy="274320"/>
          </a:xfrm>
          <a:prstGeom prst="rect">
            <a:avLst/>
          </a:prstGeom>
          <a:noFill/>
          <a:ln/>
        </p:spPr>
        <p:txBody>
          <a:bodyPr wrap="square" rtlCol="0" anchor="ctr"/>
          <a:lstStyle/>
          <a:p>
            <a:pPr indent="0" marL="0">
              <a:buNone/>
            </a:pPr>
            <a:r>
              <a:rPr lang="en-US" sz="1050" dirty="0">
                <a:solidFill>
                  <a:srgbClr val="4D5C70"/>
                </a:solidFill>
                <a:latin typeface="Consolas" pitchFamily="34" charset="0"/>
                <a:ea typeface="Consolas" pitchFamily="34" charset="-122"/>
                <a:cs typeface="Consolas" pitchFamily="34" charset="-120"/>
              </a:rPr>
              <a:t>Running order:  vc-fix + vc-perf  →  /qa-test, gates, oracle review  →  questions.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875223"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2 / 13</a:t>
            </a:r>
            <a:endParaRPr lang="en-US" sz="900" dirty="0"/>
          </a:p>
        </p:txBody>
      </p:sp>
      <p:sp>
        <p:nvSpPr>
          <p:cNvPr id="4" name="Shape 2"/>
          <p:cNvSpPr/>
          <p:nvPr/>
        </p:nvSpPr>
        <p:spPr>
          <a:xfrm>
            <a:off x="6949440" y="0"/>
            <a:ext cx="5239512" cy="3108960"/>
          </a:xfrm>
          <a:prstGeom prst="rect">
            <a:avLst/>
          </a:prstGeom>
          <a:solidFill>
            <a:srgbClr val="E2F4F1"/>
          </a:solidFill>
          <a:ln/>
        </p:spPr>
      </p:sp>
      <p:sp>
        <p:nvSpPr>
          <p:cNvPr id="5" name="Text 3"/>
          <p:cNvSpPr/>
          <p:nvPr/>
        </p:nvSpPr>
        <p:spPr>
          <a:xfrm>
            <a:off x="658368" y="1965960"/>
            <a:ext cx="10872216" cy="274320"/>
          </a:xfrm>
          <a:prstGeom prst="rect">
            <a:avLst/>
          </a:prstGeom>
          <a:noFill/>
          <a:ln/>
        </p:spPr>
        <p:txBody>
          <a:bodyPr wrap="square" rtlCol="0" anchor="ctr"/>
          <a:lstStyle/>
          <a:p>
            <a:pPr indent="0" marL="0">
              <a:buNone/>
            </a:pPr>
            <a:r>
              <a:rPr lang="en-US" sz="1000" b="1" spc="240" kern="0" dirty="0">
                <a:solidFill>
                  <a:srgbClr val="7C8AA0"/>
                </a:solidFill>
                <a:latin typeface="Consolas" pitchFamily="34" charset="0"/>
                <a:ea typeface="Consolas" pitchFamily="34" charset="-122"/>
                <a:cs typeface="Consolas" pitchFamily="34" charset="-120"/>
              </a:rPr>
              <a:t>SECTION ONE</a:t>
            </a:r>
            <a:endParaRPr lang="en-US" sz="1000" dirty="0"/>
          </a:p>
        </p:txBody>
      </p:sp>
      <p:sp>
        <p:nvSpPr>
          <p:cNvPr id="6" name="Text 4"/>
          <p:cNvSpPr/>
          <p:nvPr/>
        </p:nvSpPr>
        <p:spPr>
          <a:xfrm>
            <a:off x="658368" y="2286000"/>
            <a:ext cx="7680960" cy="1554480"/>
          </a:xfrm>
          <a:prstGeom prst="rect">
            <a:avLst/>
          </a:prstGeom>
          <a:noFill/>
          <a:ln/>
        </p:spPr>
        <p:txBody>
          <a:bodyPr wrap="square" rtlCol="0" anchor="t"/>
          <a:lstStyle/>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The vc-tools</a:t>
            </a:r>
            <a:endParaRPr lang="en-US" sz="4200" dirty="0"/>
          </a:p>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marketplace</a:t>
            </a:r>
            <a:endParaRPr lang="en-US" sz="4200" dirty="0"/>
          </a:p>
        </p:txBody>
      </p:sp>
      <p:sp>
        <p:nvSpPr>
          <p:cNvPr id="7" name="Text 5"/>
          <p:cNvSpPr/>
          <p:nvPr/>
        </p:nvSpPr>
        <p:spPr>
          <a:xfrm>
            <a:off x="658368" y="3931920"/>
            <a:ext cx="6949440" cy="64008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What a customer installs. vc-fix got more trustworthy and more portable; vc-perf is brand new — the piece we'll actually demo.</a:t>
            </a:r>
            <a:endParaRPr lang="en-US" sz="1300" dirty="0"/>
          </a:p>
        </p:txBody>
      </p:sp>
      <p:sp>
        <p:nvSpPr>
          <p:cNvPr id="8" name="Shape 6"/>
          <p:cNvSpPr/>
          <p:nvPr/>
        </p:nvSpPr>
        <p:spPr>
          <a:xfrm>
            <a:off x="658368" y="4754880"/>
            <a:ext cx="969264" cy="310896"/>
          </a:xfrm>
          <a:prstGeom prst="roundRect">
            <a:avLst>
              <a:gd name="adj" fmla="val 14706"/>
            </a:avLst>
          </a:prstGeom>
          <a:solidFill>
            <a:srgbClr val="FFFFFF"/>
          </a:solidFill>
          <a:ln w="6350">
            <a:solidFill>
              <a:srgbClr val="DBE3EC"/>
            </a:solidFill>
            <a:prstDash val="solid"/>
          </a:ln>
        </p:spPr>
      </p:sp>
      <p:sp>
        <p:nvSpPr>
          <p:cNvPr id="9" name="Text 7"/>
          <p:cNvSpPr/>
          <p:nvPr/>
        </p:nvSpPr>
        <p:spPr>
          <a:xfrm>
            <a:off x="658368" y="4754880"/>
            <a:ext cx="96926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vc-fix 0.8.3</a:t>
            </a:r>
            <a:endParaRPr lang="en-US" sz="900" dirty="0"/>
          </a:p>
        </p:txBody>
      </p:sp>
      <p:sp>
        <p:nvSpPr>
          <p:cNvPr id="10" name="Shape 8"/>
          <p:cNvSpPr/>
          <p:nvPr/>
        </p:nvSpPr>
        <p:spPr>
          <a:xfrm>
            <a:off x="1737360" y="4754880"/>
            <a:ext cx="1449324" cy="310896"/>
          </a:xfrm>
          <a:prstGeom prst="roundRect">
            <a:avLst>
              <a:gd name="adj" fmla="val 14706"/>
            </a:avLst>
          </a:prstGeom>
          <a:solidFill>
            <a:srgbClr val="FFFFFF"/>
          </a:solidFill>
          <a:ln w="6350">
            <a:solidFill>
              <a:srgbClr val="DBE3EC"/>
            </a:solidFill>
            <a:prstDash val="solid"/>
          </a:ln>
        </p:spPr>
      </p:sp>
      <p:sp>
        <p:nvSpPr>
          <p:cNvPr id="11" name="Text 9"/>
          <p:cNvSpPr/>
          <p:nvPr/>
        </p:nvSpPr>
        <p:spPr>
          <a:xfrm>
            <a:off x="1737360" y="4754880"/>
            <a:ext cx="144932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vc-perf 0.2.6 — new</a:t>
            </a:r>
            <a:endParaRPr lang="en-US" sz="900" dirty="0"/>
          </a:p>
        </p:txBody>
      </p:sp>
      <p:sp>
        <p:nvSpPr>
          <p:cNvPr id="12" name="Shape 10"/>
          <p:cNvSpPr/>
          <p:nvPr/>
        </p:nvSpPr>
        <p:spPr>
          <a:xfrm>
            <a:off x="3296412" y="4754880"/>
            <a:ext cx="969264" cy="310896"/>
          </a:xfrm>
          <a:prstGeom prst="roundRect">
            <a:avLst>
              <a:gd name="adj" fmla="val 14706"/>
            </a:avLst>
          </a:prstGeom>
          <a:solidFill>
            <a:srgbClr val="FFFFFF"/>
          </a:solidFill>
          <a:ln w="6350">
            <a:solidFill>
              <a:srgbClr val="DBE3EC"/>
            </a:solidFill>
            <a:prstDash val="solid"/>
          </a:ln>
        </p:spPr>
      </p:sp>
      <p:sp>
        <p:nvSpPr>
          <p:cNvPr id="13" name="Text 11"/>
          <p:cNvSpPr/>
          <p:nvPr/>
        </p:nvSpPr>
        <p:spPr>
          <a:xfrm>
            <a:off x="3296412" y="4754880"/>
            <a:ext cx="96926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L1 benchmark</a:t>
            </a:r>
            <a:endParaRPr lang="en-US" sz="900" dirty="0"/>
          </a:p>
        </p:txBody>
      </p:sp>
      <p:sp>
        <p:nvSpPr>
          <p:cNvPr id="14" name="Shape 12"/>
          <p:cNvSpPr/>
          <p:nvPr/>
        </p:nvSpPr>
        <p:spPr>
          <a:xfrm>
            <a:off x="4375404" y="4754880"/>
            <a:ext cx="626364" cy="310896"/>
          </a:xfrm>
          <a:prstGeom prst="roundRect">
            <a:avLst>
              <a:gd name="adj" fmla="val 14706"/>
            </a:avLst>
          </a:prstGeom>
          <a:solidFill>
            <a:srgbClr val="FFFFFF"/>
          </a:solidFill>
          <a:ln w="6350">
            <a:solidFill>
              <a:srgbClr val="DBE3EC"/>
            </a:solidFill>
            <a:prstDash val="solid"/>
          </a:ln>
        </p:spPr>
      </p:sp>
      <p:sp>
        <p:nvSpPr>
          <p:cNvPr id="15" name="Text 13"/>
          <p:cNvSpPr/>
          <p:nvPr/>
        </p:nvSpPr>
        <p:spPr>
          <a:xfrm>
            <a:off x="4375404" y="4754880"/>
            <a:ext cx="62636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L2 load</a:t>
            </a:r>
            <a:endParaRPr lang="en-US" sz="900" dirty="0"/>
          </a:p>
        </p:txBody>
      </p:sp>
      <p:sp>
        <p:nvSpPr>
          <p:cNvPr id="16" name="Shape 14"/>
          <p:cNvSpPr/>
          <p:nvPr/>
        </p:nvSpPr>
        <p:spPr>
          <a:xfrm>
            <a:off x="5111496" y="4754880"/>
            <a:ext cx="1106424" cy="310896"/>
          </a:xfrm>
          <a:prstGeom prst="roundRect">
            <a:avLst>
              <a:gd name="adj" fmla="val 14706"/>
            </a:avLst>
          </a:prstGeom>
          <a:solidFill>
            <a:srgbClr val="FFFFFF"/>
          </a:solidFill>
          <a:ln w="6350">
            <a:solidFill>
              <a:srgbClr val="DBE3EC"/>
            </a:solidFill>
            <a:prstDash val="solid"/>
          </a:ln>
        </p:spPr>
      </p:sp>
      <p:sp>
        <p:nvSpPr>
          <p:cNvPr id="17" name="Text 15"/>
          <p:cNvSpPr/>
          <p:nvPr/>
        </p:nvSpPr>
        <p:spPr>
          <a:xfrm>
            <a:off x="5111496" y="4754880"/>
            <a:ext cx="110642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L3 attribution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2812835"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3 / 13</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VC-TOOLS MARKETPLACE · VC-FIX 0.8.3</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The plugin a customer installs got more honest.</a:t>
            </a:r>
            <a:endParaRPr lang="en-US" sz="2800" dirty="0"/>
          </a:p>
        </p:txBody>
      </p:sp>
      <p:sp>
        <p:nvSpPr>
          <p:cNvPr id="7" name="Text 5"/>
          <p:cNvSpPr/>
          <p:nvPr/>
        </p:nvSpPr>
        <p:spPr>
          <a:xfrm>
            <a:off x="658368" y="1691640"/>
            <a:ext cx="950976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Four changes, all of which make the difference between a plugin we'd demo and a plugin we'd leave running on someone else's stack.</a:t>
            </a:r>
            <a:endParaRPr lang="en-US" sz="1300" dirty="0"/>
          </a:p>
        </p:txBody>
      </p:sp>
      <p:sp>
        <p:nvSpPr>
          <p:cNvPr id="8" name="Shape 6"/>
          <p:cNvSpPr/>
          <p:nvPr/>
        </p:nvSpPr>
        <p:spPr>
          <a:xfrm>
            <a:off x="658368" y="2359152"/>
            <a:ext cx="5276088" cy="1810512"/>
          </a:xfrm>
          <a:prstGeom prst="roundRect">
            <a:avLst>
              <a:gd name="adj" fmla="val 3030"/>
            </a:avLst>
          </a:prstGeom>
          <a:solidFill>
            <a:srgbClr val="FFFFFF"/>
          </a:solidFill>
          <a:ln w="6350">
            <a:solidFill>
              <a:srgbClr val="DBE3EC"/>
            </a:solidFill>
            <a:prstDash val="solid"/>
          </a:ln>
        </p:spPr>
      </p:sp>
      <p:sp>
        <p:nvSpPr>
          <p:cNvPr id="9" name="Shape 7"/>
          <p:cNvSpPr/>
          <p:nvPr/>
        </p:nvSpPr>
        <p:spPr>
          <a:xfrm>
            <a:off x="658368" y="2404872"/>
            <a:ext cx="41148" cy="1719072"/>
          </a:xfrm>
          <a:prstGeom prst="rect">
            <a:avLst/>
          </a:prstGeom>
          <a:solidFill>
            <a:srgbClr val="0F9D8F"/>
          </a:solidFill>
          <a:ln/>
        </p:spPr>
      </p:sp>
      <p:sp>
        <p:nvSpPr>
          <p:cNvPr id="10" name="Text 8"/>
          <p:cNvSpPr/>
          <p:nvPr/>
        </p:nvSpPr>
        <p:spPr>
          <a:xfrm>
            <a:off x="914400" y="2542032"/>
            <a:ext cx="4818888"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SELF-CHECK</a:t>
            </a:r>
            <a:endParaRPr lang="en-US" sz="800" dirty="0"/>
          </a:p>
        </p:txBody>
      </p:sp>
      <p:sp>
        <p:nvSpPr>
          <p:cNvPr id="11" name="Text 9"/>
          <p:cNvSpPr/>
          <p:nvPr/>
        </p:nvSpPr>
        <p:spPr>
          <a:xfrm>
            <a:off x="914400" y="2779776"/>
            <a:ext cx="4818888"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Trustworthy by construction</a:t>
            </a:r>
            <a:endParaRPr lang="en-US" sz="1300" dirty="0"/>
          </a:p>
        </p:txBody>
      </p:sp>
      <p:sp>
        <p:nvSpPr>
          <p:cNvPr id="12" name="Text 10"/>
          <p:cNvSpPr/>
          <p:nvPr/>
        </p:nvSpPr>
        <p:spPr>
          <a:xfrm>
            <a:off x="914400" y="3163824"/>
            <a:ext cx="4818888" cy="82296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Capture, judgement and surfacing are now three separate layers. The collector records every anomaly and is forbidden to decide whether it matters — so a signal it doesn't recognise can no longer disappear before anyone analyses it.</a:t>
            </a:r>
            <a:endParaRPr lang="en-US" sz="950" dirty="0"/>
          </a:p>
        </p:txBody>
      </p:sp>
      <p:sp>
        <p:nvSpPr>
          <p:cNvPr id="13" name="Shape 11"/>
          <p:cNvSpPr/>
          <p:nvPr/>
        </p:nvSpPr>
        <p:spPr>
          <a:xfrm>
            <a:off x="6254496" y="2359152"/>
            <a:ext cx="5276088" cy="1810512"/>
          </a:xfrm>
          <a:prstGeom prst="roundRect">
            <a:avLst>
              <a:gd name="adj" fmla="val 3030"/>
            </a:avLst>
          </a:prstGeom>
          <a:solidFill>
            <a:srgbClr val="FFFFFF"/>
          </a:solidFill>
          <a:ln w="6350">
            <a:solidFill>
              <a:srgbClr val="DBE3EC"/>
            </a:solidFill>
            <a:prstDash val="solid"/>
          </a:ln>
        </p:spPr>
      </p:sp>
      <p:sp>
        <p:nvSpPr>
          <p:cNvPr id="14" name="Shape 12"/>
          <p:cNvSpPr/>
          <p:nvPr/>
        </p:nvSpPr>
        <p:spPr>
          <a:xfrm>
            <a:off x="6254496" y="2404872"/>
            <a:ext cx="41148" cy="1719072"/>
          </a:xfrm>
          <a:prstGeom prst="rect">
            <a:avLst/>
          </a:prstGeom>
          <a:solidFill>
            <a:srgbClr val="0F9D8F"/>
          </a:solidFill>
          <a:ln/>
        </p:spPr>
      </p:sp>
      <p:sp>
        <p:nvSpPr>
          <p:cNvPr id="15" name="Text 13"/>
          <p:cNvSpPr/>
          <p:nvPr/>
        </p:nvSpPr>
        <p:spPr>
          <a:xfrm>
            <a:off x="6510528" y="2542032"/>
            <a:ext cx="4818888"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DELIVER</a:t>
            </a:r>
            <a:endParaRPr lang="en-US" sz="800" dirty="0"/>
          </a:p>
        </p:txBody>
      </p:sp>
      <p:sp>
        <p:nvSpPr>
          <p:cNvPr id="16" name="Text 14"/>
          <p:cNvSpPr/>
          <p:nvPr/>
        </p:nvSpPr>
        <p:spPr>
          <a:xfrm>
            <a:off x="6510528" y="2779776"/>
            <a:ext cx="4818888"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Contribution that contributes</a:t>
            </a:r>
            <a:endParaRPr lang="en-US" sz="1300" dirty="0"/>
          </a:p>
        </p:txBody>
      </p:sp>
      <p:sp>
        <p:nvSpPr>
          <p:cNvPr id="17" name="Text 15"/>
          <p:cNvSpPr/>
          <p:nvPr/>
        </p:nvSpPr>
        <p:spPr>
          <a:xfrm>
            <a:off x="6510528" y="3163824"/>
            <a:ext cx="4818888" cy="82296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Routes cut to issue or local. Previously a token with MORE rights delivered LESS — it printed a hand-off and sent nothing, while a weaker token filed automatically. A transient failure now retries once before falling back.</a:t>
            </a:r>
            <a:endParaRPr lang="en-US" sz="950" dirty="0"/>
          </a:p>
        </p:txBody>
      </p:sp>
      <p:sp>
        <p:nvSpPr>
          <p:cNvPr id="18" name="Shape 16"/>
          <p:cNvSpPr/>
          <p:nvPr/>
        </p:nvSpPr>
        <p:spPr>
          <a:xfrm>
            <a:off x="658368" y="4389120"/>
            <a:ext cx="5276088" cy="1810512"/>
          </a:xfrm>
          <a:prstGeom prst="roundRect">
            <a:avLst>
              <a:gd name="adj" fmla="val 3030"/>
            </a:avLst>
          </a:prstGeom>
          <a:solidFill>
            <a:srgbClr val="FFFFFF"/>
          </a:solidFill>
          <a:ln w="6350">
            <a:solidFill>
              <a:srgbClr val="DBE3EC"/>
            </a:solidFill>
            <a:prstDash val="solid"/>
          </a:ln>
        </p:spPr>
      </p:sp>
      <p:sp>
        <p:nvSpPr>
          <p:cNvPr id="19" name="Shape 17"/>
          <p:cNvSpPr/>
          <p:nvPr/>
        </p:nvSpPr>
        <p:spPr>
          <a:xfrm>
            <a:off x="658368" y="4434840"/>
            <a:ext cx="41148" cy="1719072"/>
          </a:xfrm>
          <a:prstGeom prst="rect">
            <a:avLst/>
          </a:prstGeom>
          <a:solidFill>
            <a:srgbClr val="0F9D8F"/>
          </a:solidFill>
          <a:ln/>
        </p:spPr>
      </p:sp>
      <p:sp>
        <p:nvSpPr>
          <p:cNvPr id="20" name="Text 18"/>
          <p:cNvSpPr/>
          <p:nvPr/>
        </p:nvSpPr>
        <p:spPr>
          <a:xfrm>
            <a:off x="914400" y="4572000"/>
            <a:ext cx="4818888"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/PROJECT-INIT</a:t>
            </a:r>
            <a:endParaRPr lang="en-US" sz="800" dirty="0"/>
          </a:p>
        </p:txBody>
      </p:sp>
      <p:sp>
        <p:nvSpPr>
          <p:cNvPr id="21" name="Text 19"/>
          <p:cNvSpPr/>
          <p:nvPr/>
        </p:nvSpPr>
        <p:spPr>
          <a:xfrm>
            <a:off x="914400" y="4809744"/>
            <a:ext cx="4818888"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Writes where it should</a:t>
            </a:r>
            <a:endParaRPr lang="en-US" sz="1300" dirty="0"/>
          </a:p>
        </p:txBody>
      </p:sp>
      <p:sp>
        <p:nvSpPr>
          <p:cNvPr id="22" name="Text 20"/>
          <p:cNvSpPr/>
          <p:nvPr/>
        </p:nvSpPr>
        <p:spPr>
          <a:xfrm>
            <a:off x="914400" y="5193792"/>
            <a:ext cx="4818888" cy="82296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Output root and plugin root are now separate concepts, so an installed plugin writes the project's profile and env into the project — never into its own versioned marketplace cache.</a:t>
            </a:r>
            <a:endParaRPr lang="en-US" sz="950" dirty="0"/>
          </a:p>
        </p:txBody>
      </p:sp>
      <p:sp>
        <p:nvSpPr>
          <p:cNvPr id="23" name="Shape 21"/>
          <p:cNvSpPr/>
          <p:nvPr/>
        </p:nvSpPr>
        <p:spPr>
          <a:xfrm>
            <a:off x="6254496" y="4389120"/>
            <a:ext cx="5276088" cy="1810512"/>
          </a:xfrm>
          <a:prstGeom prst="roundRect">
            <a:avLst>
              <a:gd name="adj" fmla="val 3030"/>
            </a:avLst>
          </a:prstGeom>
          <a:solidFill>
            <a:srgbClr val="FFFFFF"/>
          </a:solidFill>
          <a:ln w="6350">
            <a:solidFill>
              <a:srgbClr val="DBE3EC"/>
            </a:solidFill>
            <a:prstDash val="solid"/>
          </a:ln>
        </p:spPr>
      </p:sp>
      <p:sp>
        <p:nvSpPr>
          <p:cNvPr id="24" name="Shape 22"/>
          <p:cNvSpPr/>
          <p:nvPr/>
        </p:nvSpPr>
        <p:spPr>
          <a:xfrm>
            <a:off x="6254496" y="4434840"/>
            <a:ext cx="41148" cy="1719072"/>
          </a:xfrm>
          <a:prstGeom prst="rect">
            <a:avLst/>
          </a:prstGeom>
          <a:solidFill>
            <a:srgbClr val="0F9D8F"/>
          </a:solidFill>
          <a:ln/>
        </p:spPr>
      </p:sp>
      <p:sp>
        <p:nvSpPr>
          <p:cNvPr id="25" name="Text 23"/>
          <p:cNvSpPr/>
          <p:nvPr/>
        </p:nvSpPr>
        <p:spPr>
          <a:xfrm>
            <a:off x="6510528" y="4572000"/>
            <a:ext cx="4818888"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CONTAINMENT</a:t>
            </a:r>
            <a:endParaRPr lang="en-US" sz="800" dirty="0"/>
          </a:p>
        </p:txBody>
      </p:sp>
      <p:sp>
        <p:nvSpPr>
          <p:cNvPr id="26" name="Text 24"/>
          <p:cNvSpPr/>
          <p:nvPr/>
        </p:nvSpPr>
        <p:spPr>
          <a:xfrm>
            <a:off x="6510528" y="4809744"/>
            <a:ext cx="4818888"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Guaranteed on both surfaces</a:t>
            </a:r>
            <a:endParaRPr lang="en-US" sz="1300" dirty="0"/>
          </a:p>
        </p:txBody>
      </p:sp>
      <p:sp>
        <p:nvSpPr>
          <p:cNvPr id="27" name="Text 25"/>
          <p:cNvSpPr/>
          <p:nvPr/>
        </p:nvSpPr>
        <p:spPr>
          <a:xfrm>
            <a:off x="6510528" y="5193792"/>
            <a:ext cx="4818888" cy="82296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The upstream report is a closed schema of enums and counts — zero free-text fields, so client code can't leak by type rather than by scrubbing. Plugin and in-repo mirror are byte-identical, CI-enforced.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3750447"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4 / 13</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VC-TOOLS MARKETPLACE · NEW PLUGIN</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vc-perf — three instruments, because one is never enough.</a:t>
            </a:r>
            <a:endParaRPr lang="en-US" sz="2800" dirty="0"/>
          </a:p>
        </p:txBody>
      </p:sp>
      <p:sp>
        <p:nvSpPr>
          <p:cNvPr id="7" name="Text 5"/>
          <p:cNvSpPr/>
          <p:nvPr/>
        </p:nvSpPr>
        <p:spPr>
          <a:xfrm>
            <a:off x="658368" y="1691640"/>
            <a:ext cx="1005840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Each layer answers a different question, and each is blind to something the next one sees. Picking the wrong one is how performance work produces confident nonsense.</a:t>
            </a:r>
            <a:endParaRPr lang="en-US" sz="1300" dirty="0"/>
          </a:p>
        </p:txBody>
      </p:sp>
      <p:sp>
        <p:nvSpPr>
          <p:cNvPr id="8" name="Shape 6"/>
          <p:cNvSpPr/>
          <p:nvPr/>
        </p:nvSpPr>
        <p:spPr>
          <a:xfrm>
            <a:off x="658368" y="2542032"/>
            <a:ext cx="3441192" cy="2377440"/>
          </a:xfrm>
          <a:prstGeom prst="roundRect">
            <a:avLst>
              <a:gd name="adj" fmla="val 2308"/>
            </a:avLst>
          </a:prstGeom>
          <a:solidFill>
            <a:srgbClr val="FFFFFF"/>
          </a:solidFill>
          <a:ln w="6350">
            <a:solidFill>
              <a:srgbClr val="DBE3EC"/>
            </a:solidFill>
            <a:prstDash val="solid"/>
          </a:ln>
        </p:spPr>
      </p:sp>
      <p:sp>
        <p:nvSpPr>
          <p:cNvPr id="9" name="Shape 7"/>
          <p:cNvSpPr/>
          <p:nvPr/>
        </p:nvSpPr>
        <p:spPr>
          <a:xfrm>
            <a:off x="658368" y="2587752"/>
            <a:ext cx="41148" cy="2286000"/>
          </a:xfrm>
          <a:prstGeom prst="rect">
            <a:avLst/>
          </a:prstGeom>
          <a:solidFill>
            <a:srgbClr val="0F9D8F"/>
          </a:solidFill>
          <a:ln/>
        </p:spPr>
      </p:sp>
      <p:sp>
        <p:nvSpPr>
          <p:cNvPr id="10" name="Text 8"/>
          <p:cNvSpPr/>
          <p:nvPr/>
        </p:nvSpPr>
        <p:spPr>
          <a:xfrm>
            <a:off x="914400" y="2724912"/>
            <a:ext cx="298399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L1 · BENCHMARKDOTNET</a:t>
            </a:r>
            <a:endParaRPr lang="en-US" sz="800" dirty="0"/>
          </a:p>
        </p:txBody>
      </p:sp>
      <p:sp>
        <p:nvSpPr>
          <p:cNvPr id="11" name="Text 9"/>
          <p:cNvSpPr/>
          <p:nvPr/>
        </p:nvSpPr>
        <p:spPr>
          <a:xfrm>
            <a:off x="914400" y="2962656"/>
            <a:ext cx="298399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Did this code get slower?</a:t>
            </a:r>
            <a:endParaRPr lang="en-US" sz="1300" dirty="0"/>
          </a:p>
        </p:txBody>
      </p:sp>
      <p:sp>
        <p:nvSpPr>
          <p:cNvPr id="12" name="Text 10"/>
          <p:cNvSpPr/>
          <p:nvPr/>
        </p:nvSpPr>
        <p:spPr>
          <a:xfrm>
            <a:off x="914400" y="3346704"/>
            <a:ext cx="2983992" cy="82296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Code-level A/B across two revisions, our override against the stock path, or an upstream before/after. Allocations and time, repeatable.</a:t>
            </a:r>
            <a:endParaRPr lang="en-US" sz="950" dirty="0"/>
          </a:p>
        </p:txBody>
      </p:sp>
      <p:sp>
        <p:nvSpPr>
          <p:cNvPr id="13" name="Shape 11"/>
          <p:cNvSpPr/>
          <p:nvPr/>
        </p:nvSpPr>
        <p:spPr>
          <a:xfrm>
            <a:off x="914400" y="4242816"/>
            <a:ext cx="2929128" cy="0"/>
          </a:xfrm>
          <a:prstGeom prst="line">
            <a:avLst/>
          </a:prstGeom>
          <a:noFill/>
          <a:ln w="9525">
            <a:solidFill>
              <a:srgbClr val="DBE3EC"/>
            </a:solidFill>
            <a:prstDash val="dash"/>
          </a:ln>
        </p:spPr>
      </p:sp>
      <p:sp>
        <p:nvSpPr>
          <p:cNvPr id="14" name="Text 12"/>
          <p:cNvSpPr/>
          <p:nvPr/>
        </p:nvSpPr>
        <p:spPr>
          <a:xfrm>
            <a:off x="914400" y="4297680"/>
            <a:ext cx="2983992" cy="164592"/>
          </a:xfrm>
          <a:prstGeom prst="rect">
            <a:avLst/>
          </a:prstGeom>
          <a:noFill/>
          <a:ln/>
        </p:spPr>
        <p:txBody>
          <a:bodyPr wrap="square" rtlCol="0" anchor="ctr"/>
          <a:lstStyle/>
          <a:p>
            <a:pPr indent="0" marL="0">
              <a:buNone/>
            </a:pPr>
            <a:r>
              <a:rPr lang="en-US" sz="750" b="1" spc="120" kern="0" dirty="0">
                <a:solidFill>
                  <a:srgbClr val="7C8AA0"/>
                </a:solidFill>
                <a:latin typeface="Consolas" pitchFamily="34" charset="0"/>
                <a:ea typeface="Consolas" pitchFamily="34" charset="-122"/>
                <a:cs typeface="Consolas" pitchFamily="34" charset="-120"/>
              </a:rPr>
              <a:t>BLIND TO</a:t>
            </a:r>
            <a:endParaRPr lang="en-US" sz="750" dirty="0"/>
          </a:p>
        </p:txBody>
      </p:sp>
      <p:sp>
        <p:nvSpPr>
          <p:cNvPr id="15" name="Text 13"/>
          <p:cNvSpPr/>
          <p:nvPr/>
        </p:nvSpPr>
        <p:spPr>
          <a:xfrm>
            <a:off x="914400" y="4480560"/>
            <a:ext cx="2983992" cy="402336"/>
          </a:xfrm>
          <a:prstGeom prst="rect">
            <a:avLst/>
          </a:prstGeom>
          <a:noFill/>
          <a:ln/>
        </p:spPr>
        <p:txBody>
          <a:bodyPr wrap="square" rtlCol="0" anchor="t"/>
          <a:lstStyle/>
          <a:p>
            <a:pPr indent="0" marL="0">
              <a:lnSpc>
                <a:spcPct val="112000"/>
              </a:lnSpc>
              <a:buNone/>
            </a:pPr>
            <a:r>
              <a:rPr lang="en-US" sz="900" dirty="0">
                <a:solidFill>
                  <a:srgbClr val="D1495B"/>
                </a:solidFill>
                <a:latin typeface="Consolas" pitchFamily="34" charset="0"/>
                <a:ea typeface="Consolas" pitchFamily="34" charset="-122"/>
                <a:cs typeface="Consolas" pitchFamily="34" charset="-120"/>
              </a:rPr>
              <a:t>a round-trip you removed —</a:t>
            </a:r>
            <a:endParaRPr lang="en-US" sz="900" dirty="0"/>
          </a:p>
          <a:p>
            <a:pPr indent="0" marL="0">
              <a:lnSpc>
                <a:spcPct val="112000"/>
              </a:lnSpc>
              <a:buNone/>
            </a:pPr>
            <a:r>
              <a:rPr lang="en-US" sz="900" dirty="0">
                <a:solidFill>
                  <a:srgbClr val="D1495B"/>
                </a:solidFill>
                <a:latin typeface="Consolas" pitchFamily="34" charset="0"/>
                <a:ea typeface="Consolas" pitchFamily="34" charset="-122"/>
                <a:cs typeface="Consolas" pitchFamily="34" charset="-120"/>
              </a:rPr>
              <a:t>it never left the process</a:t>
            </a:r>
            <a:endParaRPr lang="en-US" sz="900" dirty="0"/>
          </a:p>
        </p:txBody>
      </p:sp>
      <p:sp>
        <p:nvSpPr>
          <p:cNvPr id="16" name="Shape 14"/>
          <p:cNvSpPr/>
          <p:nvPr/>
        </p:nvSpPr>
        <p:spPr>
          <a:xfrm>
            <a:off x="4373880" y="2542032"/>
            <a:ext cx="3441192" cy="2377440"/>
          </a:xfrm>
          <a:prstGeom prst="roundRect">
            <a:avLst>
              <a:gd name="adj" fmla="val 2308"/>
            </a:avLst>
          </a:prstGeom>
          <a:solidFill>
            <a:srgbClr val="FFFFFF"/>
          </a:solidFill>
          <a:ln w="6350">
            <a:solidFill>
              <a:srgbClr val="DBE3EC"/>
            </a:solidFill>
            <a:prstDash val="solid"/>
          </a:ln>
        </p:spPr>
      </p:sp>
      <p:sp>
        <p:nvSpPr>
          <p:cNvPr id="17" name="Shape 15"/>
          <p:cNvSpPr/>
          <p:nvPr/>
        </p:nvSpPr>
        <p:spPr>
          <a:xfrm>
            <a:off x="4373880" y="2587752"/>
            <a:ext cx="41148" cy="2286000"/>
          </a:xfrm>
          <a:prstGeom prst="rect">
            <a:avLst/>
          </a:prstGeom>
          <a:solidFill>
            <a:srgbClr val="5566E0"/>
          </a:solidFill>
          <a:ln/>
        </p:spPr>
      </p:sp>
      <p:sp>
        <p:nvSpPr>
          <p:cNvPr id="18" name="Text 16"/>
          <p:cNvSpPr/>
          <p:nvPr/>
        </p:nvSpPr>
        <p:spPr>
          <a:xfrm>
            <a:off x="4629912" y="2724912"/>
            <a:ext cx="298399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L2 · K6 LOAD HARNESS</a:t>
            </a:r>
            <a:endParaRPr lang="en-US" sz="800" dirty="0"/>
          </a:p>
        </p:txBody>
      </p:sp>
      <p:sp>
        <p:nvSpPr>
          <p:cNvPr id="19" name="Text 17"/>
          <p:cNvSpPr/>
          <p:nvPr/>
        </p:nvSpPr>
        <p:spPr>
          <a:xfrm>
            <a:off x="4629912" y="2962656"/>
            <a:ext cx="298399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How does it hold up?</a:t>
            </a:r>
            <a:endParaRPr lang="en-US" sz="1300" dirty="0"/>
          </a:p>
        </p:txBody>
      </p:sp>
      <p:sp>
        <p:nvSpPr>
          <p:cNvPr id="20" name="Text 18"/>
          <p:cNvSpPr/>
          <p:nvPr/>
        </p:nvSpPr>
        <p:spPr>
          <a:xfrm>
            <a:off x="4629912" y="3346704"/>
            <a:ext cx="2983992" cy="82296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The live system under real concurrency — throughput, p95 latency, GC pressure, with optional counters captured alongside.</a:t>
            </a:r>
            <a:endParaRPr lang="en-US" sz="950" dirty="0"/>
          </a:p>
        </p:txBody>
      </p:sp>
      <p:sp>
        <p:nvSpPr>
          <p:cNvPr id="21" name="Shape 19"/>
          <p:cNvSpPr/>
          <p:nvPr/>
        </p:nvSpPr>
        <p:spPr>
          <a:xfrm>
            <a:off x="4629912" y="4242816"/>
            <a:ext cx="2929128" cy="0"/>
          </a:xfrm>
          <a:prstGeom prst="line">
            <a:avLst/>
          </a:prstGeom>
          <a:noFill/>
          <a:ln w="9525">
            <a:solidFill>
              <a:srgbClr val="DBE3EC"/>
            </a:solidFill>
            <a:prstDash val="dash"/>
          </a:ln>
        </p:spPr>
      </p:sp>
      <p:sp>
        <p:nvSpPr>
          <p:cNvPr id="22" name="Text 20"/>
          <p:cNvSpPr/>
          <p:nvPr/>
        </p:nvSpPr>
        <p:spPr>
          <a:xfrm>
            <a:off x="4629912" y="4297680"/>
            <a:ext cx="2983992" cy="164592"/>
          </a:xfrm>
          <a:prstGeom prst="rect">
            <a:avLst/>
          </a:prstGeom>
          <a:noFill/>
          <a:ln/>
        </p:spPr>
        <p:txBody>
          <a:bodyPr wrap="square" rtlCol="0" anchor="ctr"/>
          <a:lstStyle/>
          <a:p>
            <a:pPr indent="0" marL="0">
              <a:buNone/>
            </a:pPr>
            <a:r>
              <a:rPr lang="en-US" sz="750" b="1" spc="120" kern="0" dirty="0">
                <a:solidFill>
                  <a:srgbClr val="7C8AA0"/>
                </a:solidFill>
                <a:latin typeface="Consolas" pitchFamily="34" charset="0"/>
                <a:ea typeface="Consolas" pitchFamily="34" charset="-122"/>
                <a:cs typeface="Consolas" pitchFamily="34" charset="-120"/>
              </a:rPr>
              <a:t>BLIND TO</a:t>
            </a:r>
            <a:endParaRPr lang="en-US" sz="750" dirty="0"/>
          </a:p>
        </p:txBody>
      </p:sp>
      <p:sp>
        <p:nvSpPr>
          <p:cNvPr id="23" name="Text 21"/>
          <p:cNvSpPr/>
          <p:nvPr/>
        </p:nvSpPr>
        <p:spPr>
          <a:xfrm>
            <a:off x="4629912" y="4480560"/>
            <a:ext cx="2983992" cy="402336"/>
          </a:xfrm>
          <a:prstGeom prst="rect">
            <a:avLst/>
          </a:prstGeom>
          <a:noFill/>
          <a:ln/>
        </p:spPr>
        <p:txBody>
          <a:bodyPr wrap="square" rtlCol="0" anchor="t"/>
          <a:lstStyle/>
          <a:p>
            <a:pPr indent="0" marL="0">
              <a:lnSpc>
                <a:spcPct val="112000"/>
              </a:lnSpc>
              <a:buNone/>
            </a:pPr>
            <a:r>
              <a:rPr lang="en-US" sz="900" dirty="0">
                <a:solidFill>
                  <a:srgbClr val="D1495B"/>
                </a:solidFill>
                <a:latin typeface="Consolas" pitchFamily="34" charset="0"/>
                <a:ea typeface="Consolas" pitchFamily="34" charset="-122"/>
                <a:cs typeface="Consolas" pitchFamily="34" charset="-120"/>
              </a:rPr>
              <a:t>who is responsible for what</a:t>
            </a:r>
            <a:endParaRPr lang="en-US" sz="900" dirty="0"/>
          </a:p>
          <a:p>
            <a:pPr indent="0" marL="0">
              <a:lnSpc>
                <a:spcPct val="112000"/>
              </a:lnSpc>
              <a:buNone/>
            </a:pPr>
            <a:r>
              <a:rPr lang="en-US" sz="900" dirty="0">
                <a:solidFill>
                  <a:srgbClr val="D1495B"/>
                </a:solidFill>
                <a:latin typeface="Consolas" pitchFamily="34" charset="0"/>
                <a:ea typeface="Consolas" pitchFamily="34" charset="-122"/>
                <a:cs typeface="Consolas" pitchFamily="34" charset="-120"/>
              </a:rPr>
              <a:t>it just measured</a:t>
            </a:r>
            <a:endParaRPr lang="en-US" sz="900" dirty="0"/>
          </a:p>
        </p:txBody>
      </p:sp>
      <p:sp>
        <p:nvSpPr>
          <p:cNvPr id="24" name="Shape 22"/>
          <p:cNvSpPr/>
          <p:nvPr/>
        </p:nvSpPr>
        <p:spPr>
          <a:xfrm>
            <a:off x="8089392" y="2542032"/>
            <a:ext cx="3441192" cy="2377440"/>
          </a:xfrm>
          <a:prstGeom prst="roundRect">
            <a:avLst>
              <a:gd name="adj" fmla="val 2308"/>
            </a:avLst>
          </a:prstGeom>
          <a:solidFill>
            <a:srgbClr val="FFFFFF"/>
          </a:solidFill>
          <a:ln w="6350">
            <a:solidFill>
              <a:srgbClr val="DBE3EC"/>
            </a:solidFill>
            <a:prstDash val="solid"/>
          </a:ln>
        </p:spPr>
      </p:sp>
      <p:sp>
        <p:nvSpPr>
          <p:cNvPr id="25" name="Shape 23"/>
          <p:cNvSpPr/>
          <p:nvPr/>
        </p:nvSpPr>
        <p:spPr>
          <a:xfrm>
            <a:off x="8089392" y="2587752"/>
            <a:ext cx="41148" cy="2286000"/>
          </a:xfrm>
          <a:prstGeom prst="rect">
            <a:avLst/>
          </a:prstGeom>
          <a:solidFill>
            <a:srgbClr val="1F9D57"/>
          </a:solidFill>
          <a:ln/>
        </p:spPr>
      </p:sp>
      <p:sp>
        <p:nvSpPr>
          <p:cNvPr id="26" name="Text 24"/>
          <p:cNvSpPr/>
          <p:nvPr/>
        </p:nvSpPr>
        <p:spPr>
          <a:xfrm>
            <a:off x="8345424" y="2724912"/>
            <a:ext cx="298399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L3 · DOTNET-TRACE</a:t>
            </a:r>
            <a:endParaRPr lang="en-US" sz="800" dirty="0"/>
          </a:p>
        </p:txBody>
      </p:sp>
      <p:sp>
        <p:nvSpPr>
          <p:cNvPr id="27" name="Text 25"/>
          <p:cNvSpPr/>
          <p:nvPr/>
        </p:nvSpPr>
        <p:spPr>
          <a:xfrm>
            <a:off x="8345424" y="2962656"/>
            <a:ext cx="298399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Who caused it?</a:t>
            </a:r>
            <a:endParaRPr lang="en-US" sz="1300" dirty="0"/>
          </a:p>
        </p:txBody>
      </p:sp>
      <p:sp>
        <p:nvSpPr>
          <p:cNvPr id="28" name="Text 26"/>
          <p:cNvSpPr/>
          <p:nvPr/>
        </p:nvSpPr>
        <p:spPr>
          <a:xfrm>
            <a:off x="8345424" y="3346704"/>
            <a:ext cx="2983992" cy="82296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Attribution: allocation churn, on-CPU time, and DB command shape, parsed back to the call sites that produced them.</a:t>
            </a:r>
            <a:endParaRPr lang="en-US" sz="950" dirty="0"/>
          </a:p>
        </p:txBody>
      </p:sp>
      <p:sp>
        <p:nvSpPr>
          <p:cNvPr id="29" name="Shape 27"/>
          <p:cNvSpPr/>
          <p:nvPr/>
        </p:nvSpPr>
        <p:spPr>
          <a:xfrm>
            <a:off x="8345424" y="4242816"/>
            <a:ext cx="2929128" cy="0"/>
          </a:xfrm>
          <a:prstGeom prst="line">
            <a:avLst/>
          </a:prstGeom>
          <a:noFill/>
          <a:ln w="9525">
            <a:solidFill>
              <a:srgbClr val="DBE3EC"/>
            </a:solidFill>
            <a:prstDash val="dash"/>
          </a:ln>
        </p:spPr>
      </p:sp>
      <p:sp>
        <p:nvSpPr>
          <p:cNvPr id="30" name="Text 28"/>
          <p:cNvSpPr/>
          <p:nvPr/>
        </p:nvSpPr>
        <p:spPr>
          <a:xfrm>
            <a:off x="8345424" y="4297680"/>
            <a:ext cx="2983992" cy="164592"/>
          </a:xfrm>
          <a:prstGeom prst="rect">
            <a:avLst/>
          </a:prstGeom>
          <a:noFill/>
          <a:ln/>
        </p:spPr>
        <p:txBody>
          <a:bodyPr wrap="square" rtlCol="0" anchor="ctr"/>
          <a:lstStyle/>
          <a:p>
            <a:pPr indent="0" marL="0">
              <a:buNone/>
            </a:pPr>
            <a:r>
              <a:rPr lang="en-US" sz="750" b="1" spc="120" kern="0" dirty="0">
                <a:solidFill>
                  <a:srgbClr val="7C8AA0"/>
                </a:solidFill>
                <a:latin typeface="Consolas" pitchFamily="34" charset="0"/>
                <a:ea typeface="Consolas" pitchFamily="34" charset="-122"/>
                <a:cs typeface="Consolas" pitchFamily="34" charset="-120"/>
              </a:rPr>
              <a:t>BLIND TO</a:t>
            </a:r>
            <a:endParaRPr lang="en-US" sz="750" dirty="0"/>
          </a:p>
        </p:txBody>
      </p:sp>
      <p:sp>
        <p:nvSpPr>
          <p:cNvPr id="31" name="Text 29"/>
          <p:cNvSpPr/>
          <p:nvPr/>
        </p:nvSpPr>
        <p:spPr>
          <a:xfrm>
            <a:off x="8345424" y="4480560"/>
            <a:ext cx="2983992" cy="402336"/>
          </a:xfrm>
          <a:prstGeom prst="rect">
            <a:avLst/>
          </a:prstGeom>
          <a:noFill/>
          <a:ln/>
        </p:spPr>
        <p:txBody>
          <a:bodyPr wrap="square" rtlCol="0" anchor="t"/>
          <a:lstStyle/>
          <a:p>
            <a:pPr indent="0" marL="0">
              <a:lnSpc>
                <a:spcPct val="112000"/>
              </a:lnSpc>
              <a:buNone/>
            </a:pPr>
            <a:r>
              <a:rPr lang="en-US" sz="900" dirty="0">
                <a:solidFill>
                  <a:srgbClr val="D1495B"/>
                </a:solidFill>
                <a:latin typeface="Consolas" pitchFamily="34" charset="0"/>
                <a:ea typeface="Consolas" pitchFamily="34" charset="-122"/>
                <a:cs typeface="Consolas" pitchFamily="34" charset="-120"/>
              </a:rPr>
              <a:t>anything the load didn't</a:t>
            </a:r>
            <a:endParaRPr lang="en-US" sz="900" dirty="0"/>
          </a:p>
          <a:p>
            <a:pPr indent="0" marL="0">
              <a:lnSpc>
                <a:spcPct val="112000"/>
              </a:lnSpc>
              <a:buNone/>
            </a:pPr>
            <a:r>
              <a:rPr lang="en-US" sz="900" dirty="0">
                <a:solidFill>
                  <a:srgbClr val="D1495B"/>
                </a:solidFill>
                <a:latin typeface="Consolas" pitchFamily="34" charset="0"/>
                <a:ea typeface="Consolas" pitchFamily="34" charset="-122"/>
                <a:cs typeface="Consolas" pitchFamily="34" charset="-120"/>
              </a:rPr>
              <a:t>actually exercise</a:t>
            </a:r>
            <a:endParaRPr lang="en-US" sz="900" dirty="0"/>
          </a:p>
        </p:txBody>
      </p:sp>
      <p:sp>
        <p:nvSpPr>
          <p:cNvPr id="32" name="Shape 30"/>
          <p:cNvSpPr/>
          <p:nvPr/>
        </p:nvSpPr>
        <p:spPr>
          <a:xfrm>
            <a:off x="658368" y="5102352"/>
            <a:ext cx="10872216" cy="658368"/>
          </a:xfrm>
          <a:prstGeom prst="roundRect">
            <a:avLst>
              <a:gd name="adj" fmla="val 6944"/>
            </a:avLst>
          </a:prstGeom>
          <a:solidFill>
            <a:srgbClr val="E2F4F1"/>
          </a:solidFill>
          <a:ln w="9525">
            <a:solidFill>
              <a:srgbClr val="0F9D8F"/>
            </a:solidFill>
            <a:prstDash val="dash"/>
          </a:ln>
        </p:spPr>
      </p:sp>
      <p:sp>
        <p:nvSpPr>
          <p:cNvPr id="33" name="Text 31"/>
          <p:cNvSpPr/>
          <p:nvPr/>
        </p:nvSpPr>
        <p:spPr>
          <a:xfrm>
            <a:off x="877824" y="5212080"/>
            <a:ext cx="10433304" cy="438912"/>
          </a:xfrm>
          <a:prstGeom prst="rect">
            <a:avLst/>
          </a:prstGeom>
          <a:noFill/>
          <a:ln/>
        </p:spPr>
        <p:txBody>
          <a:bodyPr wrap="square" rtlCol="0" anchor="ctr"/>
          <a:lstStyle/>
          <a:p>
            <a:pPr indent="0" marL="0">
              <a:lnSpc>
                <a:spcPct val="120000"/>
              </a:lnSpc>
              <a:buNone/>
            </a:pPr>
            <a:r>
              <a:rPr lang="en-US" sz="1050" dirty="0">
                <a:solidFill>
                  <a:srgbClr val="0A6E64"/>
                </a:solidFill>
                <a:latin typeface="Segoe UI" pitchFamily="34" charset="0"/>
                <a:ea typeface="Segoe UI" pitchFamily="34" charset="-122"/>
                <a:cs typeface="Segoe UI" pitchFamily="34" charset="-120"/>
              </a:rPr>
              <a:t>Reuses vc-fix wholesale — onboarding, repo routing, the backend developer and reviewer agents — and ships only the measurement delta.  Advisory only, never a CI gate.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4688058"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5 / 13</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VC-TOOLS MARKETPLACE · LIVE DEMO</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What running it looks like.</a:t>
            </a:r>
            <a:endParaRPr lang="en-US" sz="2800" dirty="0"/>
          </a:p>
        </p:txBody>
      </p:sp>
      <p:sp>
        <p:nvSpPr>
          <p:cNvPr id="7" name="Text 5"/>
          <p:cNvSpPr/>
          <p:nvPr/>
        </p:nvSpPr>
        <p:spPr>
          <a:xfrm>
            <a:off x="658368" y="1691640"/>
            <a:ext cx="585216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One entry point routes to the right layer, then hands back a ranked list rather than a wall of trace output.</a:t>
            </a:r>
            <a:endParaRPr lang="en-US" sz="1300" dirty="0"/>
          </a:p>
        </p:txBody>
      </p:sp>
      <p:sp>
        <p:nvSpPr>
          <p:cNvPr id="8" name="Text 6"/>
          <p:cNvSpPr/>
          <p:nvPr/>
        </p:nvSpPr>
        <p:spPr>
          <a:xfrm>
            <a:off x="658368" y="2606040"/>
            <a:ext cx="237744" cy="256032"/>
          </a:xfrm>
          <a:prstGeom prst="rect">
            <a:avLst/>
          </a:prstGeom>
          <a:noFill/>
          <a:ln/>
        </p:spPr>
        <p:txBody>
          <a:bodyPr wrap="square" rtlCol="0" anchor="t"/>
          <a:lstStyle/>
          <a:p>
            <a:pPr indent="0" marL="0">
              <a:buNone/>
            </a:pPr>
            <a:r>
              <a:rPr lang="en-US" sz="1100" b="1" dirty="0">
                <a:solidFill>
                  <a:srgbClr val="0F9D8F"/>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932688" y="2606040"/>
            <a:ext cx="5577840" cy="603504"/>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/perf-init</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one-time: points the plugin at the local Aspire-hosted backend and the module's own benchmark targets.</a:t>
            </a:r>
            <a:endParaRPr lang="en-US" sz="1050" dirty="0"/>
          </a:p>
        </p:txBody>
      </p:sp>
      <p:sp>
        <p:nvSpPr>
          <p:cNvPr id="10" name="Text 8"/>
          <p:cNvSpPr/>
          <p:nvPr/>
        </p:nvSpPr>
        <p:spPr>
          <a:xfrm>
            <a:off x="658368" y="3209544"/>
            <a:ext cx="237744" cy="256032"/>
          </a:xfrm>
          <a:prstGeom prst="rect">
            <a:avLst/>
          </a:prstGeom>
          <a:noFill/>
          <a:ln/>
        </p:spPr>
        <p:txBody>
          <a:bodyPr wrap="square" rtlCol="0" anchor="t"/>
          <a:lstStyle/>
          <a:p>
            <a:pPr indent="0" marL="0">
              <a:buNone/>
            </a:pPr>
            <a:r>
              <a:rPr lang="en-US" sz="1100" b="1" dirty="0">
                <a:solidFill>
                  <a:srgbClr val="0F9D8F"/>
                </a:solidFill>
                <a:latin typeface="Consolas" pitchFamily="34" charset="0"/>
                <a:ea typeface="Consolas" pitchFamily="34" charset="-122"/>
                <a:cs typeface="Consolas" pitchFamily="34" charset="-120"/>
              </a:rPr>
              <a:t>✓</a:t>
            </a:r>
            <a:endParaRPr lang="en-US" sz="1100" dirty="0"/>
          </a:p>
        </p:txBody>
      </p:sp>
      <p:sp>
        <p:nvSpPr>
          <p:cNvPr id="11" name="Text 9"/>
          <p:cNvSpPr/>
          <p:nvPr/>
        </p:nvSpPr>
        <p:spPr>
          <a:xfrm>
            <a:off x="932688" y="3209544"/>
            <a:ext cx="5577840" cy="603504"/>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/perf-loop</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the diagnose entry point. Name an operation; it decides whether the question is L2, L3, or both, and runs them.</a:t>
            </a:r>
            <a:endParaRPr lang="en-US" sz="1050" dirty="0"/>
          </a:p>
        </p:txBody>
      </p:sp>
      <p:sp>
        <p:nvSpPr>
          <p:cNvPr id="12" name="Text 10"/>
          <p:cNvSpPr/>
          <p:nvPr/>
        </p:nvSpPr>
        <p:spPr>
          <a:xfrm>
            <a:off x="658368" y="3813048"/>
            <a:ext cx="237744" cy="256032"/>
          </a:xfrm>
          <a:prstGeom prst="rect">
            <a:avLst/>
          </a:prstGeom>
          <a:noFill/>
          <a:ln/>
        </p:spPr>
        <p:txBody>
          <a:bodyPr wrap="square" rtlCol="0" anchor="t"/>
          <a:lstStyle/>
          <a:p>
            <a:pPr indent="0" marL="0">
              <a:buNone/>
            </a:pPr>
            <a:r>
              <a:rPr lang="en-US" sz="1100" b="1" dirty="0">
                <a:solidFill>
                  <a:srgbClr val="0F9D8F"/>
                </a:solidFill>
                <a:latin typeface="Consolas" pitchFamily="34" charset="0"/>
                <a:ea typeface="Consolas" pitchFamily="34" charset="-122"/>
                <a:cs typeface="Consolas" pitchFamily="34" charset="-120"/>
              </a:rPr>
              <a:t>✓</a:t>
            </a:r>
            <a:endParaRPr lang="en-US" sz="1100" dirty="0"/>
          </a:p>
        </p:txBody>
      </p:sp>
      <p:sp>
        <p:nvSpPr>
          <p:cNvPr id="13" name="Text 11"/>
          <p:cNvSpPr/>
          <p:nvPr/>
        </p:nvSpPr>
        <p:spPr>
          <a:xfrm>
            <a:off x="932688" y="3813048"/>
            <a:ext cx="5577840" cy="749808"/>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Ranked candidates</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each carries its evidence share, the shape of the fix, where the fix lands, and how to verify it. That's the artifact a developer picks up.</a:t>
            </a:r>
            <a:endParaRPr lang="en-US" sz="1050" dirty="0"/>
          </a:p>
        </p:txBody>
      </p:sp>
      <p:sp>
        <p:nvSpPr>
          <p:cNvPr id="14" name="Text 12"/>
          <p:cNvSpPr/>
          <p:nvPr/>
        </p:nvSpPr>
        <p:spPr>
          <a:xfrm>
            <a:off x="658368" y="4562856"/>
            <a:ext cx="237744" cy="256032"/>
          </a:xfrm>
          <a:prstGeom prst="rect">
            <a:avLst/>
          </a:prstGeom>
          <a:noFill/>
          <a:ln/>
        </p:spPr>
        <p:txBody>
          <a:bodyPr wrap="square" rtlCol="0" anchor="t"/>
          <a:lstStyle/>
          <a:p>
            <a:pPr indent="0" marL="0">
              <a:buNone/>
            </a:pPr>
            <a:r>
              <a:rPr lang="en-US" sz="1100" b="1" dirty="0">
                <a:solidFill>
                  <a:srgbClr val="0F9D8F"/>
                </a:solidFill>
                <a:latin typeface="Consolas" pitchFamily="34" charset="0"/>
                <a:ea typeface="Consolas" pitchFamily="34" charset="-122"/>
                <a:cs typeface="Consolas" pitchFamily="34" charset="-120"/>
              </a:rPr>
              <a:t>✓</a:t>
            </a:r>
            <a:endParaRPr lang="en-US" sz="1100" dirty="0"/>
          </a:p>
        </p:txBody>
      </p:sp>
      <p:sp>
        <p:nvSpPr>
          <p:cNvPr id="15" name="Text 13"/>
          <p:cNvSpPr/>
          <p:nvPr/>
        </p:nvSpPr>
        <p:spPr>
          <a:xfrm>
            <a:off x="932688" y="4562856"/>
            <a:ext cx="5577840" cy="749808"/>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/perf-fix → /perf-verify</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hand a candidate to the existing backend dev + reviewer agents, then re-measure to confirm the number actually moved.</a:t>
            </a:r>
            <a:endParaRPr lang="en-US" sz="1050" dirty="0"/>
          </a:p>
        </p:txBody>
      </p:sp>
      <p:sp>
        <p:nvSpPr>
          <p:cNvPr id="16" name="Shape 14"/>
          <p:cNvSpPr/>
          <p:nvPr/>
        </p:nvSpPr>
        <p:spPr>
          <a:xfrm>
            <a:off x="6858000" y="1737360"/>
            <a:ext cx="4663440" cy="3840480"/>
          </a:xfrm>
          <a:prstGeom prst="roundRect">
            <a:avLst>
              <a:gd name="adj" fmla="val 1905"/>
            </a:avLst>
          </a:prstGeom>
          <a:solidFill>
            <a:srgbClr val="0D141F"/>
          </a:solidFill>
          <a:ln w="6350">
            <a:solidFill>
              <a:srgbClr val="DBE3EC"/>
            </a:solidFill>
            <a:prstDash val="solid"/>
          </a:ln>
        </p:spPr>
      </p:sp>
      <p:sp>
        <p:nvSpPr>
          <p:cNvPr id="17" name="Shape 15"/>
          <p:cNvSpPr/>
          <p:nvPr/>
        </p:nvSpPr>
        <p:spPr>
          <a:xfrm>
            <a:off x="6858000" y="1737360"/>
            <a:ext cx="4663440" cy="310896"/>
          </a:xfrm>
          <a:prstGeom prst="rect">
            <a:avLst/>
          </a:prstGeom>
          <a:solidFill>
            <a:srgbClr val="131C2B"/>
          </a:solidFill>
          <a:ln/>
        </p:spPr>
      </p:sp>
      <p:sp>
        <p:nvSpPr>
          <p:cNvPr id="18" name="Shape 16"/>
          <p:cNvSpPr/>
          <p:nvPr/>
        </p:nvSpPr>
        <p:spPr>
          <a:xfrm>
            <a:off x="6986016" y="1842516"/>
            <a:ext cx="100584" cy="100584"/>
          </a:xfrm>
          <a:prstGeom prst="ellipse">
            <a:avLst/>
          </a:prstGeom>
          <a:solidFill>
            <a:srgbClr val="E0788A"/>
          </a:solidFill>
          <a:ln/>
        </p:spPr>
      </p:sp>
      <p:sp>
        <p:nvSpPr>
          <p:cNvPr id="19" name="Shape 17"/>
          <p:cNvSpPr/>
          <p:nvPr/>
        </p:nvSpPr>
        <p:spPr>
          <a:xfrm>
            <a:off x="7159752" y="1842516"/>
            <a:ext cx="100584" cy="100584"/>
          </a:xfrm>
          <a:prstGeom prst="ellipse">
            <a:avLst/>
          </a:prstGeom>
          <a:solidFill>
            <a:srgbClr val="E0AB53"/>
          </a:solidFill>
          <a:ln/>
        </p:spPr>
      </p:sp>
      <p:sp>
        <p:nvSpPr>
          <p:cNvPr id="20" name="Shape 18"/>
          <p:cNvSpPr/>
          <p:nvPr/>
        </p:nvSpPr>
        <p:spPr>
          <a:xfrm>
            <a:off x="7333488" y="1842516"/>
            <a:ext cx="100584" cy="100584"/>
          </a:xfrm>
          <a:prstGeom prst="ellipse">
            <a:avLst/>
          </a:prstGeom>
          <a:solidFill>
            <a:srgbClr val="43C47E"/>
          </a:solidFill>
          <a:ln/>
        </p:spPr>
      </p:sp>
      <p:sp>
        <p:nvSpPr>
          <p:cNvPr id="21" name="Text 19"/>
          <p:cNvSpPr/>
          <p:nvPr/>
        </p:nvSpPr>
        <p:spPr>
          <a:xfrm>
            <a:off x="7571232" y="1783080"/>
            <a:ext cx="3840480" cy="219456"/>
          </a:xfrm>
          <a:prstGeom prst="rect">
            <a:avLst/>
          </a:prstGeom>
          <a:noFill/>
          <a:ln/>
        </p:spPr>
        <p:txBody>
          <a:bodyPr wrap="square" rtlCol="0" anchor="ctr"/>
          <a:lstStyle/>
          <a:p>
            <a:pPr indent="0" marL="0">
              <a:buNone/>
            </a:pPr>
            <a:r>
              <a:rPr lang="en-US" sz="850" dirty="0">
                <a:solidFill>
                  <a:srgbClr val="7C8AA0"/>
                </a:solidFill>
                <a:latin typeface="Consolas" pitchFamily="34" charset="0"/>
                <a:ea typeface="Consolas" pitchFamily="34" charset="-122"/>
                <a:cs typeface="Consolas" pitchFamily="34" charset="-120"/>
              </a:rPr>
              <a:t>/perf-loop — diagnose</a:t>
            </a:r>
            <a:endParaRPr lang="en-US" sz="850" dirty="0"/>
          </a:p>
        </p:txBody>
      </p:sp>
      <p:sp>
        <p:nvSpPr>
          <p:cNvPr id="22" name="Text 20"/>
          <p:cNvSpPr/>
          <p:nvPr/>
        </p:nvSpPr>
        <p:spPr>
          <a:xfrm>
            <a:off x="7059168" y="2157984"/>
            <a:ext cx="4261104" cy="3273552"/>
          </a:xfrm>
          <a:prstGeom prst="rect">
            <a:avLst/>
          </a:prstGeom>
          <a:noFill/>
          <a:ln/>
        </p:spPr>
        <p:txBody>
          <a:bodyPr wrap="square" rtlCol="0" anchor="t"/>
          <a:lstStyle/>
          <a:p>
            <a:pPr indent="0" marL="0">
              <a:lnSpc>
                <a:spcPct val="132000"/>
              </a:lnSpc>
              <a:buNone/>
            </a:pPr>
            <a:r>
              <a:rPr lang="en-US" sz="950" dirty="0">
                <a:solidFill>
                  <a:srgbClr val="3FD0BF"/>
                </a:solidFill>
                <a:latin typeface="Consolas" pitchFamily="34" charset="0"/>
                <a:ea typeface="Consolas" pitchFamily="34" charset="-122"/>
                <a:cs typeface="Consolas" pitchFamily="34" charset="-120"/>
              </a:rPr>
              <a:t>➜ </a:t>
            </a:r>
            <a:pPr indent="0" marL="0">
              <a:lnSpc>
                <a:spcPct val="132000"/>
              </a:lnSpc>
              <a:buNone/>
            </a:pPr>
            <a:r>
              <a:rPr lang="en-US" sz="950" b="1" dirty="0">
                <a:solidFill>
                  <a:srgbClr val="E7EDF5"/>
                </a:solidFill>
                <a:latin typeface="Consolas" pitchFamily="34" charset="0"/>
                <a:ea typeface="Consolas" pitchFamily="34" charset="-122"/>
                <a:cs typeface="Consolas" pitchFamily="34" charset="-120"/>
              </a:rPr>
              <a:t>/perf-loop getFullCart</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routing … L2 (load) + L3 (attribution)</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8B98F2"/>
                </a:solidFill>
                <a:latin typeface="Consolas" pitchFamily="34" charset="0"/>
                <a:ea typeface="Consolas" pitchFamily="34" charset="-122"/>
                <a:cs typeface="Consolas" pitchFamily="34" charset="-120"/>
              </a:rPr>
              <a:t>  L2 </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throughput  </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rps · p95 · GC</a:t>
            </a:r>
            <a:endParaRPr lang="en-US" sz="950" dirty="0"/>
          </a:p>
          <a:p>
            <a:pPr indent="0" marL="0">
              <a:lnSpc>
                <a:spcPct val="132000"/>
              </a:lnSpc>
              <a:buNone/>
            </a:pPr>
            <a:r>
              <a:rPr lang="en-US" sz="950" dirty="0">
                <a:solidFill>
                  <a:srgbClr val="8B98F2"/>
                </a:solidFill>
                <a:latin typeface="Consolas" pitchFamily="34" charset="0"/>
                <a:ea typeface="Consolas" pitchFamily="34" charset="-122"/>
                <a:cs typeface="Consolas" pitchFamily="34" charset="-120"/>
              </a:rPr>
              <a:t>  L3 </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attribution </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alloc · cpu · db</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43C47E"/>
                </a:solidFill>
                <a:latin typeface="Consolas" pitchFamily="34" charset="0"/>
                <a:ea typeface="Consolas" pitchFamily="34" charset="-122"/>
                <a:cs typeface="Consolas" pitchFamily="34" charset="-120"/>
              </a:rPr>
              <a:t>ranked candidates</a:t>
            </a:r>
            <a:endParaRPr lang="en-US" sz="950" dirty="0"/>
          </a:p>
          <a:p>
            <a:pPr indent="0" marL="0">
              <a:lnSpc>
                <a:spcPct val="132000"/>
              </a:lnSpc>
              <a:buNone/>
            </a:pPr>
            <a:r>
              <a:rPr lang="en-US" sz="950" dirty="0">
                <a:solidFill>
                  <a:srgbClr val="E0AB53"/>
                </a:solidFill>
                <a:latin typeface="Consolas" pitchFamily="34" charset="0"/>
                <a:ea typeface="Consolas" pitchFamily="34" charset="-122"/>
                <a:cs typeface="Consolas" pitchFamily="34" charset="-120"/>
              </a:rPr>
              <a:t>  1 </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allocation churn in a hot mapper</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evidence share · fix shape · lands in</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verify: re-run L1 + L3 on the seam</a:t>
            </a:r>
            <a:endParaRPr lang="en-US" sz="950" dirty="0"/>
          </a:p>
          <a:p>
            <a:pPr indent="0" marL="0">
              <a:lnSpc>
                <a:spcPct val="132000"/>
              </a:lnSpc>
              <a:buNone/>
            </a:pPr>
            <a:r>
              <a:rPr lang="en-US" sz="950" dirty="0">
                <a:solidFill>
                  <a:srgbClr val="E0AB53"/>
                </a:solidFill>
                <a:latin typeface="Consolas" pitchFamily="34" charset="0"/>
                <a:ea typeface="Consolas" pitchFamily="34" charset="-122"/>
                <a:cs typeface="Consolas" pitchFamily="34" charset="-120"/>
              </a:rPr>
              <a:t>  2 </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repeated DB command shape</a:t>
            </a:r>
            <a:endParaRPr lang="en-US" sz="950" dirty="0"/>
          </a:p>
          <a:p>
            <a:pPr indent="0" marL="0">
              <a:lnSpc>
                <a:spcPct val="132000"/>
              </a:lnSpc>
              <a:buNone/>
            </a:pPr>
            <a:r>
              <a:rPr lang="en-US" sz="950" dirty="0">
                <a:solidFill>
                  <a:srgbClr val="E0AB53"/>
                </a:solidFill>
                <a:latin typeface="Consolas" pitchFamily="34" charset="0"/>
                <a:ea typeface="Consolas" pitchFamily="34" charset="-122"/>
                <a:cs typeface="Consolas" pitchFamily="34" charset="-120"/>
              </a:rPr>
              <a:t>  3 </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3FD0BF"/>
                </a:solidFill>
                <a:latin typeface="Consolas" pitchFamily="34" charset="0"/>
                <a:ea typeface="Consolas" pitchFamily="34" charset="-122"/>
                <a:cs typeface="Consolas" pitchFamily="34" charset="-120"/>
              </a:rPr>
              <a:t>➜ </a:t>
            </a:r>
            <a:pPr indent="0" marL="0">
              <a:lnSpc>
                <a:spcPct val="132000"/>
              </a:lnSpc>
              <a:buNone/>
            </a:pPr>
            <a:r>
              <a:rPr lang="en-US" sz="950" b="1" dirty="0">
                <a:solidFill>
                  <a:srgbClr val="E7EDF5"/>
                </a:solidFill>
                <a:latin typeface="Consolas" pitchFamily="34" charset="0"/>
                <a:ea typeface="Consolas" pitchFamily="34" charset="-122"/>
                <a:cs typeface="Consolas" pitchFamily="34" charset="-120"/>
              </a:rPr>
              <a:t>/perf-fix 1</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 backend dev + reviewer</a:t>
            </a:r>
            <a:endParaRPr lang="en-US" sz="950" dirty="0"/>
          </a:p>
          <a:p>
            <a:pPr indent="0" marL="0">
              <a:lnSpc>
                <a:spcPct val="132000"/>
              </a:lnSpc>
              <a:buNone/>
            </a:pPr>
            <a:r>
              <a:rPr lang="en-US" sz="950" dirty="0">
                <a:solidFill>
                  <a:srgbClr val="3FD0BF"/>
                </a:solidFill>
                <a:latin typeface="Consolas" pitchFamily="34" charset="0"/>
                <a:ea typeface="Consolas" pitchFamily="34" charset="-122"/>
                <a:cs typeface="Consolas" pitchFamily="34" charset="-120"/>
              </a:rPr>
              <a:t>➜ </a:t>
            </a:r>
            <a:pPr indent="0" marL="0">
              <a:lnSpc>
                <a:spcPct val="132000"/>
              </a:lnSpc>
              <a:buNone/>
            </a:pPr>
            <a:r>
              <a:rPr lang="en-US" sz="950" b="1" dirty="0">
                <a:solidFill>
                  <a:srgbClr val="E7EDF5"/>
                </a:solidFill>
                <a:latin typeface="Consolas" pitchFamily="34" charset="0"/>
                <a:ea typeface="Consolas" pitchFamily="34" charset="-122"/>
                <a:cs typeface="Consolas" pitchFamily="34" charset="-120"/>
              </a:rPr>
              <a:t>/perf-verify</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 did the number move?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5625670"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6 / 13</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VC-TOOLS MARKETPLACE · WHY IT EARNS ITS PLACE</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The same discipline already found a real N+1.</a:t>
            </a:r>
            <a:endParaRPr lang="en-US" sz="2800" dirty="0"/>
          </a:p>
        </p:txBody>
      </p:sp>
      <p:sp>
        <p:nvSpPr>
          <p:cNvPr id="7" name="Text 5"/>
          <p:cNvSpPr/>
          <p:nvPr/>
        </p:nvSpPr>
        <p:spPr>
          <a:xfrm>
            <a:off x="658368" y="1691640"/>
            <a:ext cx="585216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From /qa-perf-measure, vc-perf's sibling for deployed environments — it counts dependency calls instead of timing them, because counts transfer across environments and latency does not.</a:t>
            </a:r>
            <a:endParaRPr lang="en-US" sz="1300" dirty="0"/>
          </a:p>
        </p:txBody>
      </p:sp>
      <p:sp>
        <p:nvSpPr>
          <p:cNvPr id="8" name="Text 6"/>
          <p:cNvSpPr/>
          <p:nvPr/>
        </p:nvSpPr>
        <p:spPr>
          <a:xfrm>
            <a:off x="658368" y="2743200"/>
            <a:ext cx="237744" cy="256032"/>
          </a:xfrm>
          <a:prstGeom prst="rect">
            <a:avLst/>
          </a:prstGeom>
          <a:noFill/>
          <a:ln/>
        </p:spPr>
        <p:txBody>
          <a:bodyPr wrap="square" rtlCol="0" anchor="t"/>
          <a:lstStyle/>
          <a:p>
            <a:pPr indent="0" marL="0">
              <a:buNone/>
            </a:pPr>
            <a:r>
              <a:rPr lang="en-US" sz="1100" b="1" dirty="0">
                <a:solidFill>
                  <a:srgbClr val="0F9D8F"/>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932688" y="2743200"/>
            <a:ext cx="5577840" cy="768096"/>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Paired controls, same window</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a positive and a negative control fire alongside the real measurement. That is what makes a null result mean "no change" instead of "dead instrument".</a:t>
            </a:r>
            <a:endParaRPr lang="en-US" sz="1050" dirty="0"/>
          </a:p>
        </p:txBody>
      </p:sp>
      <p:sp>
        <p:nvSpPr>
          <p:cNvPr id="10" name="Text 8"/>
          <p:cNvSpPr/>
          <p:nvPr/>
        </p:nvSpPr>
        <p:spPr>
          <a:xfrm>
            <a:off x="658368" y="3511296"/>
            <a:ext cx="237744" cy="256032"/>
          </a:xfrm>
          <a:prstGeom prst="rect">
            <a:avLst/>
          </a:prstGeom>
          <a:noFill/>
          <a:ln/>
        </p:spPr>
        <p:txBody>
          <a:bodyPr wrap="square" rtlCol="0" anchor="t"/>
          <a:lstStyle/>
          <a:p>
            <a:pPr indent="0" marL="0">
              <a:buNone/>
            </a:pPr>
            <a:r>
              <a:rPr lang="en-US" sz="1100" b="1" dirty="0">
                <a:solidFill>
                  <a:srgbClr val="0F9D8F"/>
                </a:solidFill>
                <a:latin typeface="Consolas" pitchFamily="34" charset="0"/>
                <a:ea typeface="Consolas" pitchFamily="34" charset="-122"/>
                <a:cs typeface="Consolas" pitchFamily="34" charset="-120"/>
              </a:rPr>
              <a:t>✓</a:t>
            </a:r>
            <a:endParaRPr lang="en-US" sz="1100" dirty="0"/>
          </a:p>
        </p:txBody>
      </p:sp>
      <p:sp>
        <p:nvSpPr>
          <p:cNvPr id="11" name="Text 9"/>
          <p:cNvSpPr/>
          <p:nvPr/>
        </p:nvSpPr>
        <p:spPr>
          <a:xfrm>
            <a:off x="932688" y="3511296"/>
            <a:ext cx="5577840" cy="621792"/>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The fix worked; browsing was untouched</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four identical searches collapsed to one, and catalog browsing did not move, because its redundancy is a different shape.</a:t>
            </a:r>
            <a:endParaRPr lang="en-US" sz="1050" dirty="0"/>
          </a:p>
        </p:txBody>
      </p:sp>
      <p:sp>
        <p:nvSpPr>
          <p:cNvPr id="12" name="Text 10"/>
          <p:cNvSpPr/>
          <p:nvPr/>
        </p:nvSpPr>
        <p:spPr>
          <a:xfrm>
            <a:off x="658368" y="4133088"/>
            <a:ext cx="237744" cy="256032"/>
          </a:xfrm>
          <a:prstGeom prst="rect">
            <a:avLst/>
          </a:prstGeom>
          <a:noFill/>
          <a:ln/>
        </p:spPr>
        <p:txBody>
          <a:bodyPr wrap="square" rtlCol="0" anchor="t"/>
          <a:lstStyle/>
          <a:p>
            <a:pPr indent="0" marL="0">
              <a:buNone/>
            </a:pPr>
            <a:r>
              <a:rPr lang="en-US" sz="1100" b="1" dirty="0">
                <a:solidFill>
                  <a:srgbClr val="0F9D8F"/>
                </a:solidFill>
                <a:latin typeface="Consolas" pitchFamily="34" charset="0"/>
                <a:ea typeface="Consolas" pitchFamily="34" charset="-122"/>
                <a:cs typeface="Consolas" pitchFamily="34" charset="-120"/>
              </a:rPr>
              <a:t>✓</a:t>
            </a:r>
            <a:endParaRPr lang="en-US" sz="1100" dirty="0"/>
          </a:p>
        </p:txBody>
      </p:sp>
      <p:sp>
        <p:nvSpPr>
          <p:cNvPr id="13" name="Text 11"/>
          <p:cNvSpPr/>
          <p:nvPr/>
        </p:nvSpPr>
        <p:spPr>
          <a:xfrm>
            <a:off x="932688" y="4133088"/>
            <a:ext cx="5577840" cy="768096"/>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The residual scales</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one Elasticsearch search per variation-bearing product on the page. Slope ≈ 1.0, and every measured value landed inside its independently predicted set across all ten cells.</a:t>
            </a:r>
            <a:endParaRPr lang="en-US" sz="1050" dirty="0"/>
          </a:p>
        </p:txBody>
      </p:sp>
      <p:sp>
        <p:nvSpPr>
          <p:cNvPr id="14" name="Text 12"/>
          <p:cNvSpPr/>
          <p:nvPr/>
        </p:nvSpPr>
        <p:spPr>
          <a:xfrm>
            <a:off x="658368" y="4901184"/>
            <a:ext cx="237744" cy="256032"/>
          </a:xfrm>
          <a:prstGeom prst="rect">
            <a:avLst/>
          </a:prstGeom>
          <a:noFill/>
          <a:ln/>
        </p:spPr>
        <p:txBody>
          <a:bodyPr wrap="square" rtlCol="0" anchor="t"/>
          <a:lstStyle/>
          <a:p>
            <a:pPr indent="0" marL="0">
              <a:buNone/>
            </a:pPr>
            <a:r>
              <a:rPr lang="en-US" sz="1100" b="1" dirty="0">
                <a:solidFill>
                  <a:srgbClr val="0F9D8F"/>
                </a:solidFill>
                <a:latin typeface="Consolas" pitchFamily="34" charset="0"/>
                <a:ea typeface="Consolas" pitchFamily="34" charset="-122"/>
                <a:cs typeface="Consolas" pitchFamily="34" charset="-120"/>
              </a:rPr>
              <a:t>✓</a:t>
            </a:r>
            <a:endParaRPr lang="en-US" sz="1100" dirty="0"/>
          </a:p>
        </p:txBody>
      </p:sp>
      <p:sp>
        <p:nvSpPr>
          <p:cNvPr id="15" name="Text 13"/>
          <p:cNvSpPr/>
          <p:nvPr/>
        </p:nvSpPr>
        <p:spPr>
          <a:xfrm>
            <a:off x="932688" y="4901184"/>
            <a:ext cx="5577840" cy="457200"/>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The lever is batching</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not deduplication. Filed as its own ticket with the measurement attached.</a:t>
            </a:r>
            <a:endParaRPr lang="en-US" sz="1050" dirty="0"/>
          </a:p>
        </p:txBody>
      </p:sp>
      <p:sp>
        <p:nvSpPr>
          <p:cNvPr id="16" name="Shape 14"/>
          <p:cNvSpPr/>
          <p:nvPr/>
        </p:nvSpPr>
        <p:spPr>
          <a:xfrm>
            <a:off x="6858000" y="1828800"/>
            <a:ext cx="4663440" cy="3611880"/>
          </a:xfrm>
          <a:prstGeom prst="roundRect">
            <a:avLst>
              <a:gd name="adj" fmla="val 2025"/>
            </a:avLst>
          </a:prstGeom>
          <a:solidFill>
            <a:srgbClr val="0D141F"/>
          </a:solidFill>
          <a:ln w="6350">
            <a:solidFill>
              <a:srgbClr val="DBE3EC"/>
            </a:solidFill>
            <a:prstDash val="solid"/>
          </a:ln>
        </p:spPr>
      </p:sp>
      <p:sp>
        <p:nvSpPr>
          <p:cNvPr id="17" name="Shape 15"/>
          <p:cNvSpPr/>
          <p:nvPr/>
        </p:nvSpPr>
        <p:spPr>
          <a:xfrm>
            <a:off x="6858000" y="1828800"/>
            <a:ext cx="4663440" cy="310896"/>
          </a:xfrm>
          <a:prstGeom prst="rect">
            <a:avLst/>
          </a:prstGeom>
          <a:solidFill>
            <a:srgbClr val="131C2B"/>
          </a:solidFill>
          <a:ln/>
        </p:spPr>
      </p:sp>
      <p:sp>
        <p:nvSpPr>
          <p:cNvPr id="18" name="Shape 16"/>
          <p:cNvSpPr/>
          <p:nvPr/>
        </p:nvSpPr>
        <p:spPr>
          <a:xfrm>
            <a:off x="6986016" y="1933956"/>
            <a:ext cx="100584" cy="100584"/>
          </a:xfrm>
          <a:prstGeom prst="ellipse">
            <a:avLst/>
          </a:prstGeom>
          <a:solidFill>
            <a:srgbClr val="E0788A"/>
          </a:solidFill>
          <a:ln/>
        </p:spPr>
      </p:sp>
      <p:sp>
        <p:nvSpPr>
          <p:cNvPr id="19" name="Shape 17"/>
          <p:cNvSpPr/>
          <p:nvPr/>
        </p:nvSpPr>
        <p:spPr>
          <a:xfrm>
            <a:off x="7159752" y="1933956"/>
            <a:ext cx="100584" cy="100584"/>
          </a:xfrm>
          <a:prstGeom prst="ellipse">
            <a:avLst/>
          </a:prstGeom>
          <a:solidFill>
            <a:srgbClr val="E0AB53"/>
          </a:solidFill>
          <a:ln/>
        </p:spPr>
      </p:sp>
      <p:sp>
        <p:nvSpPr>
          <p:cNvPr id="20" name="Shape 18"/>
          <p:cNvSpPr/>
          <p:nvPr/>
        </p:nvSpPr>
        <p:spPr>
          <a:xfrm>
            <a:off x="7333488" y="1933956"/>
            <a:ext cx="100584" cy="100584"/>
          </a:xfrm>
          <a:prstGeom prst="ellipse">
            <a:avLst/>
          </a:prstGeom>
          <a:solidFill>
            <a:srgbClr val="43C47E"/>
          </a:solidFill>
          <a:ln/>
        </p:spPr>
      </p:sp>
      <p:sp>
        <p:nvSpPr>
          <p:cNvPr id="21" name="Text 19"/>
          <p:cNvSpPr/>
          <p:nvPr/>
        </p:nvSpPr>
        <p:spPr>
          <a:xfrm>
            <a:off x="7571232" y="1874520"/>
            <a:ext cx="3840480" cy="219456"/>
          </a:xfrm>
          <a:prstGeom prst="rect">
            <a:avLst/>
          </a:prstGeom>
          <a:noFill/>
          <a:ln/>
        </p:spPr>
        <p:txBody>
          <a:bodyPr wrap="square" rtlCol="0" anchor="ctr"/>
          <a:lstStyle/>
          <a:p>
            <a:pPr indent="0" marL="0">
              <a:buNone/>
            </a:pPr>
            <a:r>
              <a:rPr lang="en-US" sz="850" dirty="0">
                <a:solidFill>
                  <a:srgbClr val="7C8AA0"/>
                </a:solidFill>
                <a:latin typeface="Consolas" pitchFamily="34" charset="0"/>
                <a:ea typeface="Consolas" pitchFamily="34" charset="-122"/>
                <a:cs typeface="Consolas" pitchFamily="34" charset="-120"/>
              </a:rPr>
              <a:t>dependency calls per request</a:t>
            </a:r>
            <a:endParaRPr lang="en-US" sz="850" dirty="0"/>
          </a:p>
        </p:txBody>
      </p:sp>
      <p:sp>
        <p:nvSpPr>
          <p:cNvPr id="22" name="Text 20"/>
          <p:cNvSpPr/>
          <p:nvPr/>
        </p:nvSpPr>
        <p:spPr>
          <a:xfrm>
            <a:off x="7059168" y="2249424"/>
            <a:ext cx="4261104" cy="3044952"/>
          </a:xfrm>
          <a:prstGeom prst="rect">
            <a:avLst/>
          </a:prstGeom>
          <a:noFill/>
          <a:ln/>
        </p:spPr>
        <p:txBody>
          <a:bodyPr wrap="square" rtlCol="0" anchor="t"/>
          <a:lstStyle/>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A/B across the dedup seam · same windows</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43C47E"/>
                </a:solidFill>
                <a:latin typeface="Consolas" pitchFamily="34" charset="0"/>
                <a:ea typeface="Consolas" pitchFamily="34" charset="-122"/>
                <a:cs typeface="Consolas" pitchFamily="34" charset="-120"/>
              </a:rPr>
              <a:t>  positive control</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4 → </a:t>
            </a:r>
            <a:pPr indent="0" marL="0">
              <a:lnSpc>
                <a:spcPct val="132000"/>
              </a:lnSpc>
              <a:buNone/>
            </a:pPr>
            <a:r>
              <a:rPr lang="en-US" sz="950" b="1" dirty="0">
                <a:solidFill>
                  <a:srgbClr val="43C47E"/>
                </a:solidFill>
                <a:latin typeface="Consolas" pitchFamily="34" charset="0"/>
                <a:ea typeface="Consolas" pitchFamily="34" charset="-122"/>
                <a:cs typeface="Consolas" pitchFamily="34" charset="-120"/>
              </a:rPr>
              <a:t>1</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−75% · fix works</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negative control</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4 → 4  </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untouched, by design</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PLP · PDP · search</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unchanged — a real null</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vary page size, hold all else fixed</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first:  4   8  12  16  20</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calls:  1   2   4   6   8   </a:t>
            </a:r>
            <a:pPr indent="0" marL="0">
              <a:lnSpc>
                <a:spcPct val="132000"/>
              </a:lnSpc>
              <a:buNone/>
            </a:pPr>
            <a:r>
              <a:rPr lang="en-US" sz="950" dirty="0">
                <a:solidFill>
                  <a:srgbClr val="E0AB53"/>
                </a:solidFill>
                <a:latin typeface="Consolas" pitchFamily="34" charset="0"/>
                <a:ea typeface="Consolas" pitchFamily="34" charset="-122"/>
                <a:cs typeface="Consolas" pitchFamily="34" charset="-120"/>
              </a:rPr>
              <a:t>slope ≈ 1.0</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b="1" dirty="0">
                <a:solidFill>
                  <a:srgbClr val="F0788A"/>
                </a:solidFill>
                <a:latin typeface="Consolas" pitchFamily="34" charset="0"/>
                <a:ea typeface="Consolas" pitchFamily="34" charset="-122"/>
                <a:cs typeface="Consolas" pitchFamily="34" charset="-120"/>
              </a:rPr>
              <a:t>N+1 </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one ES search per variation product</a:t>
            </a:r>
            <a:endParaRPr lang="en-US" sz="950" dirty="0"/>
          </a:p>
          <a:p>
            <a:pPr indent="0" marL="0">
              <a:lnSpc>
                <a:spcPct val="132000"/>
              </a:lnSpc>
              <a:buNone/>
            </a:pPr>
            <a:r>
              <a:rPr lang="en-US" sz="950" dirty="0">
                <a:solidFill>
                  <a:srgbClr val="8B98F2"/>
                </a:solidFill>
                <a:latin typeface="Consolas" pitchFamily="34" charset="0"/>
                <a:ea typeface="Consolas" pitchFamily="34" charset="-122"/>
                <a:cs typeface="Consolas" pitchFamily="34" charset="-120"/>
              </a:rPr>
              <a:t>  → batch it, don't dedup it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6563282" cy="50292"/>
          </a:xfrm>
          <a:prstGeom prst="rect">
            <a:avLst/>
          </a:prstGeom>
          <a:solidFill>
            <a:srgbClr val="5566E0"/>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7 / 13</a:t>
            </a:r>
            <a:endParaRPr lang="en-US" sz="900" dirty="0"/>
          </a:p>
        </p:txBody>
      </p:sp>
      <p:sp>
        <p:nvSpPr>
          <p:cNvPr id="4" name="Shape 2"/>
          <p:cNvSpPr/>
          <p:nvPr/>
        </p:nvSpPr>
        <p:spPr>
          <a:xfrm>
            <a:off x="6949440" y="0"/>
            <a:ext cx="5239512" cy="3108960"/>
          </a:xfrm>
          <a:prstGeom prst="rect">
            <a:avLst/>
          </a:prstGeom>
          <a:solidFill>
            <a:srgbClr val="E8EAFB"/>
          </a:solidFill>
          <a:ln/>
        </p:spPr>
      </p:sp>
      <p:sp>
        <p:nvSpPr>
          <p:cNvPr id="5" name="Text 3"/>
          <p:cNvSpPr/>
          <p:nvPr/>
        </p:nvSpPr>
        <p:spPr>
          <a:xfrm>
            <a:off x="658368" y="1965960"/>
            <a:ext cx="10872216" cy="274320"/>
          </a:xfrm>
          <a:prstGeom prst="rect">
            <a:avLst/>
          </a:prstGeom>
          <a:noFill/>
          <a:ln/>
        </p:spPr>
        <p:txBody>
          <a:bodyPr wrap="square" rtlCol="0" anchor="ctr"/>
          <a:lstStyle/>
          <a:p>
            <a:pPr indent="0" marL="0">
              <a:buNone/>
            </a:pPr>
            <a:r>
              <a:rPr lang="en-US" sz="1000" b="1" spc="240" kern="0" dirty="0">
                <a:solidFill>
                  <a:srgbClr val="7C8AA0"/>
                </a:solidFill>
                <a:latin typeface="Consolas" pitchFamily="34" charset="0"/>
                <a:ea typeface="Consolas" pitchFamily="34" charset="-122"/>
                <a:cs typeface="Consolas" pitchFamily="34" charset="-120"/>
              </a:rPr>
              <a:t>SECTION TWO</a:t>
            </a:r>
            <a:endParaRPr lang="en-US" sz="1000" dirty="0"/>
          </a:p>
        </p:txBody>
      </p:sp>
      <p:sp>
        <p:nvSpPr>
          <p:cNvPr id="6" name="Text 4"/>
          <p:cNvSpPr/>
          <p:nvPr/>
        </p:nvSpPr>
        <p:spPr>
          <a:xfrm>
            <a:off x="658368" y="2286000"/>
            <a:ext cx="7680960" cy="1554480"/>
          </a:xfrm>
          <a:prstGeom prst="rect">
            <a:avLst/>
          </a:prstGeom>
          <a:noFill/>
          <a:ln/>
        </p:spPr>
        <p:txBody>
          <a:bodyPr wrap="square" rtlCol="0" anchor="t"/>
          <a:lstStyle/>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The agentic</a:t>
            </a:r>
            <a:endParaRPr lang="en-US" sz="4200" dirty="0"/>
          </a:p>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QA project</a:t>
            </a:r>
            <a:endParaRPr lang="en-US" sz="4200" dirty="0"/>
          </a:p>
        </p:txBody>
      </p:sp>
      <p:sp>
        <p:nvSpPr>
          <p:cNvPr id="7" name="Text 5"/>
          <p:cNvSpPr/>
          <p:nvPr/>
        </p:nvSpPr>
        <p:spPr>
          <a:xfrm>
            <a:off x="658368" y="3931920"/>
            <a:ext cx="6949440" cy="73152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The pipeline we run against the live product. This sprint it learned to spend effort in proportion to risk, to verify itself at the moments that matter, and to keep its own oracles true.</a:t>
            </a:r>
            <a:endParaRPr lang="en-US" sz="1300" dirty="0"/>
          </a:p>
        </p:txBody>
      </p:sp>
      <p:sp>
        <p:nvSpPr>
          <p:cNvPr id="8" name="Shape 6"/>
          <p:cNvSpPr/>
          <p:nvPr/>
        </p:nvSpPr>
        <p:spPr>
          <a:xfrm>
            <a:off x="658368" y="4846320"/>
            <a:ext cx="1449324" cy="310896"/>
          </a:xfrm>
          <a:prstGeom prst="roundRect">
            <a:avLst>
              <a:gd name="adj" fmla="val 14706"/>
            </a:avLst>
          </a:prstGeom>
          <a:solidFill>
            <a:srgbClr val="FFFFFF"/>
          </a:solidFill>
          <a:ln w="6350">
            <a:solidFill>
              <a:srgbClr val="DBE3EC"/>
            </a:solidFill>
            <a:prstDash val="solid"/>
          </a:ln>
        </p:spPr>
      </p:sp>
      <p:sp>
        <p:nvSpPr>
          <p:cNvPr id="9" name="Text 7"/>
          <p:cNvSpPr/>
          <p:nvPr/>
        </p:nvSpPr>
        <p:spPr>
          <a:xfrm>
            <a:off x="658368" y="4846320"/>
            <a:ext cx="144932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/qa-test — reworked</a:t>
            </a:r>
            <a:endParaRPr lang="en-US" sz="900" dirty="0"/>
          </a:p>
        </p:txBody>
      </p:sp>
      <p:sp>
        <p:nvSpPr>
          <p:cNvPr id="10" name="Shape 8"/>
          <p:cNvSpPr/>
          <p:nvPr/>
        </p:nvSpPr>
        <p:spPr>
          <a:xfrm>
            <a:off x="2217420" y="4846320"/>
            <a:ext cx="1243584" cy="310896"/>
          </a:xfrm>
          <a:prstGeom prst="roundRect">
            <a:avLst>
              <a:gd name="adj" fmla="val 14706"/>
            </a:avLst>
          </a:prstGeom>
          <a:solidFill>
            <a:srgbClr val="FFFFFF"/>
          </a:solidFill>
          <a:ln w="6350">
            <a:solidFill>
              <a:srgbClr val="DBE3EC"/>
            </a:solidFill>
            <a:prstDash val="solid"/>
          </a:ln>
        </p:spPr>
      </p:sp>
      <p:sp>
        <p:nvSpPr>
          <p:cNvPr id="11" name="Text 9"/>
          <p:cNvSpPr/>
          <p:nvPr/>
        </p:nvSpPr>
        <p:spPr>
          <a:xfrm>
            <a:off x="2217420" y="4846320"/>
            <a:ext cx="124358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two-axis routing</a:t>
            </a:r>
            <a:endParaRPr lang="en-US" sz="900" dirty="0"/>
          </a:p>
        </p:txBody>
      </p:sp>
      <p:sp>
        <p:nvSpPr>
          <p:cNvPr id="12" name="Shape 10"/>
          <p:cNvSpPr/>
          <p:nvPr/>
        </p:nvSpPr>
        <p:spPr>
          <a:xfrm>
            <a:off x="3570732" y="4846320"/>
            <a:ext cx="1586484" cy="310896"/>
          </a:xfrm>
          <a:prstGeom prst="roundRect">
            <a:avLst>
              <a:gd name="adj" fmla="val 14706"/>
            </a:avLst>
          </a:prstGeom>
          <a:solidFill>
            <a:srgbClr val="FFFFFF"/>
          </a:solidFill>
          <a:ln w="6350">
            <a:solidFill>
              <a:srgbClr val="DBE3EC"/>
            </a:solidFill>
            <a:prstDash val="solid"/>
          </a:ln>
        </p:spPr>
      </p:sp>
      <p:sp>
        <p:nvSpPr>
          <p:cNvPr id="13" name="Text 11"/>
          <p:cNvSpPr/>
          <p:nvPr/>
        </p:nvSpPr>
        <p:spPr>
          <a:xfrm>
            <a:off x="3570732" y="4846320"/>
            <a:ext cx="158648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three hard-STOP gates</a:t>
            </a:r>
            <a:endParaRPr lang="en-US" sz="900" dirty="0"/>
          </a:p>
        </p:txBody>
      </p:sp>
      <p:sp>
        <p:nvSpPr>
          <p:cNvPr id="14" name="Shape 12"/>
          <p:cNvSpPr/>
          <p:nvPr/>
        </p:nvSpPr>
        <p:spPr>
          <a:xfrm>
            <a:off x="5266944" y="4846320"/>
            <a:ext cx="1380744" cy="310896"/>
          </a:xfrm>
          <a:prstGeom prst="roundRect">
            <a:avLst>
              <a:gd name="adj" fmla="val 14706"/>
            </a:avLst>
          </a:prstGeom>
          <a:solidFill>
            <a:srgbClr val="FFFFFF"/>
          </a:solidFill>
          <a:ln w="6350">
            <a:solidFill>
              <a:srgbClr val="DBE3EC"/>
            </a:solidFill>
            <a:prstDash val="solid"/>
          </a:ln>
        </p:spPr>
      </p:sp>
      <p:sp>
        <p:nvSpPr>
          <p:cNvPr id="15" name="Text 13"/>
          <p:cNvSpPr/>
          <p:nvPr/>
        </p:nvSpPr>
        <p:spPr>
          <a:xfrm>
            <a:off x="5266944" y="4846320"/>
            <a:ext cx="138074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/qa-review-oracles</a:t>
            </a:r>
            <a:endParaRPr lang="en-US" sz="900" dirty="0"/>
          </a:p>
        </p:txBody>
      </p:sp>
      <p:sp>
        <p:nvSpPr>
          <p:cNvPr id="16" name="Shape 14"/>
          <p:cNvSpPr/>
          <p:nvPr/>
        </p:nvSpPr>
        <p:spPr>
          <a:xfrm>
            <a:off x="6757416" y="4846320"/>
            <a:ext cx="694944" cy="310896"/>
          </a:xfrm>
          <a:prstGeom prst="roundRect">
            <a:avLst>
              <a:gd name="adj" fmla="val 14706"/>
            </a:avLst>
          </a:prstGeom>
          <a:solidFill>
            <a:srgbClr val="FFFFFF"/>
          </a:solidFill>
          <a:ln w="6350">
            <a:solidFill>
              <a:srgbClr val="DBE3EC"/>
            </a:solidFill>
            <a:prstDash val="solid"/>
          </a:ln>
        </p:spPr>
      </p:sp>
      <p:sp>
        <p:nvSpPr>
          <p:cNvPr id="17" name="Text 15"/>
          <p:cNvSpPr/>
          <p:nvPr/>
        </p:nvSpPr>
        <p:spPr>
          <a:xfrm>
            <a:off x="6757416" y="4846320"/>
            <a:ext cx="694944"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BL + ECL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7500894" cy="50292"/>
          </a:xfrm>
          <a:prstGeom prst="rect">
            <a:avLst/>
          </a:prstGeom>
          <a:solidFill>
            <a:srgbClr val="5566E0"/>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8 / 13</a:t>
            </a:r>
            <a:endParaRPr lang="en-US" sz="900" dirty="0"/>
          </a:p>
        </p:txBody>
      </p:sp>
      <p:sp>
        <p:nvSpPr>
          <p:cNvPr id="4" name="Shape 2"/>
          <p:cNvSpPr/>
          <p:nvPr/>
        </p:nvSpPr>
        <p:spPr>
          <a:xfrm>
            <a:off x="658368" y="566928"/>
            <a:ext cx="237744" cy="25603"/>
          </a:xfrm>
          <a:prstGeom prst="rect">
            <a:avLst/>
          </a:prstGeom>
          <a:solidFill>
            <a:srgbClr val="5566E0"/>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5566E0"/>
                </a:solidFill>
                <a:latin typeface="Consolas" pitchFamily="34" charset="0"/>
                <a:ea typeface="Consolas" pitchFamily="34" charset="-122"/>
                <a:cs typeface="Consolas" pitchFamily="34" charset="-120"/>
              </a:rPr>
              <a:t>AGENTIC PROJECT · THE PIPELINE</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/qa-test decides twice before it does anything.</a:t>
            </a:r>
            <a:endParaRPr lang="en-US" sz="2800" dirty="0"/>
          </a:p>
        </p:txBody>
      </p:sp>
      <p:sp>
        <p:nvSpPr>
          <p:cNvPr id="7" name="Text 5"/>
          <p:cNvSpPr/>
          <p:nvPr/>
        </p:nvSpPr>
        <p:spPr>
          <a:xfrm>
            <a:off x="658368" y="1691640"/>
            <a:ext cx="585216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One ticket in, and the first step answers two separate questions — which flow this even is, and how much depth it deserves.</a:t>
            </a:r>
            <a:endParaRPr lang="en-US" sz="1300" dirty="0"/>
          </a:p>
        </p:txBody>
      </p:sp>
      <p:sp>
        <p:nvSpPr>
          <p:cNvPr id="8" name="Text 6"/>
          <p:cNvSpPr/>
          <p:nvPr/>
        </p:nvSpPr>
        <p:spPr>
          <a:xfrm>
            <a:off x="658368" y="2651760"/>
            <a:ext cx="237744" cy="256032"/>
          </a:xfrm>
          <a:prstGeom prst="rect">
            <a:avLst/>
          </a:prstGeom>
          <a:noFill/>
          <a:ln/>
        </p:spPr>
        <p:txBody>
          <a:bodyPr wrap="square" rtlCol="0" anchor="t"/>
          <a:lstStyle/>
          <a:p>
            <a:pPr indent="0" marL="0">
              <a:buNone/>
            </a:pPr>
            <a:r>
              <a:rPr lang="en-US" sz="1100" b="1" dirty="0">
                <a:solidFill>
                  <a:srgbClr val="5566E0"/>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932688" y="2651760"/>
            <a:ext cx="5577840" cy="786384"/>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Axis 1 — the flow</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by ticket type × status. A fix-ready Bug is a verification, not a feature test, so it runs RED→GREEN inline instead of going through authoring and promotion machinery it doesn't need.</a:t>
            </a:r>
            <a:endParaRPr lang="en-US" sz="1050" dirty="0"/>
          </a:p>
        </p:txBody>
      </p:sp>
      <p:sp>
        <p:nvSpPr>
          <p:cNvPr id="10" name="Text 8"/>
          <p:cNvSpPr/>
          <p:nvPr/>
        </p:nvSpPr>
        <p:spPr>
          <a:xfrm>
            <a:off x="658368" y="3438144"/>
            <a:ext cx="237744" cy="256032"/>
          </a:xfrm>
          <a:prstGeom prst="rect">
            <a:avLst/>
          </a:prstGeom>
          <a:noFill/>
          <a:ln/>
        </p:spPr>
        <p:txBody>
          <a:bodyPr wrap="square" rtlCol="0" anchor="t"/>
          <a:lstStyle/>
          <a:p>
            <a:pPr indent="0" marL="0">
              <a:buNone/>
            </a:pPr>
            <a:r>
              <a:rPr lang="en-US" sz="1100" b="1" dirty="0">
                <a:solidFill>
                  <a:srgbClr val="5566E0"/>
                </a:solidFill>
                <a:latin typeface="Consolas" pitchFamily="34" charset="0"/>
                <a:ea typeface="Consolas" pitchFamily="34" charset="-122"/>
                <a:cs typeface="Consolas" pitchFamily="34" charset="-120"/>
              </a:rPr>
              <a:t>✓</a:t>
            </a:r>
            <a:endParaRPr lang="en-US" sz="1100" dirty="0"/>
          </a:p>
        </p:txBody>
      </p:sp>
      <p:sp>
        <p:nvSpPr>
          <p:cNvPr id="11" name="Text 9"/>
          <p:cNvSpPr/>
          <p:nvPr/>
        </p:nvSpPr>
        <p:spPr>
          <a:xfrm>
            <a:off x="932688" y="3438144"/>
            <a:ext cx="5577840" cy="621792"/>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Axis 2 — the path</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FAST for a P2–P3 single-layer change; FULL for a Story, a P0–P1, anything cross-layer or revenue-critical.</a:t>
            </a:r>
            <a:endParaRPr lang="en-US" sz="1050" dirty="0"/>
          </a:p>
        </p:txBody>
      </p:sp>
      <p:sp>
        <p:nvSpPr>
          <p:cNvPr id="12" name="Text 10"/>
          <p:cNvSpPr/>
          <p:nvPr/>
        </p:nvSpPr>
        <p:spPr>
          <a:xfrm>
            <a:off x="658368" y="4059936"/>
            <a:ext cx="237744" cy="256032"/>
          </a:xfrm>
          <a:prstGeom prst="rect">
            <a:avLst/>
          </a:prstGeom>
          <a:noFill/>
          <a:ln/>
        </p:spPr>
        <p:txBody>
          <a:bodyPr wrap="square" rtlCol="0" anchor="t"/>
          <a:lstStyle/>
          <a:p>
            <a:pPr indent="0" marL="0">
              <a:buNone/>
            </a:pPr>
            <a:r>
              <a:rPr lang="en-US" sz="1100" b="1" dirty="0">
                <a:solidFill>
                  <a:srgbClr val="5566E0"/>
                </a:solidFill>
                <a:latin typeface="Consolas" pitchFamily="34" charset="0"/>
                <a:ea typeface="Consolas" pitchFamily="34" charset="-122"/>
                <a:cs typeface="Consolas" pitchFamily="34" charset="-120"/>
              </a:rPr>
              <a:t>✓</a:t>
            </a:r>
            <a:endParaRPr lang="en-US" sz="1100" dirty="0"/>
          </a:p>
        </p:txBody>
      </p:sp>
      <p:sp>
        <p:nvSpPr>
          <p:cNvPr id="13" name="Text 11"/>
          <p:cNvSpPr/>
          <p:nvPr/>
        </p:nvSpPr>
        <p:spPr>
          <a:xfrm>
            <a:off x="932688" y="4059936"/>
            <a:ext cx="5577840" cy="621792"/>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The tie-break is written down</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when in doubt, FULL. The cost of over-testing a small ticket is hours; the cost of under-testing a checkout change is a release.</a:t>
            </a:r>
            <a:endParaRPr lang="en-US" sz="1050" dirty="0"/>
          </a:p>
        </p:txBody>
      </p:sp>
      <p:sp>
        <p:nvSpPr>
          <p:cNvPr id="14" name="Text 12"/>
          <p:cNvSpPr/>
          <p:nvPr/>
        </p:nvSpPr>
        <p:spPr>
          <a:xfrm>
            <a:off x="658368" y="4681728"/>
            <a:ext cx="237744" cy="256032"/>
          </a:xfrm>
          <a:prstGeom prst="rect">
            <a:avLst/>
          </a:prstGeom>
          <a:noFill/>
          <a:ln/>
        </p:spPr>
        <p:txBody>
          <a:bodyPr wrap="square" rtlCol="0" anchor="t"/>
          <a:lstStyle/>
          <a:p>
            <a:pPr indent="0" marL="0">
              <a:buNone/>
            </a:pPr>
            <a:r>
              <a:rPr lang="en-US" sz="1100" b="1" dirty="0">
                <a:solidFill>
                  <a:srgbClr val="5566E0"/>
                </a:solidFill>
                <a:latin typeface="Consolas" pitchFamily="34" charset="0"/>
                <a:ea typeface="Consolas" pitchFamily="34" charset="-122"/>
                <a:cs typeface="Consolas" pitchFamily="34" charset="-120"/>
              </a:rPr>
              <a:t>✓</a:t>
            </a:r>
            <a:endParaRPr lang="en-US" sz="1100" dirty="0"/>
          </a:p>
        </p:txBody>
      </p:sp>
      <p:sp>
        <p:nvSpPr>
          <p:cNvPr id="15" name="Text 13"/>
          <p:cNvSpPr/>
          <p:nvPr/>
        </p:nvSpPr>
        <p:spPr>
          <a:xfrm>
            <a:off x="932688" y="4681728"/>
            <a:ext cx="5577840" cy="621792"/>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Epic-aware</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a story picks up integration coverage against Done siblings; --epic runs the children in series with a cross-story E2E and an Epic-level go/no-go.</a:t>
            </a:r>
            <a:endParaRPr lang="en-US" sz="1050" dirty="0"/>
          </a:p>
        </p:txBody>
      </p:sp>
      <p:sp>
        <p:nvSpPr>
          <p:cNvPr id="16" name="Shape 14"/>
          <p:cNvSpPr/>
          <p:nvPr/>
        </p:nvSpPr>
        <p:spPr>
          <a:xfrm>
            <a:off x="6858000" y="1783080"/>
            <a:ext cx="4663440" cy="3657600"/>
          </a:xfrm>
          <a:prstGeom prst="roundRect">
            <a:avLst>
              <a:gd name="adj" fmla="val 2000"/>
            </a:avLst>
          </a:prstGeom>
          <a:solidFill>
            <a:srgbClr val="0D141F"/>
          </a:solidFill>
          <a:ln w="6350">
            <a:solidFill>
              <a:srgbClr val="DBE3EC"/>
            </a:solidFill>
            <a:prstDash val="solid"/>
          </a:ln>
        </p:spPr>
      </p:sp>
      <p:sp>
        <p:nvSpPr>
          <p:cNvPr id="17" name="Shape 15"/>
          <p:cNvSpPr/>
          <p:nvPr/>
        </p:nvSpPr>
        <p:spPr>
          <a:xfrm>
            <a:off x="6858000" y="1783080"/>
            <a:ext cx="4663440" cy="310896"/>
          </a:xfrm>
          <a:prstGeom prst="rect">
            <a:avLst/>
          </a:prstGeom>
          <a:solidFill>
            <a:srgbClr val="131C2B"/>
          </a:solidFill>
          <a:ln/>
        </p:spPr>
      </p:sp>
      <p:sp>
        <p:nvSpPr>
          <p:cNvPr id="18" name="Shape 16"/>
          <p:cNvSpPr/>
          <p:nvPr/>
        </p:nvSpPr>
        <p:spPr>
          <a:xfrm>
            <a:off x="6986016" y="1888236"/>
            <a:ext cx="100584" cy="100584"/>
          </a:xfrm>
          <a:prstGeom prst="ellipse">
            <a:avLst/>
          </a:prstGeom>
          <a:solidFill>
            <a:srgbClr val="E0788A"/>
          </a:solidFill>
          <a:ln/>
        </p:spPr>
      </p:sp>
      <p:sp>
        <p:nvSpPr>
          <p:cNvPr id="19" name="Shape 17"/>
          <p:cNvSpPr/>
          <p:nvPr/>
        </p:nvSpPr>
        <p:spPr>
          <a:xfrm>
            <a:off x="7159752" y="1888236"/>
            <a:ext cx="100584" cy="100584"/>
          </a:xfrm>
          <a:prstGeom prst="ellipse">
            <a:avLst/>
          </a:prstGeom>
          <a:solidFill>
            <a:srgbClr val="E0AB53"/>
          </a:solidFill>
          <a:ln/>
        </p:spPr>
      </p:sp>
      <p:sp>
        <p:nvSpPr>
          <p:cNvPr id="20" name="Shape 18"/>
          <p:cNvSpPr/>
          <p:nvPr/>
        </p:nvSpPr>
        <p:spPr>
          <a:xfrm>
            <a:off x="7333488" y="1888236"/>
            <a:ext cx="100584" cy="100584"/>
          </a:xfrm>
          <a:prstGeom prst="ellipse">
            <a:avLst/>
          </a:prstGeom>
          <a:solidFill>
            <a:srgbClr val="43C47E"/>
          </a:solidFill>
          <a:ln/>
        </p:spPr>
      </p:sp>
      <p:sp>
        <p:nvSpPr>
          <p:cNvPr id="21" name="Text 19"/>
          <p:cNvSpPr/>
          <p:nvPr/>
        </p:nvSpPr>
        <p:spPr>
          <a:xfrm>
            <a:off x="7571232" y="1828800"/>
            <a:ext cx="3840480" cy="219456"/>
          </a:xfrm>
          <a:prstGeom prst="rect">
            <a:avLst/>
          </a:prstGeom>
          <a:noFill/>
          <a:ln/>
        </p:spPr>
        <p:txBody>
          <a:bodyPr wrap="square" rtlCol="0" anchor="ctr"/>
          <a:lstStyle/>
          <a:p>
            <a:pPr indent="0" marL="0">
              <a:buNone/>
            </a:pPr>
            <a:r>
              <a:rPr lang="en-US" sz="850" dirty="0">
                <a:solidFill>
                  <a:srgbClr val="7C8AA0"/>
                </a:solidFill>
                <a:latin typeface="Consolas" pitchFamily="34" charset="0"/>
                <a:ea typeface="Consolas" pitchFamily="34" charset="-122"/>
                <a:cs typeface="Consolas" pitchFamily="34" charset="-120"/>
              </a:rPr>
              <a:t>Step 1a — routing</a:t>
            </a:r>
            <a:endParaRPr lang="en-US" sz="850" dirty="0"/>
          </a:p>
        </p:txBody>
      </p:sp>
      <p:sp>
        <p:nvSpPr>
          <p:cNvPr id="22" name="Text 20"/>
          <p:cNvSpPr/>
          <p:nvPr/>
        </p:nvSpPr>
        <p:spPr>
          <a:xfrm>
            <a:off x="7059168" y="2203704"/>
            <a:ext cx="4261104" cy="3090672"/>
          </a:xfrm>
          <a:prstGeom prst="rect">
            <a:avLst/>
          </a:prstGeom>
          <a:noFill/>
          <a:ln/>
        </p:spPr>
        <p:txBody>
          <a:bodyPr wrap="square" rtlCol="0" anchor="t"/>
          <a:lstStyle/>
          <a:p>
            <a:pPr indent="0" marL="0">
              <a:lnSpc>
                <a:spcPct val="132000"/>
              </a:lnSpc>
              <a:buNone/>
            </a:pPr>
            <a:r>
              <a:rPr lang="en-US" sz="950" b="1" dirty="0">
                <a:solidFill>
                  <a:srgbClr val="E7EDF5"/>
                </a:solidFill>
                <a:latin typeface="Consolas" pitchFamily="34" charset="0"/>
                <a:ea typeface="Consolas" pitchFamily="34" charset="-122"/>
                <a:cs typeface="Consolas" pitchFamily="34" charset="-120"/>
              </a:rPr>
              <a:t>TICKET</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 </a:t>
            </a:r>
            <a:pPr indent="0" marL="0">
              <a:lnSpc>
                <a:spcPct val="132000"/>
              </a:lnSpc>
              <a:buNone/>
            </a:pPr>
            <a:r>
              <a:rPr lang="en-US" sz="950" dirty="0">
                <a:solidFill>
                  <a:srgbClr val="8B98F2"/>
                </a:solidFill>
                <a:latin typeface="Consolas" pitchFamily="34" charset="0"/>
                <a:ea typeface="Consolas" pitchFamily="34" charset="-122"/>
                <a:cs typeface="Consolas" pitchFamily="34" charset="-120"/>
              </a:rPr>
              <a:t>axis 1 · FLOW</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type × status</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    fix-ready Bug  → </a:t>
            </a:r>
            <a:pPr indent="0" marL="0">
              <a:lnSpc>
                <a:spcPct val="132000"/>
              </a:lnSpc>
              <a:buNone/>
            </a:pPr>
            <a:r>
              <a:rPr lang="en-US" sz="950" dirty="0">
                <a:solidFill>
                  <a:srgbClr val="43C47E"/>
                </a:solidFill>
                <a:latin typeface="Consolas" pitchFamily="34" charset="0"/>
                <a:ea typeface="Consolas" pitchFamily="34" charset="-122"/>
                <a:cs typeface="Consolas" pitchFamily="34" charset="-120"/>
              </a:rPr>
              <a:t>/qa-verify-fix</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    hotfix Bug     → </a:t>
            </a:r>
            <a:pPr indent="0" marL="0">
              <a:lnSpc>
                <a:spcPct val="132000"/>
              </a:lnSpc>
              <a:buNone/>
            </a:pPr>
            <a:r>
              <a:rPr lang="en-US" sz="950" dirty="0">
                <a:solidFill>
                  <a:srgbClr val="43C47E"/>
                </a:solidFill>
                <a:latin typeface="Consolas" pitchFamily="34" charset="0"/>
                <a:ea typeface="Consolas" pitchFamily="34" charset="-122"/>
                <a:cs typeface="Consolas" pitchFamily="34" charset="-120"/>
              </a:rPr>
              <a:t>/qa-hotfix-check</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    Sub-task       → </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inherit parent</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    everything else→ </a:t>
            </a:r>
            <a:pPr indent="0" marL="0">
              <a:lnSpc>
                <a:spcPct val="132000"/>
              </a:lnSpc>
              <a:buNone/>
            </a:pPr>
            <a:r>
              <a:rPr lang="en-US" sz="950" dirty="0">
                <a:solidFill>
                  <a:srgbClr val="E7EDF5"/>
                </a:solidFill>
                <a:latin typeface="Consolas" pitchFamily="34" charset="0"/>
                <a:ea typeface="Consolas" pitchFamily="34" charset="-122"/>
                <a:cs typeface="Consolas" pitchFamily="34" charset="-120"/>
              </a:rPr>
              <a:t>feature-test</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 </a:t>
            </a:r>
            <a:pPr indent="0" marL="0">
              <a:lnSpc>
                <a:spcPct val="132000"/>
              </a:lnSpc>
              <a:buNone/>
            </a:pPr>
            <a:r>
              <a:rPr lang="en-US" sz="950" dirty="0">
                <a:solidFill>
                  <a:srgbClr val="8B98F2"/>
                </a:solidFill>
                <a:latin typeface="Consolas" pitchFamily="34" charset="0"/>
                <a:ea typeface="Consolas" pitchFamily="34" charset="-122"/>
                <a:cs typeface="Consolas" pitchFamily="34" charset="-120"/>
              </a:rPr>
              <a:t>axis 2 · PATH</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feature-test only</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pPr indent="0" marL="0">
              <a:lnSpc>
                <a:spcPct val="132000"/>
              </a:lnSpc>
              <a:buNone/>
            </a:pPr>
            <a:r>
              <a:rPr lang="en-US" sz="950" b="1" dirty="0">
                <a:solidFill>
                  <a:srgbClr val="E0AB53"/>
                </a:solidFill>
                <a:latin typeface="Consolas" pitchFamily="34" charset="0"/>
                <a:ea typeface="Consolas" pitchFamily="34" charset="-122"/>
                <a:cs typeface="Consolas" pitchFamily="34" charset="-120"/>
              </a:rPr>
              <a:t>FAST</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P2–P3 · 1 layer · 1 domain</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pPr indent="0" marL="0">
              <a:lnSpc>
                <a:spcPct val="132000"/>
              </a:lnSpc>
              <a:buNone/>
            </a:pPr>
            <a:r>
              <a:rPr lang="en-US" sz="950" b="1" dirty="0">
                <a:solidFill>
                  <a:srgbClr val="43C47E"/>
                </a:solidFill>
                <a:latin typeface="Consolas" pitchFamily="34" charset="0"/>
                <a:ea typeface="Consolas" pitchFamily="34" charset="-122"/>
                <a:cs typeface="Consolas" pitchFamily="34" charset="-120"/>
              </a:rPr>
              <a:t>FULL</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Story · P0–P1 · cross-layer</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when in doubt → </a:t>
            </a:r>
            <a:pPr indent="0" marL="0">
              <a:lnSpc>
                <a:spcPct val="132000"/>
              </a:lnSpc>
              <a:buNone/>
            </a:pPr>
            <a:r>
              <a:rPr lang="en-US" sz="950" b="1" dirty="0">
                <a:solidFill>
                  <a:srgbClr val="43C47E"/>
                </a:solidFill>
                <a:latin typeface="Consolas" pitchFamily="34" charset="0"/>
                <a:ea typeface="Consolas" pitchFamily="34" charset="-122"/>
                <a:cs typeface="Consolas" pitchFamily="34" charset="-120"/>
              </a:rPr>
              <a:t>FULL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8438505" cy="50292"/>
          </a:xfrm>
          <a:prstGeom prst="rect">
            <a:avLst/>
          </a:prstGeom>
          <a:solidFill>
            <a:srgbClr val="5566E0"/>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9 / 13</a:t>
            </a:r>
            <a:endParaRPr lang="en-US" sz="900" dirty="0"/>
          </a:p>
        </p:txBody>
      </p:sp>
      <p:sp>
        <p:nvSpPr>
          <p:cNvPr id="4" name="Shape 2"/>
          <p:cNvSpPr/>
          <p:nvPr/>
        </p:nvSpPr>
        <p:spPr>
          <a:xfrm>
            <a:off x="658368" y="566928"/>
            <a:ext cx="237744" cy="25603"/>
          </a:xfrm>
          <a:prstGeom prst="rect">
            <a:avLst/>
          </a:prstGeom>
          <a:solidFill>
            <a:srgbClr val="5566E0"/>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5566E0"/>
                </a:solidFill>
                <a:latin typeface="Consolas" pitchFamily="34" charset="0"/>
                <a:ea typeface="Consolas" pitchFamily="34" charset="-122"/>
                <a:cs typeface="Consolas" pitchFamily="34" charset="-120"/>
              </a:rPr>
              <a:t>AGENTIC PROJECT · THE FLOW</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Five steps, five owners, one verdict.</a:t>
            </a:r>
            <a:endParaRPr lang="en-US" sz="2800" dirty="0"/>
          </a:p>
        </p:txBody>
      </p:sp>
      <p:sp>
        <p:nvSpPr>
          <p:cNvPr id="7" name="Shape 5"/>
          <p:cNvSpPr/>
          <p:nvPr/>
        </p:nvSpPr>
        <p:spPr>
          <a:xfrm>
            <a:off x="1499616" y="2212848"/>
            <a:ext cx="1903781" cy="713232"/>
          </a:xfrm>
          <a:prstGeom prst="roundRect">
            <a:avLst>
              <a:gd name="adj" fmla="val 7692"/>
            </a:avLst>
          </a:prstGeom>
          <a:solidFill>
            <a:srgbClr val="FFFFFF"/>
          </a:solidFill>
          <a:ln w="6350">
            <a:solidFill>
              <a:srgbClr val="DBE3EC"/>
            </a:solidFill>
            <a:prstDash val="solid"/>
          </a:ln>
        </p:spPr>
      </p:sp>
      <p:sp>
        <p:nvSpPr>
          <p:cNvPr id="8" name="Shape 6"/>
          <p:cNvSpPr/>
          <p:nvPr/>
        </p:nvSpPr>
        <p:spPr>
          <a:xfrm>
            <a:off x="2346350" y="2304288"/>
            <a:ext cx="210312" cy="210312"/>
          </a:xfrm>
          <a:prstGeom prst="ellipse">
            <a:avLst/>
          </a:prstGeom>
          <a:solidFill>
            <a:srgbClr val="5566E0"/>
          </a:solidFill>
          <a:ln/>
        </p:spPr>
      </p:sp>
      <p:sp>
        <p:nvSpPr>
          <p:cNvPr id="9" name="Text 7"/>
          <p:cNvSpPr/>
          <p:nvPr/>
        </p:nvSpPr>
        <p:spPr>
          <a:xfrm>
            <a:off x="2346350" y="2304288"/>
            <a:ext cx="210312" cy="210312"/>
          </a:xfrm>
          <a:prstGeom prst="rect">
            <a:avLst/>
          </a:prstGeom>
          <a:noFill/>
          <a:ln/>
        </p:spPr>
        <p:txBody>
          <a:bodyPr wrap="square"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10" name="Text 8"/>
          <p:cNvSpPr/>
          <p:nvPr/>
        </p:nvSpPr>
        <p:spPr>
          <a:xfrm>
            <a:off x="1499616" y="2578608"/>
            <a:ext cx="1903781" cy="274320"/>
          </a:xfrm>
          <a:prstGeom prst="rect">
            <a:avLst/>
          </a:prstGeom>
          <a:noFill/>
          <a:ln/>
        </p:spPr>
        <p:txBody>
          <a:bodyPr wrap="square" rtlCol="0" anchor="ctr"/>
          <a:lstStyle/>
          <a:p>
            <a:pPr algn="ctr" indent="0" marL="0">
              <a:buNone/>
            </a:pPr>
            <a:r>
              <a:rPr lang="en-US" sz="1200" b="1" dirty="0">
                <a:solidFill>
                  <a:srgbClr val="16202E"/>
                </a:solidFill>
                <a:latin typeface="Segoe UI" pitchFamily="34" charset="0"/>
                <a:ea typeface="Segoe UI" pitchFamily="34" charset="-122"/>
                <a:cs typeface="Segoe UI" pitchFamily="34" charset="-120"/>
              </a:rPr>
              <a:t>Context</a:t>
            </a:r>
            <a:endParaRPr lang="en-US" sz="1200" dirty="0"/>
          </a:p>
        </p:txBody>
      </p:sp>
      <p:sp>
        <p:nvSpPr>
          <p:cNvPr id="11" name="Shape 9"/>
          <p:cNvSpPr/>
          <p:nvPr/>
        </p:nvSpPr>
        <p:spPr>
          <a:xfrm>
            <a:off x="3403397" y="2409444"/>
            <a:ext cx="128016" cy="0"/>
          </a:xfrm>
          <a:prstGeom prst="line">
            <a:avLst/>
          </a:prstGeom>
          <a:noFill/>
          <a:ln w="12700">
            <a:solidFill>
              <a:srgbClr val="DBE3EC"/>
            </a:solidFill>
            <a:prstDash val="solid"/>
          </a:ln>
        </p:spPr>
      </p:sp>
      <p:sp>
        <p:nvSpPr>
          <p:cNvPr id="12" name="Shape 10"/>
          <p:cNvSpPr/>
          <p:nvPr/>
        </p:nvSpPr>
        <p:spPr>
          <a:xfrm>
            <a:off x="3531413" y="2212848"/>
            <a:ext cx="1903781" cy="713232"/>
          </a:xfrm>
          <a:prstGeom prst="roundRect">
            <a:avLst>
              <a:gd name="adj" fmla="val 7692"/>
            </a:avLst>
          </a:prstGeom>
          <a:solidFill>
            <a:srgbClr val="FFFFFF"/>
          </a:solidFill>
          <a:ln w="6350">
            <a:solidFill>
              <a:srgbClr val="DBE3EC"/>
            </a:solidFill>
            <a:prstDash val="solid"/>
          </a:ln>
        </p:spPr>
      </p:sp>
      <p:sp>
        <p:nvSpPr>
          <p:cNvPr id="13" name="Shape 11"/>
          <p:cNvSpPr/>
          <p:nvPr/>
        </p:nvSpPr>
        <p:spPr>
          <a:xfrm>
            <a:off x="4378147" y="2304288"/>
            <a:ext cx="210312" cy="210312"/>
          </a:xfrm>
          <a:prstGeom prst="ellipse">
            <a:avLst/>
          </a:prstGeom>
          <a:solidFill>
            <a:srgbClr val="5566E0"/>
          </a:solidFill>
          <a:ln/>
        </p:spPr>
      </p:sp>
      <p:sp>
        <p:nvSpPr>
          <p:cNvPr id="14" name="Text 12"/>
          <p:cNvSpPr/>
          <p:nvPr/>
        </p:nvSpPr>
        <p:spPr>
          <a:xfrm>
            <a:off x="4378147" y="2304288"/>
            <a:ext cx="210312" cy="210312"/>
          </a:xfrm>
          <a:prstGeom prst="rect">
            <a:avLst/>
          </a:prstGeom>
          <a:noFill/>
          <a:ln/>
        </p:spPr>
        <p:txBody>
          <a:bodyPr wrap="square"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15" name="Text 13"/>
          <p:cNvSpPr/>
          <p:nvPr/>
        </p:nvSpPr>
        <p:spPr>
          <a:xfrm>
            <a:off x="3531413" y="2578608"/>
            <a:ext cx="1903781" cy="274320"/>
          </a:xfrm>
          <a:prstGeom prst="rect">
            <a:avLst/>
          </a:prstGeom>
          <a:noFill/>
          <a:ln/>
        </p:spPr>
        <p:txBody>
          <a:bodyPr wrap="square" rtlCol="0" anchor="ctr"/>
          <a:lstStyle/>
          <a:p>
            <a:pPr algn="ctr" indent="0" marL="0">
              <a:buNone/>
            </a:pPr>
            <a:r>
              <a:rPr lang="en-US" sz="1200" b="1" dirty="0">
                <a:solidFill>
                  <a:srgbClr val="16202E"/>
                </a:solidFill>
                <a:latin typeface="Segoe UI" pitchFamily="34" charset="0"/>
                <a:ea typeface="Segoe UI" pitchFamily="34" charset="-122"/>
                <a:cs typeface="Segoe UI" pitchFamily="34" charset="-120"/>
              </a:rPr>
              <a:t>Plan</a:t>
            </a:r>
            <a:endParaRPr lang="en-US" sz="1200" dirty="0"/>
          </a:p>
        </p:txBody>
      </p:sp>
      <p:sp>
        <p:nvSpPr>
          <p:cNvPr id="16" name="Shape 14"/>
          <p:cNvSpPr/>
          <p:nvPr/>
        </p:nvSpPr>
        <p:spPr>
          <a:xfrm>
            <a:off x="5435194" y="2409444"/>
            <a:ext cx="128016" cy="0"/>
          </a:xfrm>
          <a:prstGeom prst="line">
            <a:avLst/>
          </a:prstGeom>
          <a:noFill/>
          <a:ln w="12700">
            <a:solidFill>
              <a:srgbClr val="DBE3EC"/>
            </a:solidFill>
            <a:prstDash val="solid"/>
          </a:ln>
        </p:spPr>
      </p:sp>
      <p:sp>
        <p:nvSpPr>
          <p:cNvPr id="17" name="Shape 15"/>
          <p:cNvSpPr/>
          <p:nvPr/>
        </p:nvSpPr>
        <p:spPr>
          <a:xfrm>
            <a:off x="5563210" y="2212848"/>
            <a:ext cx="1903781" cy="713232"/>
          </a:xfrm>
          <a:prstGeom prst="roundRect">
            <a:avLst>
              <a:gd name="adj" fmla="val 7692"/>
            </a:avLst>
          </a:prstGeom>
          <a:solidFill>
            <a:srgbClr val="FFFFFF"/>
          </a:solidFill>
          <a:ln w="6350">
            <a:solidFill>
              <a:srgbClr val="DBE3EC"/>
            </a:solidFill>
            <a:prstDash val="solid"/>
          </a:ln>
        </p:spPr>
      </p:sp>
      <p:sp>
        <p:nvSpPr>
          <p:cNvPr id="18" name="Shape 16"/>
          <p:cNvSpPr/>
          <p:nvPr/>
        </p:nvSpPr>
        <p:spPr>
          <a:xfrm>
            <a:off x="6409944" y="2304288"/>
            <a:ext cx="210312" cy="210312"/>
          </a:xfrm>
          <a:prstGeom prst="ellipse">
            <a:avLst/>
          </a:prstGeom>
          <a:solidFill>
            <a:srgbClr val="5566E0"/>
          </a:solidFill>
          <a:ln/>
        </p:spPr>
      </p:sp>
      <p:sp>
        <p:nvSpPr>
          <p:cNvPr id="19" name="Text 17"/>
          <p:cNvSpPr/>
          <p:nvPr/>
        </p:nvSpPr>
        <p:spPr>
          <a:xfrm>
            <a:off x="6409944" y="2304288"/>
            <a:ext cx="210312" cy="210312"/>
          </a:xfrm>
          <a:prstGeom prst="rect">
            <a:avLst/>
          </a:prstGeom>
          <a:noFill/>
          <a:ln/>
        </p:spPr>
        <p:txBody>
          <a:bodyPr wrap="square"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0" name="Text 18"/>
          <p:cNvSpPr/>
          <p:nvPr/>
        </p:nvSpPr>
        <p:spPr>
          <a:xfrm>
            <a:off x="5563210" y="2578608"/>
            <a:ext cx="1903781" cy="274320"/>
          </a:xfrm>
          <a:prstGeom prst="rect">
            <a:avLst/>
          </a:prstGeom>
          <a:noFill/>
          <a:ln/>
        </p:spPr>
        <p:txBody>
          <a:bodyPr wrap="square" rtlCol="0" anchor="ctr"/>
          <a:lstStyle/>
          <a:p>
            <a:pPr algn="ctr" indent="0" marL="0">
              <a:buNone/>
            </a:pPr>
            <a:r>
              <a:rPr lang="en-US" sz="1200" b="1" dirty="0">
                <a:solidFill>
                  <a:srgbClr val="16202E"/>
                </a:solidFill>
                <a:latin typeface="Segoe UI" pitchFamily="34" charset="0"/>
                <a:ea typeface="Segoe UI" pitchFamily="34" charset="-122"/>
                <a:cs typeface="Segoe UI" pitchFamily="34" charset="-120"/>
              </a:rPr>
              <a:t>Author</a:t>
            </a:r>
            <a:endParaRPr lang="en-US" sz="1200" dirty="0"/>
          </a:p>
        </p:txBody>
      </p:sp>
      <p:sp>
        <p:nvSpPr>
          <p:cNvPr id="21" name="Shape 19"/>
          <p:cNvSpPr/>
          <p:nvPr/>
        </p:nvSpPr>
        <p:spPr>
          <a:xfrm>
            <a:off x="7466990" y="2409444"/>
            <a:ext cx="128016" cy="0"/>
          </a:xfrm>
          <a:prstGeom prst="line">
            <a:avLst/>
          </a:prstGeom>
          <a:noFill/>
          <a:ln w="12700">
            <a:solidFill>
              <a:srgbClr val="DBE3EC"/>
            </a:solidFill>
            <a:prstDash val="solid"/>
          </a:ln>
        </p:spPr>
      </p:sp>
      <p:sp>
        <p:nvSpPr>
          <p:cNvPr id="22" name="Shape 20"/>
          <p:cNvSpPr/>
          <p:nvPr/>
        </p:nvSpPr>
        <p:spPr>
          <a:xfrm>
            <a:off x="7595006" y="2212848"/>
            <a:ext cx="1903781" cy="713232"/>
          </a:xfrm>
          <a:prstGeom prst="roundRect">
            <a:avLst>
              <a:gd name="adj" fmla="val 7692"/>
            </a:avLst>
          </a:prstGeom>
          <a:solidFill>
            <a:srgbClr val="FFFFFF"/>
          </a:solidFill>
          <a:ln w="6350">
            <a:solidFill>
              <a:srgbClr val="DBE3EC"/>
            </a:solidFill>
            <a:prstDash val="solid"/>
          </a:ln>
        </p:spPr>
      </p:sp>
      <p:sp>
        <p:nvSpPr>
          <p:cNvPr id="23" name="Shape 21"/>
          <p:cNvSpPr/>
          <p:nvPr/>
        </p:nvSpPr>
        <p:spPr>
          <a:xfrm>
            <a:off x="8441741" y="2304288"/>
            <a:ext cx="210312" cy="210312"/>
          </a:xfrm>
          <a:prstGeom prst="ellipse">
            <a:avLst/>
          </a:prstGeom>
          <a:solidFill>
            <a:srgbClr val="5566E0"/>
          </a:solidFill>
          <a:ln/>
        </p:spPr>
      </p:sp>
      <p:sp>
        <p:nvSpPr>
          <p:cNvPr id="24" name="Text 22"/>
          <p:cNvSpPr/>
          <p:nvPr/>
        </p:nvSpPr>
        <p:spPr>
          <a:xfrm>
            <a:off x="8441741" y="2304288"/>
            <a:ext cx="210312" cy="210312"/>
          </a:xfrm>
          <a:prstGeom prst="rect">
            <a:avLst/>
          </a:prstGeom>
          <a:noFill/>
          <a:ln/>
        </p:spPr>
        <p:txBody>
          <a:bodyPr wrap="square"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4</a:t>
            </a:r>
            <a:endParaRPr lang="en-US" sz="900" dirty="0"/>
          </a:p>
        </p:txBody>
      </p:sp>
      <p:sp>
        <p:nvSpPr>
          <p:cNvPr id="25" name="Text 23"/>
          <p:cNvSpPr/>
          <p:nvPr/>
        </p:nvSpPr>
        <p:spPr>
          <a:xfrm>
            <a:off x="7595006" y="2578608"/>
            <a:ext cx="1903781" cy="274320"/>
          </a:xfrm>
          <a:prstGeom prst="rect">
            <a:avLst/>
          </a:prstGeom>
          <a:noFill/>
          <a:ln/>
        </p:spPr>
        <p:txBody>
          <a:bodyPr wrap="square" rtlCol="0" anchor="ctr"/>
          <a:lstStyle/>
          <a:p>
            <a:pPr algn="ctr" indent="0" marL="0">
              <a:buNone/>
            </a:pPr>
            <a:r>
              <a:rPr lang="en-US" sz="1200" b="1" dirty="0">
                <a:solidFill>
                  <a:srgbClr val="16202E"/>
                </a:solidFill>
                <a:latin typeface="Segoe UI" pitchFamily="34" charset="0"/>
                <a:ea typeface="Segoe UI" pitchFamily="34" charset="-122"/>
                <a:cs typeface="Segoe UI" pitchFamily="34" charset="-120"/>
              </a:rPr>
              <a:t>Execute</a:t>
            </a:r>
            <a:endParaRPr lang="en-US" sz="1200" dirty="0"/>
          </a:p>
        </p:txBody>
      </p:sp>
      <p:sp>
        <p:nvSpPr>
          <p:cNvPr id="26" name="Shape 24"/>
          <p:cNvSpPr/>
          <p:nvPr/>
        </p:nvSpPr>
        <p:spPr>
          <a:xfrm>
            <a:off x="9498787" y="2409444"/>
            <a:ext cx="128016" cy="0"/>
          </a:xfrm>
          <a:prstGeom prst="line">
            <a:avLst/>
          </a:prstGeom>
          <a:noFill/>
          <a:ln w="12700">
            <a:solidFill>
              <a:srgbClr val="DBE3EC"/>
            </a:solidFill>
            <a:prstDash val="solid"/>
          </a:ln>
        </p:spPr>
      </p:sp>
      <p:sp>
        <p:nvSpPr>
          <p:cNvPr id="27" name="Shape 25"/>
          <p:cNvSpPr/>
          <p:nvPr/>
        </p:nvSpPr>
        <p:spPr>
          <a:xfrm>
            <a:off x="9626803" y="2212848"/>
            <a:ext cx="1903781" cy="713232"/>
          </a:xfrm>
          <a:prstGeom prst="roundRect">
            <a:avLst>
              <a:gd name="adj" fmla="val 7692"/>
            </a:avLst>
          </a:prstGeom>
          <a:solidFill>
            <a:srgbClr val="FFFFFF"/>
          </a:solidFill>
          <a:ln w="6350">
            <a:solidFill>
              <a:srgbClr val="DBE3EC"/>
            </a:solidFill>
            <a:prstDash val="solid"/>
          </a:ln>
        </p:spPr>
      </p:sp>
      <p:sp>
        <p:nvSpPr>
          <p:cNvPr id="28" name="Shape 26"/>
          <p:cNvSpPr/>
          <p:nvPr/>
        </p:nvSpPr>
        <p:spPr>
          <a:xfrm>
            <a:off x="10473538" y="2304288"/>
            <a:ext cx="210312" cy="210312"/>
          </a:xfrm>
          <a:prstGeom prst="ellipse">
            <a:avLst/>
          </a:prstGeom>
          <a:solidFill>
            <a:srgbClr val="5566E0"/>
          </a:solidFill>
          <a:ln/>
        </p:spPr>
      </p:sp>
      <p:sp>
        <p:nvSpPr>
          <p:cNvPr id="29" name="Text 27"/>
          <p:cNvSpPr/>
          <p:nvPr/>
        </p:nvSpPr>
        <p:spPr>
          <a:xfrm>
            <a:off x="10473538" y="2304288"/>
            <a:ext cx="210312" cy="210312"/>
          </a:xfrm>
          <a:prstGeom prst="rect">
            <a:avLst/>
          </a:prstGeom>
          <a:noFill/>
          <a:ln/>
        </p:spPr>
        <p:txBody>
          <a:bodyPr wrap="square"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5</a:t>
            </a:r>
            <a:endParaRPr lang="en-US" sz="900" dirty="0"/>
          </a:p>
        </p:txBody>
      </p:sp>
      <p:sp>
        <p:nvSpPr>
          <p:cNvPr id="30" name="Text 28"/>
          <p:cNvSpPr/>
          <p:nvPr/>
        </p:nvSpPr>
        <p:spPr>
          <a:xfrm>
            <a:off x="9626803" y="2578608"/>
            <a:ext cx="1903781" cy="274320"/>
          </a:xfrm>
          <a:prstGeom prst="rect">
            <a:avLst/>
          </a:prstGeom>
          <a:noFill/>
          <a:ln/>
        </p:spPr>
        <p:txBody>
          <a:bodyPr wrap="square" rtlCol="0" anchor="ctr"/>
          <a:lstStyle/>
          <a:p>
            <a:pPr algn="ctr" indent="0" marL="0">
              <a:buNone/>
            </a:pPr>
            <a:r>
              <a:rPr lang="en-US" sz="1200" b="1" dirty="0">
                <a:solidFill>
                  <a:srgbClr val="16202E"/>
                </a:solidFill>
                <a:latin typeface="Segoe UI" pitchFamily="34" charset="0"/>
                <a:ea typeface="Segoe UI" pitchFamily="34" charset="-122"/>
                <a:cs typeface="Segoe UI" pitchFamily="34" charset="-120"/>
              </a:rPr>
              <a:t>Report</a:t>
            </a:r>
            <a:endParaRPr lang="en-US" sz="1200" dirty="0"/>
          </a:p>
        </p:txBody>
      </p:sp>
      <p:sp>
        <p:nvSpPr>
          <p:cNvPr id="31" name="Text 29"/>
          <p:cNvSpPr/>
          <p:nvPr/>
        </p:nvSpPr>
        <p:spPr>
          <a:xfrm>
            <a:off x="658368" y="3054096"/>
            <a:ext cx="658368" cy="512064"/>
          </a:xfrm>
          <a:prstGeom prst="rect">
            <a:avLst/>
          </a:prstGeom>
          <a:noFill/>
          <a:ln/>
        </p:spPr>
        <p:txBody>
          <a:bodyPr wrap="square" rtlCol="0" anchor="ctr"/>
          <a:lstStyle/>
          <a:p>
            <a:pPr algn="r" indent="0" marL="0">
              <a:buNone/>
            </a:pPr>
            <a:r>
              <a:rPr lang="en-US" sz="750" b="1" spc="130" kern="0" dirty="0">
                <a:solidFill>
                  <a:srgbClr val="7C8AA0"/>
                </a:solidFill>
                <a:latin typeface="Consolas" pitchFamily="34" charset="0"/>
                <a:ea typeface="Consolas" pitchFamily="34" charset="-122"/>
                <a:cs typeface="Consolas" pitchFamily="34" charset="-120"/>
              </a:rPr>
              <a:t>OWNER</a:t>
            </a:r>
            <a:endParaRPr lang="en-US" sz="750" dirty="0"/>
          </a:p>
        </p:txBody>
      </p:sp>
      <p:sp>
        <p:nvSpPr>
          <p:cNvPr id="32" name="Shape 30"/>
          <p:cNvSpPr/>
          <p:nvPr/>
        </p:nvSpPr>
        <p:spPr>
          <a:xfrm>
            <a:off x="1499616" y="3054096"/>
            <a:ext cx="1903781" cy="512064"/>
          </a:xfrm>
          <a:prstGeom prst="roundRect">
            <a:avLst>
              <a:gd name="adj" fmla="val 8929"/>
            </a:avLst>
          </a:prstGeom>
          <a:solidFill>
            <a:srgbClr val="FFFFFF"/>
          </a:solidFill>
          <a:ln w="6350">
            <a:solidFill>
              <a:srgbClr val="DBE3EC"/>
            </a:solidFill>
            <a:prstDash val="solid"/>
          </a:ln>
        </p:spPr>
      </p:sp>
      <p:sp>
        <p:nvSpPr>
          <p:cNvPr id="33" name="Text 31"/>
          <p:cNvSpPr/>
          <p:nvPr/>
        </p:nvSpPr>
        <p:spPr>
          <a:xfrm>
            <a:off x="1499616" y="3054096"/>
            <a:ext cx="1903781" cy="512064"/>
          </a:xfrm>
          <a:prstGeom prst="rect">
            <a:avLst/>
          </a:prstGeom>
          <a:noFill/>
          <a:ln/>
        </p:spPr>
        <p:txBody>
          <a:bodyPr wrap="square" rtlCol="0" anchor="ctr"/>
          <a:lstStyle/>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orchestrator</a:t>
            </a:r>
            <a:endParaRPr lang="en-US" sz="850" dirty="0"/>
          </a:p>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 BA agents</a:t>
            </a:r>
            <a:endParaRPr lang="en-US" sz="850" dirty="0"/>
          </a:p>
        </p:txBody>
      </p:sp>
      <p:sp>
        <p:nvSpPr>
          <p:cNvPr id="34" name="Shape 32"/>
          <p:cNvSpPr/>
          <p:nvPr/>
        </p:nvSpPr>
        <p:spPr>
          <a:xfrm>
            <a:off x="3531413" y="3054096"/>
            <a:ext cx="1903781" cy="512064"/>
          </a:xfrm>
          <a:prstGeom prst="roundRect">
            <a:avLst>
              <a:gd name="adj" fmla="val 8929"/>
            </a:avLst>
          </a:prstGeom>
          <a:solidFill>
            <a:srgbClr val="FFFFFF"/>
          </a:solidFill>
          <a:ln w="6350">
            <a:solidFill>
              <a:srgbClr val="DBE3EC"/>
            </a:solidFill>
            <a:prstDash val="solid"/>
          </a:ln>
        </p:spPr>
      </p:sp>
      <p:sp>
        <p:nvSpPr>
          <p:cNvPr id="35" name="Text 33"/>
          <p:cNvSpPr/>
          <p:nvPr/>
        </p:nvSpPr>
        <p:spPr>
          <a:xfrm>
            <a:off x="3531413" y="3054096"/>
            <a:ext cx="1903781" cy="512064"/>
          </a:xfrm>
          <a:prstGeom prst="rect">
            <a:avLst/>
          </a:prstGeom>
          <a:noFill/>
          <a:ln/>
        </p:spPr>
        <p:txBody>
          <a:bodyPr wrap="square" rtlCol="0" anchor="ctr"/>
          <a:lstStyle/>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orchestrator</a:t>
            </a:r>
            <a:endParaRPr lang="en-US" sz="850" dirty="0"/>
          </a:p>
        </p:txBody>
      </p:sp>
      <p:sp>
        <p:nvSpPr>
          <p:cNvPr id="36" name="Shape 34"/>
          <p:cNvSpPr/>
          <p:nvPr/>
        </p:nvSpPr>
        <p:spPr>
          <a:xfrm>
            <a:off x="5563210" y="3054096"/>
            <a:ext cx="1903781" cy="512064"/>
          </a:xfrm>
          <a:prstGeom prst="roundRect">
            <a:avLst>
              <a:gd name="adj" fmla="val 8929"/>
            </a:avLst>
          </a:prstGeom>
          <a:solidFill>
            <a:srgbClr val="FFFFFF"/>
          </a:solidFill>
          <a:ln w="6350">
            <a:solidFill>
              <a:srgbClr val="DBE3EC"/>
            </a:solidFill>
            <a:prstDash val="solid"/>
          </a:ln>
        </p:spPr>
      </p:sp>
      <p:sp>
        <p:nvSpPr>
          <p:cNvPr id="37" name="Text 35"/>
          <p:cNvSpPr/>
          <p:nvPr/>
        </p:nvSpPr>
        <p:spPr>
          <a:xfrm>
            <a:off x="5563210" y="3054096"/>
            <a:ext cx="1903781" cy="512064"/>
          </a:xfrm>
          <a:prstGeom prst="rect">
            <a:avLst/>
          </a:prstGeom>
          <a:noFill/>
          <a:ln/>
        </p:spPr>
        <p:txBody>
          <a:bodyPr wrap="square" rtlCol="0" anchor="ctr"/>
          <a:lstStyle/>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test-management</a:t>
            </a:r>
            <a:endParaRPr lang="en-US" sz="850" dirty="0"/>
          </a:p>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specialist</a:t>
            </a:r>
            <a:endParaRPr lang="en-US" sz="850" dirty="0"/>
          </a:p>
        </p:txBody>
      </p:sp>
      <p:sp>
        <p:nvSpPr>
          <p:cNvPr id="38" name="Shape 36"/>
          <p:cNvSpPr/>
          <p:nvPr/>
        </p:nvSpPr>
        <p:spPr>
          <a:xfrm>
            <a:off x="7595006" y="3054096"/>
            <a:ext cx="1903781" cy="512064"/>
          </a:xfrm>
          <a:prstGeom prst="roundRect">
            <a:avLst>
              <a:gd name="adj" fmla="val 8929"/>
            </a:avLst>
          </a:prstGeom>
          <a:solidFill>
            <a:srgbClr val="FFFFFF"/>
          </a:solidFill>
          <a:ln w="6350">
            <a:solidFill>
              <a:srgbClr val="DBE3EC"/>
            </a:solidFill>
            <a:prstDash val="solid"/>
          </a:ln>
        </p:spPr>
      </p:sp>
      <p:sp>
        <p:nvSpPr>
          <p:cNvPr id="39" name="Text 37"/>
          <p:cNvSpPr/>
          <p:nvPr/>
        </p:nvSpPr>
        <p:spPr>
          <a:xfrm>
            <a:off x="7595006" y="3054096"/>
            <a:ext cx="1903781" cy="512064"/>
          </a:xfrm>
          <a:prstGeom prst="rect">
            <a:avLst/>
          </a:prstGeom>
          <a:noFill/>
          <a:ln/>
        </p:spPr>
        <p:txBody>
          <a:bodyPr wrap="square" rtlCol="0" anchor="ctr"/>
          <a:lstStyle/>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qa-frontend /</a:t>
            </a:r>
            <a:endParaRPr lang="en-US" sz="850" dirty="0"/>
          </a:p>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qa-backend</a:t>
            </a:r>
            <a:endParaRPr lang="en-US" sz="850" dirty="0"/>
          </a:p>
        </p:txBody>
      </p:sp>
      <p:sp>
        <p:nvSpPr>
          <p:cNvPr id="40" name="Shape 38"/>
          <p:cNvSpPr/>
          <p:nvPr/>
        </p:nvSpPr>
        <p:spPr>
          <a:xfrm>
            <a:off x="9626803" y="3054096"/>
            <a:ext cx="1903781" cy="512064"/>
          </a:xfrm>
          <a:prstGeom prst="roundRect">
            <a:avLst>
              <a:gd name="adj" fmla="val 8929"/>
            </a:avLst>
          </a:prstGeom>
          <a:solidFill>
            <a:srgbClr val="FFFFFF"/>
          </a:solidFill>
          <a:ln w="6350">
            <a:solidFill>
              <a:srgbClr val="DBE3EC"/>
            </a:solidFill>
            <a:prstDash val="solid"/>
          </a:ln>
        </p:spPr>
      </p:sp>
      <p:sp>
        <p:nvSpPr>
          <p:cNvPr id="41" name="Text 39"/>
          <p:cNvSpPr/>
          <p:nvPr/>
        </p:nvSpPr>
        <p:spPr>
          <a:xfrm>
            <a:off x="9626803" y="3054096"/>
            <a:ext cx="1903781" cy="512064"/>
          </a:xfrm>
          <a:prstGeom prst="rect">
            <a:avLst/>
          </a:prstGeom>
          <a:noFill/>
          <a:ln/>
        </p:spPr>
        <p:txBody>
          <a:bodyPr wrap="square" rtlCol="0" anchor="ctr"/>
          <a:lstStyle/>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orchestrator</a:t>
            </a:r>
            <a:endParaRPr lang="en-US" sz="850" dirty="0"/>
          </a:p>
          <a:p>
            <a:pPr algn="ctr" indent="0" marL="0">
              <a:lnSpc>
                <a:spcPct val="114000"/>
              </a:lnSpc>
              <a:buNone/>
            </a:pPr>
            <a:r>
              <a:rPr lang="en-US" sz="850" b="1" dirty="0">
                <a:solidFill>
                  <a:srgbClr val="16202E"/>
                </a:solidFill>
                <a:latin typeface="Consolas" pitchFamily="34" charset="0"/>
                <a:ea typeface="Consolas" pitchFamily="34" charset="-122"/>
                <a:cs typeface="Consolas" pitchFamily="34" charset="-120"/>
              </a:rPr>
              <a:t>+ specialists</a:t>
            </a:r>
            <a:endParaRPr lang="en-US" sz="850" dirty="0"/>
          </a:p>
        </p:txBody>
      </p:sp>
      <p:sp>
        <p:nvSpPr>
          <p:cNvPr id="42" name="Text 40"/>
          <p:cNvSpPr/>
          <p:nvPr/>
        </p:nvSpPr>
        <p:spPr>
          <a:xfrm>
            <a:off x="658368" y="3675888"/>
            <a:ext cx="658368" cy="603504"/>
          </a:xfrm>
          <a:prstGeom prst="rect">
            <a:avLst/>
          </a:prstGeom>
          <a:noFill/>
          <a:ln/>
        </p:spPr>
        <p:txBody>
          <a:bodyPr wrap="square" rtlCol="0" anchor="ctr"/>
          <a:lstStyle/>
          <a:p>
            <a:pPr algn="r" indent="0" marL="0">
              <a:buNone/>
            </a:pPr>
            <a:r>
              <a:rPr lang="en-US" sz="750" b="1" spc="130" kern="0" dirty="0">
                <a:solidFill>
                  <a:srgbClr val="7C8AA0"/>
                </a:solidFill>
                <a:latin typeface="Consolas" pitchFamily="34" charset="0"/>
                <a:ea typeface="Consolas" pitchFamily="34" charset="-122"/>
                <a:cs typeface="Consolas" pitchFamily="34" charset="-120"/>
              </a:rPr>
              <a:t>GOAL</a:t>
            </a:r>
            <a:endParaRPr lang="en-US" sz="750" dirty="0"/>
          </a:p>
        </p:txBody>
      </p:sp>
      <p:sp>
        <p:nvSpPr>
          <p:cNvPr id="43" name="Shape 41"/>
          <p:cNvSpPr/>
          <p:nvPr/>
        </p:nvSpPr>
        <p:spPr>
          <a:xfrm>
            <a:off x="1499616" y="3675888"/>
            <a:ext cx="1903781" cy="603504"/>
          </a:xfrm>
          <a:prstGeom prst="roundRect">
            <a:avLst>
              <a:gd name="adj" fmla="val 7576"/>
            </a:avLst>
          </a:prstGeom>
          <a:solidFill>
            <a:srgbClr val="FFFFFF"/>
          </a:solidFill>
          <a:ln w="6350">
            <a:solidFill>
              <a:srgbClr val="DBE3EC"/>
            </a:solidFill>
            <a:prstDash val="solid"/>
          </a:ln>
        </p:spPr>
      </p:sp>
      <p:sp>
        <p:nvSpPr>
          <p:cNvPr id="44" name="Text 42"/>
          <p:cNvSpPr/>
          <p:nvPr/>
        </p:nvSpPr>
        <p:spPr>
          <a:xfrm>
            <a:off x="1554480" y="3675888"/>
            <a:ext cx="1794053" cy="603504"/>
          </a:xfrm>
          <a:prstGeom prst="rect">
            <a:avLst/>
          </a:prstGeom>
          <a:noFill/>
          <a:ln/>
        </p:spPr>
        <p:txBody>
          <a:bodyPr wrap="square" rtlCol="0" anchor="ctr"/>
          <a:lstStyle/>
          <a:p>
            <a:pPr algn="ctr" indent="0" marL="0">
              <a:lnSpc>
                <a:spcPct val="112000"/>
              </a:lnSpc>
              <a:buNone/>
            </a:pPr>
            <a:r>
              <a:rPr lang="en-US" sz="900" dirty="0">
                <a:solidFill>
                  <a:srgbClr val="16202E"/>
                </a:solidFill>
                <a:latin typeface="Segoe UI" pitchFamily="34" charset="0"/>
                <a:ea typeface="Segoe UI" pitchFamily="34" charset="-122"/>
                <a:cs typeface="Segoe UI" pitchFamily="34" charset="-120"/>
              </a:rPr>
              <a:t>Know what we're testing, and how deep</a:t>
            </a:r>
            <a:endParaRPr lang="en-US" sz="900" dirty="0"/>
          </a:p>
        </p:txBody>
      </p:sp>
      <p:sp>
        <p:nvSpPr>
          <p:cNvPr id="45" name="Shape 43"/>
          <p:cNvSpPr/>
          <p:nvPr/>
        </p:nvSpPr>
        <p:spPr>
          <a:xfrm>
            <a:off x="3531413" y="3675888"/>
            <a:ext cx="1903781" cy="603504"/>
          </a:xfrm>
          <a:prstGeom prst="roundRect">
            <a:avLst>
              <a:gd name="adj" fmla="val 7576"/>
            </a:avLst>
          </a:prstGeom>
          <a:solidFill>
            <a:srgbClr val="FFFFFF"/>
          </a:solidFill>
          <a:ln w="6350">
            <a:solidFill>
              <a:srgbClr val="DBE3EC"/>
            </a:solidFill>
            <a:prstDash val="solid"/>
          </a:ln>
        </p:spPr>
      </p:sp>
      <p:sp>
        <p:nvSpPr>
          <p:cNvPr id="46" name="Text 44"/>
          <p:cNvSpPr/>
          <p:nvPr/>
        </p:nvSpPr>
        <p:spPr>
          <a:xfrm>
            <a:off x="3586277" y="3675888"/>
            <a:ext cx="1794053" cy="603504"/>
          </a:xfrm>
          <a:prstGeom prst="rect">
            <a:avLst/>
          </a:prstGeom>
          <a:noFill/>
          <a:ln/>
        </p:spPr>
        <p:txBody>
          <a:bodyPr wrap="square" rtlCol="0" anchor="ctr"/>
          <a:lstStyle/>
          <a:p>
            <a:pPr algn="ctr" indent="0" marL="0">
              <a:lnSpc>
                <a:spcPct val="112000"/>
              </a:lnSpc>
              <a:buNone/>
            </a:pPr>
            <a:r>
              <a:rPr lang="en-US" sz="900" dirty="0">
                <a:solidFill>
                  <a:srgbClr val="16202E"/>
                </a:solidFill>
                <a:latin typeface="Segoe UI" pitchFamily="34" charset="0"/>
                <a:ea typeface="Segoe UI" pitchFamily="34" charset="-122"/>
                <a:cs typeface="Segoe UI" pitchFamily="34" charset="-120"/>
              </a:rPr>
              <a:t>Decide who tests what</a:t>
            </a:r>
            <a:endParaRPr lang="en-US" sz="900" dirty="0"/>
          </a:p>
        </p:txBody>
      </p:sp>
      <p:sp>
        <p:nvSpPr>
          <p:cNvPr id="47" name="Shape 45"/>
          <p:cNvSpPr/>
          <p:nvPr/>
        </p:nvSpPr>
        <p:spPr>
          <a:xfrm>
            <a:off x="5563210" y="3675888"/>
            <a:ext cx="1903781" cy="603504"/>
          </a:xfrm>
          <a:prstGeom prst="roundRect">
            <a:avLst>
              <a:gd name="adj" fmla="val 7576"/>
            </a:avLst>
          </a:prstGeom>
          <a:solidFill>
            <a:srgbClr val="FFFFFF"/>
          </a:solidFill>
          <a:ln w="6350">
            <a:solidFill>
              <a:srgbClr val="DBE3EC"/>
            </a:solidFill>
            <a:prstDash val="solid"/>
          </a:ln>
        </p:spPr>
      </p:sp>
      <p:sp>
        <p:nvSpPr>
          <p:cNvPr id="48" name="Text 46"/>
          <p:cNvSpPr/>
          <p:nvPr/>
        </p:nvSpPr>
        <p:spPr>
          <a:xfrm>
            <a:off x="5618074" y="3675888"/>
            <a:ext cx="1794053" cy="603504"/>
          </a:xfrm>
          <a:prstGeom prst="rect">
            <a:avLst/>
          </a:prstGeom>
          <a:noFill/>
          <a:ln/>
        </p:spPr>
        <p:txBody>
          <a:bodyPr wrap="square" rtlCol="0" anchor="ctr"/>
          <a:lstStyle/>
          <a:p>
            <a:pPr algn="ctr" indent="0" marL="0">
              <a:lnSpc>
                <a:spcPct val="112000"/>
              </a:lnSpc>
              <a:buNone/>
            </a:pPr>
            <a:r>
              <a:rPr lang="en-US" sz="900" dirty="0">
                <a:solidFill>
                  <a:srgbClr val="16202E"/>
                </a:solidFill>
                <a:latin typeface="Segoe UI" pitchFamily="34" charset="0"/>
                <a:ea typeface="Segoe UI" pitchFamily="34" charset="-122"/>
                <a:cs typeface="Segoe UI" pitchFamily="34" charset="-120"/>
              </a:rPr>
              <a:t>Cases exist, data is seeded</a:t>
            </a:r>
            <a:endParaRPr lang="en-US" sz="900" dirty="0"/>
          </a:p>
        </p:txBody>
      </p:sp>
      <p:sp>
        <p:nvSpPr>
          <p:cNvPr id="49" name="Shape 47"/>
          <p:cNvSpPr/>
          <p:nvPr/>
        </p:nvSpPr>
        <p:spPr>
          <a:xfrm>
            <a:off x="7595006" y="3675888"/>
            <a:ext cx="1903781" cy="603504"/>
          </a:xfrm>
          <a:prstGeom prst="roundRect">
            <a:avLst>
              <a:gd name="adj" fmla="val 7576"/>
            </a:avLst>
          </a:prstGeom>
          <a:solidFill>
            <a:srgbClr val="FFFFFF"/>
          </a:solidFill>
          <a:ln w="6350">
            <a:solidFill>
              <a:srgbClr val="DBE3EC"/>
            </a:solidFill>
            <a:prstDash val="solid"/>
          </a:ln>
        </p:spPr>
      </p:sp>
      <p:sp>
        <p:nvSpPr>
          <p:cNvPr id="50" name="Text 48"/>
          <p:cNvSpPr/>
          <p:nvPr/>
        </p:nvSpPr>
        <p:spPr>
          <a:xfrm>
            <a:off x="7649870" y="3675888"/>
            <a:ext cx="1794053" cy="603504"/>
          </a:xfrm>
          <a:prstGeom prst="rect">
            <a:avLst/>
          </a:prstGeom>
          <a:noFill/>
          <a:ln/>
        </p:spPr>
        <p:txBody>
          <a:bodyPr wrap="square" rtlCol="0" anchor="ctr"/>
          <a:lstStyle/>
          <a:p>
            <a:pPr algn="ctr" indent="0" marL="0">
              <a:lnSpc>
                <a:spcPct val="112000"/>
              </a:lnSpc>
              <a:buNone/>
            </a:pPr>
            <a:r>
              <a:rPr lang="en-US" sz="900" dirty="0">
                <a:solidFill>
                  <a:srgbClr val="16202E"/>
                </a:solidFill>
                <a:latin typeface="Segoe UI" pitchFamily="34" charset="0"/>
                <a:ea typeface="Segoe UI" pitchFamily="34" charset="-122"/>
                <a:cs typeface="Segoe UI" pitchFamily="34" charset="-120"/>
              </a:rPr>
              <a:t>Evidence for every condition</a:t>
            </a:r>
            <a:endParaRPr lang="en-US" sz="900" dirty="0"/>
          </a:p>
        </p:txBody>
      </p:sp>
      <p:sp>
        <p:nvSpPr>
          <p:cNvPr id="51" name="Shape 49"/>
          <p:cNvSpPr/>
          <p:nvPr/>
        </p:nvSpPr>
        <p:spPr>
          <a:xfrm>
            <a:off x="9626803" y="3675888"/>
            <a:ext cx="1903781" cy="603504"/>
          </a:xfrm>
          <a:prstGeom prst="roundRect">
            <a:avLst>
              <a:gd name="adj" fmla="val 7576"/>
            </a:avLst>
          </a:prstGeom>
          <a:solidFill>
            <a:srgbClr val="FFFFFF"/>
          </a:solidFill>
          <a:ln w="6350">
            <a:solidFill>
              <a:srgbClr val="DBE3EC"/>
            </a:solidFill>
            <a:prstDash val="solid"/>
          </a:ln>
        </p:spPr>
      </p:sp>
      <p:sp>
        <p:nvSpPr>
          <p:cNvPr id="52" name="Text 50"/>
          <p:cNvSpPr/>
          <p:nvPr/>
        </p:nvSpPr>
        <p:spPr>
          <a:xfrm>
            <a:off x="9681667" y="3675888"/>
            <a:ext cx="1794053" cy="603504"/>
          </a:xfrm>
          <a:prstGeom prst="rect">
            <a:avLst/>
          </a:prstGeom>
          <a:noFill/>
          <a:ln/>
        </p:spPr>
        <p:txBody>
          <a:bodyPr wrap="square" rtlCol="0" anchor="ctr"/>
          <a:lstStyle/>
          <a:p>
            <a:pPr algn="ctr" indent="0" marL="0">
              <a:lnSpc>
                <a:spcPct val="112000"/>
              </a:lnSpc>
              <a:buNone/>
            </a:pPr>
            <a:r>
              <a:rPr lang="en-US" sz="900" dirty="0">
                <a:solidFill>
                  <a:srgbClr val="16202E"/>
                </a:solidFill>
                <a:latin typeface="Segoe UI" pitchFamily="34" charset="0"/>
                <a:ea typeface="Segoe UI" pitchFamily="34" charset="-122"/>
                <a:cs typeface="Segoe UI" pitchFamily="34" charset="-120"/>
              </a:rPr>
              <a:t>Verdict, and what happens next</a:t>
            </a:r>
            <a:endParaRPr lang="en-US" sz="900" dirty="0"/>
          </a:p>
        </p:txBody>
      </p:sp>
      <p:sp>
        <p:nvSpPr>
          <p:cNvPr id="53" name="Text 51"/>
          <p:cNvSpPr/>
          <p:nvPr/>
        </p:nvSpPr>
        <p:spPr>
          <a:xfrm>
            <a:off x="658368" y="4389120"/>
            <a:ext cx="658368" cy="512064"/>
          </a:xfrm>
          <a:prstGeom prst="rect">
            <a:avLst/>
          </a:prstGeom>
          <a:noFill/>
          <a:ln/>
        </p:spPr>
        <p:txBody>
          <a:bodyPr wrap="square" rtlCol="0" anchor="ctr"/>
          <a:lstStyle/>
          <a:p>
            <a:pPr algn="r" indent="0" marL="0">
              <a:buNone/>
            </a:pPr>
            <a:r>
              <a:rPr lang="en-US" sz="750" b="1" spc="130" kern="0" dirty="0">
                <a:solidFill>
                  <a:srgbClr val="7C8AA0"/>
                </a:solidFill>
                <a:latin typeface="Consolas" pitchFamily="34" charset="0"/>
                <a:ea typeface="Consolas" pitchFamily="34" charset="-122"/>
                <a:cs typeface="Consolas" pitchFamily="34" charset="-120"/>
              </a:rPr>
              <a:t>GATE</a:t>
            </a:r>
            <a:endParaRPr lang="en-US" sz="750" dirty="0"/>
          </a:p>
        </p:txBody>
      </p:sp>
      <p:sp>
        <p:nvSpPr>
          <p:cNvPr id="54" name="Shape 52"/>
          <p:cNvSpPr/>
          <p:nvPr/>
        </p:nvSpPr>
        <p:spPr>
          <a:xfrm>
            <a:off x="1499616" y="4389120"/>
            <a:ext cx="1903781" cy="512064"/>
          </a:xfrm>
          <a:prstGeom prst="roundRect">
            <a:avLst>
              <a:gd name="adj" fmla="val 8929"/>
            </a:avLst>
          </a:prstGeom>
          <a:solidFill>
            <a:srgbClr val="F7F9FB"/>
          </a:solidFill>
          <a:ln w="6350">
            <a:solidFill>
              <a:srgbClr val="DBE3EC"/>
            </a:solidFill>
            <a:prstDash val="dash"/>
          </a:ln>
        </p:spPr>
      </p:sp>
      <p:sp>
        <p:nvSpPr>
          <p:cNvPr id="55" name="Text 53"/>
          <p:cNvSpPr/>
          <p:nvPr/>
        </p:nvSpPr>
        <p:spPr>
          <a:xfrm>
            <a:off x="1499616" y="4389120"/>
            <a:ext cx="1903781" cy="512064"/>
          </a:xfrm>
          <a:prstGeom prst="rect">
            <a:avLst/>
          </a:prstGeom>
          <a:noFill/>
          <a:ln/>
        </p:spPr>
        <p:txBody>
          <a:bodyPr wrap="square" rtlCol="0" anchor="ctr"/>
          <a:lstStyle/>
          <a:p>
            <a:pPr algn="ctr" indent="0" marL="0">
              <a:lnSpc>
                <a:spcPct val="118000"/>
              </a:lnSpc>
              <a:buNone/>
            </a:pPr>
            <a:r>
              <a:rPr lang="en-US" sz="900" b="1" dirty="0">
                <a:solidFill>
                  <a:srgbClr val="7C8AA0"/>
                </a:solidFill>
                <a:latin typeface="Consolas" pitchFamily="34" charset="0"/>
                <a:ea typeface="Consolas" pitchFamily="34" charset="-122"/>
                <a:cs typeface="Consolas" pitchFamily="34" charset="-120"/>
              </a:rPr>
              <a:t>INLINE</a:t>
            </a:r>
            <a:endParaRPr lang="en-US" sz="900" dirty="0"/>
          </a:p>
        </p:txBody>
      </p:sp>
      <p:sp>
        <p:nvSpPr>
          <p:cNvPr id="56" name="Shape 54"/>
          <p:cNvSpPr/>
          <p:nvPr/>
        </p:nvSpPr>
        <p:spPr>
          <a:xfrm>
            <a:off x="3531413" y="4389120"/>
            <a:ext cx="1903781" cy="512064"/>
          </a:xfrm>
          <a:prstGeom prst="roundRect">
            <a:avLst>
              <a:gd name="adj" fmla="val 8929"/>
            </a:avLst>
          </a:prstGeom>
          <a:solidFill>
            <a:srgbClr val="F7F9FB"/>
          </a:solidFill>
          <a:ln w="6350">
            <a:solidFill>
              <a:srgbClr val="DBE3EC"/>
            </a:solidFill>
            <a:prstDash val="dash"/>
          </a:ln>
        </p:spPr>
      </p:sp>
      <p:sp>
        <p:nvSpPr>
          <p:cNvPr id="57" name="Text 55"/>
          <p:cNvSpPr/>
          <p:nvPr/>
        </p:nvSpPr>
        <p:spPr>
          <a:xfrm>
            <a:off x="3531413" y="4389120"/>
            <a:ext cx="1903781" cy="512064"/>
          </a:xfrm>
          <a:prstGeom prst="rect">
            <a:avLst/>
          </a:prstGeom>
          <a:noFill/>
          <a:ln/>
        </p:spPr>
        <p:txBody>
          <a:bodyPr wrap="square" rtlCol="0" anchor="ctr"/>
          <a:lstStyle/>
          <a:p>
            <a:pPr algn="ctr" indent="0" marL="0">
              <a:lnSpc>
                <a:spcPct val="118000"/>
              </a:lnSpc>
              <a:buNone/>
            </a:pPr>
            <a:r>
              <a:rPr lang="en-US" sz="900" b="1" dirty="0">
                <a:solidFill>
                  <a:srgbClr val="7C8AA0"/>
                </a:solidFill>
                <a:latin typeface="Consolas" pitchFamily="34" charset="0"/>
                <a:ea typeface="Consolas" pitchFamily="34" charset="-122"/>
                <a:cs typeface="Consolas" pitchFamily="34" charset="-120"/>
              </a:rPr>
              <a:t>INLINE</a:t>
            </a:r>
            <a:endParaRPr lang="en-US" sz="900" dirty="0"/>
          </a:p>
        </p:txBody>
      </p:sp>
      <p:sp>
        <p:nvSpPr>
          <p:cNvPr id="58" name="Shape 56"/>
          <p:cNvSpPr/>
          <p:nvPr/>
        </p:nvSpPr>
        <p:spPr>
          <a:xfrm>
            <a:off x="5563210" y="4389120"/>
            <a:ext cx="1903781" cy="512064"/>
          </a:xfrm>
          <a:prstGeom prst="roundRect">
            <a:avLst>
              <a:gd name="adj" fmla="val 8929"/>
            </a:avLst>
          </a:prstGeom>
          <a:solidFill>
            <a:srgbClr val="5566E0"/>
          </a:solidFill>
          <a:ln w="6350">
            <a:solidFill>
              <a:srgbClr val="5566E0"/>
            </a:solidFill>
            <a:prstDash val="solid"/>
          </a:ln>
        </p:spPr>
      </p:sp>
      <p:sp>
        <p:nvSpPr>
          <p:cNvPr id="59" name="Text 57"/>
          <p:cNvSpPr/>
          <p:nvPr/>
        </p:nvSpPr>
        <p:spPr>
          <a:xfrm>
            <a:off x="5563210" y="4389120"/>
            <a:ext cx="1903781" cy="512064"/>
          </a:xfrm>
          <a:prstGeom prst="rect">
            <a:avLst/>
          </a:prstGeom>
          <a:noFill/>
          <a:ln/>
        </p:spPr>
        <p:txBody>
          <a:bodyPr wrap="square" rtlCol="0" anchor="ctr"/>
          <a:lstStyle/>
          <a:p>
            <a:pPr algn="ctr" indent="0" marL="0">
              <a:lnSpc>
                <a:spcPct val="118000"/>
              </a:lnSpc>
              <a:buNone/>
            </a:pPr>
            <a:r>
              <a:rPr lang="en-US" sz="900" b="1" dirty="0">
                <a:solidFill>
                  <a:srgbClr val="FFFFFF"/>
                </a:solidFill>
                <a:latin typeface="Consolas" pitchFamily="34" charset="0"/>
                <a:ea typeface="Consolas" pitchFamily="34" charset="-122"/>
                <a:cs typeface="Consolas" pitchFamily="34" charset="-120"/>
              </a:rPr>
              <a:t>HARD STOP</a:t>
            </a:r>
            <a:pPr algn="ctr" indent="0" marL="0">
              <a:lnSpc>
                <a:spcPct val="118000"/>
              </a:lnSpc>
              <a:buNone/>
            </a:pPr>
            <a:endParaRPr lang="en-US" sz="900" dirty="0"/>
          </a:p>
          <a:p>
            <a:pPr algn="ctr" indent="0" marL="0">
              <a:lnSpc>
                <a:spcPct val="118000"/>
              </a:lnSpc>
              <a:buNone/>
            </a:pPr>
            <a:r>
              <a:rPr lang="en-US" sz="750" b="1" dirty="0">
                <a:solidFill>
                  <a:srgbClr val="FFFFFF"/>
                </a:solidFill>
                <a:latin typeface="Segoe UI" pitchFamily="34" charset="0"/>
                <a:ea typeface="Segoe UI" pitchFamily="34" charset="-122"/>
                <a:cs typeface="Segoe UI" pitchFamily="34" charset="-120"/>
              </a:rPr>
              <a:t>fresh verifier</a:t>
            </a:r>
            <a:endParaRPr lang="en-US" sz="900" dirty="0"/>
          </a:p>
        </p:txBody>
      </p:sp>
      <p:sp>
        <p:nvSpPr>
          <p:cNvPr id="60" name="Shape 58"/>
          <p:cNvSpPr/>
          <p:nvPr/>
        </p:nvSpPr>
        <p:spPr>
          <a:xfrm>
            <a:off x="7595006" y="4389120"/>
            <a:ext cx="1903781" cy="512064"/>
          </a:xfrm>
          <a:prstGeom prst="roundRect">
            <a:avLst>
              <a:gd name="adj" fmla="val 8929"/>
            </a:avLst>
          </a:prstGeom>
          <a:solidFill>
            <a:srgbClr val="F7F9FB"/>
          </a:solidFill>
          <a:ln w="6350">
            <a:solidFill>
              <a:srgbClr val="DBE3EC"/>
            </a:solidFill>
            <a:prstDash val="dash"/>
          </a:ln>
        </p:spPr>
      </p:sp>
      <p:sp>
        <p:nvSpPr>
          <p:cNvPr id="61" name="Text 59"/>
          <p:cNvSpPr/>
          <p:nvPr/>
        </p:nvSpPr>
        <p:spPr>
          <a:xfrm>
            <a:off x="7595006" y="4389120"/>
            <a:ext cx="1903781" cy="512064"/>
          </a:xfrm>
          <a:prstGeom prst="rect">
            <a:avLst/>
          </a:prstGeom>
          <a:noFill/>
          <a:ln/>
        </p:spPr>
        <p:txBody>
          <a:bodyPr wrap="square" rtlCol="0" anchor="ctr"/>
          <a:lstStyle/>
          <a:p>
            <a:pPr algn="ctr" indent="0" marL="0">
              <a:lnSpc>
                <a:spcPct val="118000"/>
              </a:lnSpc>
              <a:buNone/>
            </a:pPr>
            <a:r>
              <a:rPr lang="en-US" sz="900" b="1" dirty="0">
                <a:solidFill>
                  <a:srgbClr val="7C8AA0"/>
                </a:solidFill>
                <a:latin typeface="Consolas" pitchFamily="34" charset="0"/>
                <a:ea typeface="Consolas" pitchFamily="34" charset="-122"/>
                <a:cs typeface="Consolas" pitchFamily="34" charset="-120"/>
              </a:rPr>
              <a:t>INLINE</a:t>
            </a:r>
            <a:endParaRPr lang="en-US" sz="900" dirty="0"/>
          </a:p>
        </p:txBody>
      </p:sp>
      <p:sp>
        <p:nvSpPr>
          <p:cNvPr id="62" name="Shape 60"/>
          <p:cNvSpPr/>
          <p:nvPr/>
        </p:nvSpPr>
        <p:spPr>
          <a:xfrm>
            <a:off x="9626803" y="4389120"/>
            <a:ext cx="1903781" cy="512064"/>
          </a:xfrm>
          <a:prstGeom prst="roundRect">
            <a:avLst>
              <a:gd name="adj" fmla="val 8929"/>
            </a:avLst>
          </a:prstGeom>
          <a:solidFill>
            <a:srgbClr val="5566E0"/>
          </a:solidFill>
          <a:ln w="6350">
            <a:solidFill>
              <a:srgbClr val="5566E0"/>
            </a:solidFill>
            <a:prstDash val="solid"/>
          </a:ln>
        </p:spPr>
      </p:sp>
      <p:sp>
        <p:nvSpPr>
          <p:cNvPr id="63" name="Text 61"/>
          <p:cNvSpPr/>
          <p:nvPr/>
        </p:nvSpPr>
        <p:spPr>
          <a:xfrm>
            <a:off x="9626803" y="4389120"/>
            <a:ext cx="1903781" cy="512064"/>
          </a:xfrm>
          <a:prstGeom prst="rect">
            <a:avLst/>
          </a:prstGeom>
          <a:noFill/>
          <a:ln/>
        </p:spPr>
        <p:txBody>
          <a:bodyPr wrap="square" rtlCol="0" anchor="ctr"/>
          <a:lstStyle/>
          <a:p>
            <a:pPr algn="ctr" indent="0" marL="0">
              <a:lnSpc>
                <a:spcPct val="118000"/>
              </a:lnSpc>
              <a:buNone/>
            </a:pPr>
            <a:r>
              <a:rPr lang="en-US" sz="900" b="1" dirty="0">
                <a:solidFill>
                  <a:srgbClr val="FFFFFF"/>
                </a:solidFill>
                <a:latin typeface="Consolas" pitchFamily="34" charset="0"/>
                <a:ea typeface="Consolas" pitchFamily="34" charset="-122"/>
                <a:cs typeface="Consolas" pitchFamily="34" charset="-120"/>
              </a:rPr>
              <a:t>HARD STOP ×2</a:t>
            </a:r>
            <a:pPr algn="ctr" indent="0" marL="0">
              <a:lnSpc>
                <a:spcPct val="118000"/>
              </a:lnSpc>
              <a:buNone/>
            </a:pPr>
            <a:endParaRPr lang="en-US" sz="900" dirty="0"/>
          </a:p>
          <a:p>
            <a:pPr algn="ctr" indent="0" marL="0">
              <a:lnSpc>
                <a:spcPct val="118000"/>
              </a:lnSpc>
              <a:buNone/>
            </a:pPr>
            <a:r>
              <a:rPr lang="en-US" sz="750" b="1" dirty="0">
                <a:solidFill>
                  <a:srgbClr val="FFFFFF"/>
                </a:solidFill>
                <a:latin typeface="Segoe UI" pitchFamily="34" charset="0"/>
                <a:ea typeface="Segoe UI" pitchFamily="34" charset="-122"/>
                <a:cs typeface="Segoe UI" pitchFamily="34" charset="-120"/>
              </a:rPr>
              <a:t>verdict · promotion</a:t>
            </a:r>
            <a:endParaRPr lang="en-US" sz="900" dirty="0"/>
          </a:p>
        </p:txBody>
      </p:sp>
      <p:sp>
        <p:nvSpPr>
          <p:cNvPr id="64" name="Shape 62"/>
          <p:cNvSpPr/>
          <p:nvPr/>
        </p:nvSpPr>
        <p:spPr>
          <a:xfrm>
            <a:off x="658368" y="5084064"/>
            <a:ext cx="10872216" cy="914400"/>
          </a:xfrm>
          <a:prstGeom prst="roundRect">
            <a:avLst>
              <a:gd name="adj" fmla="val 6000"/>
            </a:avLst>
          </a:prstGeom>
          <a:solidFill>
            <a:srgbClr val="FFFFFF"/>
          </a:solidFill>
          <a:ln w="6350">
            <a:solidFill>
              <a:srgbClr val="DBE3EC"/>
            </a:solidFill>
            <a:prstDash val="solid"/>
          </a:ln>
        </p:spPr>
      </p:sp>
      <p:sp>
        <p:nvSpPr>
          <p:cNvPr id="65" name="Shape 63"/>
          <p:cNvSpPr/>
          <p:nvPr/>
        </p:nvSpPr>
        <p:spPr>
          <a:xfrm>
            <a:off x="658368" y="5129784"/>
            <a:ext cx="45720" cy="822960"/>
          </a:xfrm>
          <a:prstGeom prst="rect">
            <a:avLst/>
          </a:prstGeom>
          <a:solidFill>
            <a:srgbClr val="1F9D57"/>
          </a:solidFill>
          <a:ln/>
        </p:spPr>
      </p:sp>
      <p:sp>
        <p:nvSpPr>
          <p:cNvPr id="66" name="Text 64"/>
          <p:cNvSpPr/>
          <p:nvPr/>
        </p:nvSpPr>
        <p:spPr>
          <a:xfrm>
            <a:off x="859536" y="5084064"/>
            <a:ext cx="1005840" cy="914400"/>
          </a:xfrm>
          <a:prstGeom prst="rect">
            <a:avLst/>
          </a:prstGeom>
          <a:noFill/>
          <a:ln/>
        </p:spPr>
        <p:txBody>
          <a:bodyPr wrap="square" rtlCol="0" anchor="ctr"/>
          <a:lstStyle/>
          <a:p>
            <a:pPr indent="0" marL="0">
              <a:buNone/>
            </a:pPr>
            <a:r>
              <a:rPr lang="en-US" sz="800" b="1" spc="140" kern="0" dirty="0">
                <a:solidFill>
                  <a:srgbClr val="1F9D57"/>
                </a:solidFill>
                <a:latin typeface="Consolas" pitchFamily="34" charset="0"/>
                <a:ea typeface="Consolas" pitchFamily="34" charset="-122"/>
                <a:cs typeface="Consolas" pitchFamily="34" charset="-120"/>
              </a:rPr>
              <a:t>ENDS WITH</a:t>
            </a:r>
            <a:endParaRPr lang="en-US" sz="800" dirty="0"/>
          </a:p>
        </p:txBody>
      </p:sp>
      <p:sp>
        <p:nvSpPr>
          <p:cNvPr id="67" name="Shape 65"/>
          <p:cNvSpPr/>
          <p:nvPr/>
        </p:nvSpPr>
        <p:spPr>
          <a:xfrm>
            <a:off x="1984248" y="5230368"/>
            <a:ext cx="2031797" cy="310896"/>
          </a:xfrm>
          <a:prstGeom prst="roundRect">
            <a:avLst>
              <a:gd name="adj" fmla="val 11765"/>
            </a:avLst>
          </a:prstGeom>
          <a:solidFill>
            <a:srgbClr val="F7F9FB"/>
          </a:solidFill>
          <a:ln w="6350">
            <a:solidFill>
              <a:srgbClr val="DBE3EC"/>
            </a:solidFill>
            <a:prstDash val="solid"/>
          </a:ln>
        </p:spPr>
      </p:sp>
      <p:sp>
        <p:nvSpPr>
          <p:cNvPr id="68" name="Text 66"/>
          <p:cNvSpPr/>
          <p:nvPr/>
        </p:nvSpPr>
        <p:spPr>
          <a:xfrm>
            <a:off x="2057400" y="5230368"/>
            <a:ext cx="1885493" cy="310896"/>
          </a:xfrm>
          <a:prstGeom prst="rect">
            <a:avLst/>
          </a:prstGeom>
          <a:noFill/>
          <a:ln/>
        </p:spPr>
        <p:txBody>
          <a:bodyPr wrap="square" rtlCol="0" anchor="ctr"/>
          <a:lstStyle/>
          <a:p>
            <a:pPr algn="ctr" indent="0" marL="0">
              <a:buNone/>
            </a:pPr>
            <a:r>
              <a:rPr lang="en-US" sz="900" b="1" dirty="0">
                <a:solidFill>
                  <a:srgbClr val="1F9D57"/>
                </a:solidFill>
                <a:latin typeface="Segoe UI" pitchFamily="34" charset="0"/>
                <a:ea typeface="Segoe UI" pitchFamily="34" charset="-122"/>
                <a:cs typeface="Segoe UI" pitchFamily="34" charset="-120"/>
              </a:rPr>
              <a:t>Verdict</a:t>
            </a:r>
            <a:pPr algn="ctr" indent="0" marL="0">
              <a:buNone/>
            </a:pPr>
            <a:r>
              <a:rPr lang="en-US" sz="900" dirty="0">
                <a:solidFill>
                  <a:srgbClr val="16202E"/>
                </a:solidFill>
                <a:latin typeface="Segoe UI" pitchFamily="34" charset="0"/>
                <a:ea typeface="Segoe UI" pitchFamily="34" charset="-122"/>
                <a:cs typeface="Segoe UI" pitchFamily="34" charset="-120"/>
              </a:rPr>
              <a:t> — pass / fail / blocked</a:t>
            </a:r>
            <a:endParaRPr lang="en-US" sz="900" dirty="0"/>
          </a:p>
        </p:txBody>
      </p:sp>
      <p:sp>
        <p:nvSpPr>
          <p:cNvPr id="69" name="Shape 67"/>
          <p:cNvSpPr/>
          <p:nvPr/>
        </p:nvSpPr>
        <p:spPr>
          <a:xfrm>
            <a:off x="4107485" y="5230368"/>
            <a:ext cx="1691640" cy="310896"/>
          </a:xfrm>
          <a:prstGeom prst="roundRect">
            <a:avLst>
              <a:gd name="adj" fmla="val 11765"/>
            </a:avLst>
          </a:prstGeom>
          <a:solidFill>
            <a:srgbClr val="F7F9FB"/>
          </a:solidFill>
          <a:ln w="6350">
            <a:solidFill>
              <a:srgbClr val="DBE3EC"/>
            </a:solidFill>
            <a:prstDash val="solid"/>
          </a:ln>
        </p:spPr>
      </p:sp>
      <p:sp>
        <p:nvSpPr>
          <p:cNvPr id="70" name="Text 68"/>
          <p:cNvSpPr/>
          <p:nvPr/>
        </p:nvSpPr>
        <p:spPr>
          <a:xfrm>
            <a:off x="4180637" y="5230368"/>
            <a:ext cx="1545336" cy="310896"/>
          </a:xfrm>
          <a:prstGeom prst="rect">
            <a:avLst/>
          </a:prstGeom>
          <a:noFill/>
          <a:ln/>
        </p:spPr>
        <p:txBody>
          <a:bodyPr wrap="square" rtlCol="0" anchor="ctr"/>
          <a:lstStyle/>
          <a:p>
            <a:pPr algn="ctr" indent="0" marL="0">
              <a:buNone/>
            </a:pPr>
            <a:r>
              <a:rPr lang="en-US" sz="900" b="1" dirty="0">
                <a:solidFill>
                  <a:srgbClr val="1F9D57"/>
                </a:solidFill>
                <a:latin typeface="Segoe UI" pitchFamily="34" charset="0"/>
                <a:ea typeface="Segoe UI" pitchFamily="34" charset="-122"/>
                <a:cs typeface="Segoe UI" pitchFamily="34" charset="-120"/>
              </a:rPr>
              <a:t>GO / NO-GO</a:t>
            </a:r>
            <a:pPr algn="ctr" indent="0" marL="0">
              <a:buNone/>
            </a:pPr>
            <a:r>
              <a:rPr lang="en-US" sz="900" dirty="0">
                <a:solidFill>
                  <a:srgbClr val="16202E"/>
                </a:solidFill>
                <a:latin typeface="Segoe UI" pitchFamily="34" charset="0"/>
                <a:ea typeface="Segoe UI" pitchFamily="34" charset="-122"/>
                <a:cs typeface="Segoe UI" pitchFamily="34" charset="-120"/>
              </a:rPr>
              <a:t> recommendation</a:t>
            </a:r>
            <a:endParaRPr lang="en-US" sz="900" dirty="0"/>
          </a:p>
        </p:txBody>
      </p:sp>
      <p:sp>
        <p:nvSpPr>
          <p:cNvPr id="71" name="Shape 69"/>
          <p:cNvSpPr/>
          <p:nvPr/>
        </p:nvSpPr>
        <p:spPr>
          <a:xfrm>
            <a:off x="5890565" y="5230368"/>
            <a:ext cx="1578254" cy="310896"/>
          </a:xfrm>
          <a:prstGeom prst="roundRect">
            <a:avLst>
              <a:gd name="adj" fmla="val 11765"/>
            </a:avLst>
          </a:prstGeom>
          <a:solidFill>
            <a:srgbClr val="F7F9FB"/>
          </a:solidFill>
          <a:ln w="6350">
            <a:solidFill>
              <a:srgbClr val="DBE3EC"/>
            </a:solidFill>
            <a:prstDash val="solid"/>
          </a:ln>
        </p:spPr>
      </p:sp>
      <p:sp>
        <p:nvSpPr>
          <p:cNvPr id="72" name="Text 70"/>
          <p:cNvSpPr/>
          <p:nvPr/>
        </p:nvSpPr>
        <p:spPr>
          <a:xfrm>
            <a:off x="5963717" y="5230368"/>
            <a:ext cx="1431950" cy="310896"/>
          </a:xfrm>
          <a:prstGeom prst="rect">
            <a:avLst/>
          </a:prstGeom>
          <a:noFill/>
          <a:ln/>
        </p:spPr>
        <p:txBody>
          <a:bodyPr wrap="square" rtlCol="0" anchor="ctr"/>
          <a:lstStyle/>
          <a:p>
            <a:pPr algn="ctr" indent="0" marL="0">
              <a:buNone/>
            </a:pPr>
            <a:r>
              <a:rPr lang="en-US" sz="900" b="1" dirty="0">
                <a:solidFill>
                  <a:srgbClr val="1F9D57"/>
                </a:solidFill>
                <a:latin typeface="Segoe UI" pitchFamily="34" charset="0"/>
                <a:ea typeface="Segoe UI" pitchFamily="34" charset="-122"/>
                <a:cs typeface="Segoe UI" pitchFamily="34" charset="-120"/>
              </a:rPr>
              <a:t>Bugs filed</a:t>
            </a:r>
            <a:pPr algn="ctr" indent="0" marL="0">
              <a:buNone/>
            </a:pPr>
            <a:r>
              <a:rPr lang="en-US" sz="900" dirty="0">
                <a:solidFill>
                  <a:srgbClr val="16202E"/>
                </a:solidFill>
                <a:latin typeface="Segoe UI" pitchFamily="34" charset="0"/>
                <a:ea typeface="Segoe UI" pitchFamily="34" charset="-122"/>
                <a:cs typeface="Segoe UI" pitchFamily="34" charset="-120"/>
              </a:rPr>
              <a:t> as sub-tasks</a:t>
            </a:r>
            <a:endParaRPr lang="en-US" sz="900" dirty="0"/>
          </a:p>
        </p:txBody>
      </p:sp>
      <p:sp>
        <p:nvSpPr>
          <p:cNvPr id="73" name="Shape 71"/>
          <p:cNvSpPr/>
          <p:nvPr/>
        </p:nvSpPr>
        <p:spPr>
          <a:xfrm>
            <a:off x="7560259" y="5230368"/>
            <a:ext cx="1861718" cy="310896"/>
          </a:xfrm>
          <a:prstGeom prst="roundRect">
            <a:avLst>
              <a:gd name="adj" fmla="val 11765"/>
            </a:avLst>
          </a:prstGeom>
          <a:solidFill>
            <a:srgbClr val="F7F9FB"/>
          </a:solidFill>
          <a:ln w="6350">
            <a:solidFill>
              <a:srgbClr val="DBE3EC"/>
            </a:solidFill>
            <a:prstDash val="solid"/>
          </a:ln>
        </p:spPr>
      </p:sp>
      <p:sp>
        <p:nvSpPr>
          <p:cNvPr id="74" name="Text 72"/>
          <p:cNvSpPr/>
          <p:nvPr/>
        </p:nvSpPr>
        <p:spPr>
          <a:xfrm>
            <a:off x="7633411" y="5230368"/>
            <a:ext cx="1715414" cy="310896"/>
          </a:xfrm>
          <a:prstGeom prst="rect">
            <a:avLst/>
          </a:prstGeom>
          <a:noFill/>
          <a:ln/>
        </p:spPr>
        <p:txBody>
          <a:bodyPr wrap="square" rtlCol="0" anchor="ctr"/>
          <a:lstStyle/>
          <a:p>
            <a:pPr algn="ctr" indent="0" marL="0">
              <a:buNone/>
            </a:pPr>
            <a:r>
              <a:rPr lang="en-US" sz="900" b="1" dirty="0">
                <a:solidFill>
                  <a:srgbClr val="1F9D57"/>
                </a:solidFill>
                <a:latin typeface="Segoe UI" pitchFamily="34" charset="0"/>
                <a:ea typeface="Segoe UI" pitchFamily="34" charset="-122"/>
                <a:cs typeface="Segoe UI" pitchFamily="34" charset="-120"/>
              </a:rPr>
              <a:t>Cases promoted</a:t>
            </a:r>
            <a:pPr algn="ctr" indent="0" marL="0">
              <a:buNone/>
            </a:pPr>
            <a:r>
              <a:rPr lang="en-US" sz="900" dirty="0">
                <a:solidFill>
                  <a:srgbClr val="16202E"/>
                </a:solidFill>
                <a:latin typeface="Segoe UI" pitchFamily="34" charset="0"/>
                <a:ea typeface="Segoe UI" pitchFamily="34" charset="-122"/>
                <a:cs typeface="Segoe UI" pitchFamily="34" charset="-120"/>
              </a:rPr>
              <a:t> in the suites</a:t>
            </a:r>
            <a:endParaRPr lang="en-US" sz="900" dirty="0"/>
          </a:p>
        </p:txBody>
      </p:sp>
      <p:sp>
        <p:nvSpPr>
          <p:cNvPr id="75" name="Shape 73"/>
          <p:cNvSpPr/>
          <p:nvPr/>
        </p:nvSpPr>
        <p:spPr>
          <a:xfrm>
            <a:off x="9513418" y="5230368"/>
            <a:ext cx="1351483" cy="310896"/>
          </a:xfrm>
          <a:prstGeom prst="roundRect">
            <a:avLst>
              <a:gd name="adj" fmla="val 11765"/>
            </a:avLst>
          </a:prstGeom>
          <a:solidFill>
            <a:srgbClr val="F7F9FB"/>
          </a:solidFill>
          <a:ln w="6350">
            <a:solidFill>
              <a:srgbClr val="DBE3EC"/>
            </a:solidFill>
            <a:prstDash val="solid"/>
          </a:ln>
        </p:spPr>
      </p:sp>
      <p:sp>
        <p:nvSpPr>
          <p:cNvPr id="76" name="Text 74"/>
          <p:cNvSpPr/>
          <p:nvPr/>
        </p:nvSpPr>
        <p:spPr>
          <a:xfrm>
            <a:off x="9586570" y="5230368"/>
            <a:ext cx="1205179" cy="310896"/>
          </a:xfrm>
          <a:prstGeom prst="rect">
            <a:avLst/>
          </a:prstGeom>
          <a:noFill/>
          <a:ln/>
        </p:spPr>
        <p:txBody>
          <a:bodyPr wrap="square" rtlCol="0" anchor="ctr"/>
          <a:lstStyle/>
          <a:p>
            <a:pPr algn="ctr" indent="0" marL="0">
              <a:buNone/>
            </a:pPr>
            <a:r>
              <a:rPr lang="en-US" sz="900" b="1" dirty="0">
                <a:solidFill>
                  <a:srgbClr val="1F9D57"/>
                </a:solidFill>
                <a:latin typeface="Segoe UI" pitchFamily="34" charset="0"/>
                <a:ea typeface="Segoe UI" pitchFamily="34" charset="-122"/>
                <a:cs typeface="Segoe UI" pitchFamily="34" charset="-120"/>
              </a:rPr>
              <a:t>Ticket status</a:t>
            </a:r>
            <a:pPr algn="ctr" indent="0" marL="0">
              <a:buNone/>
            </a:pPr>
            <a:r>
              <a:rPr lang="en-US" sz="900" dirty="0">
                <a:solidFill>
                  <a:srgbClr val="16202E"/>
                </a:solidFill>
                <a:latin typeface="Segoe UI" pitchFamily="34" charset="0"/>
                <a:ea typeface="Segoe UI" pitchFamily="34" charset="-122"/>
                <a:cs typeface="Segoe UI" pitchFamily="34" charset="-120"/>
              </a:rPr>
              <a:t> moved</a:t>
            </a:r>
            <a:endParaRPr lang="en-US" sz="900" dirty="0"/>
          </a:p>
        </p:txBody>
      </p:sp>
      <p:sp>
        <p:nvSpPr>
          <p:cNvPr id="77" name="Shape 75"/>
          <p:cNvSpPr/>
          <p:nvPr/>
        </p:nvSpPr>
        <p:spPr>
          <a:xfrm>
            <a:off x="1984248" y="5614416"/>
            <a:ext cx="1578254" cy="310896"/>
          </a:xfrm>
          <a:prstGeom prst="roundRect">
            <a:avLst>
              <a:gd name="adj" fmla="val 11765"/>
            </a:avLst>
          </a:prstGeom>
          <a:solidFill>
            <a:srgbClr val="FDF7EA"/>
          </a:solidFill>
          <a:ln w="6350">
            <a:solidFill>
              <a:srgbClr val="C98A1A"/>
            </a:solidFill>
            <a:prstDash val="solid"/>
          </a:ln>
        </p:spPr>
      </p:sp>
      <p:sp>
        <p:nvSpPr>
          <p:cNvPr id="78" name="Text 76"/>
          <p:cNvSpPr/>
          <p:nvPr/>
        </p:nvSpPr>
        <p:spPr>
          <a:xfrm>
            <a:off x="2057400" y="5614416"/>
            <a:ext cx="1431950" cy="310896"/>
          </a:xfrm>
          <a:prstGeom prst="rect">
            <a:avLst/>
          </a:prstGeom>
          <a:noFill/>
          <a:ln/>
        </p:spPr>
        <p:txBody>
          <a:bodyPr wrap="square" rtlCol="0" anchor="ctr"/>
          <a:lstStyle/>
          <a:p>
            <a:pPr algn="ctr" indent="0" marL="0">
              <a:buNone/>
            </a:pPr>
            <a:r>
              <a:rPr lang="en-US" sz="900" b="1" dirty="0">
                <a:solidFill>
                  <a:srgbClr val="C98A1A"/>
                </a:solidFill>
                <a:latin typeface="Segoe UI" pitchFamily="34" charset="0"/>
                <a:ea typeface="Segoe UI" pitchFamily="34" charset="-122"/>
                <a:cs typeface="Segoe UI" pitchFamily="34" charset="-120"/>
              </a:rPr>
              <a:t>Human</a:t>
            </a:r>
            <a:pPr algn="ctr" indent="0" marL="0">
              <a:buNone/>
            </a:pPr>
            <a:r>
              <a:rPr lang="en-US" sz="900" dirty="0">
                <a:solidFill>
                  <a:srgbClr val="16202E"/>
                </a:solidFill>
                <a:latin typeface="Segoe UI" pitchFamily="34" charset="0"/>
                <a:ea typeface="Segoe UI" pitchFamily="34" charset="-122"/>
                <a:cs typeface="Segoe UI" pitchFamily="34" charset="-120"/>
              </a:rPr>
              <a:t> merges &amp; releases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376117" cy="50292"/>
          </a:xfrm>
          <a:prstGeom prst="rect">
            <a:avLst/>
          </a:prstGeom>
          <a:solidFill>
            <a:srgbClr val="5566E0"/>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10 / 13</a:t>
            </a:r>
            <a:endParaRPr lang="en-US" sz="900" dirty="0"/>
          </a:p>
        </p:txBody>
      </p:sp>
      <p:sp>
        <p:nvSpPr>
          <p:cNvPr id="4" name="Shape 2"/>
          <p:cNvSpPr/>
          <p:nvPr/>
        </p:nvSpPr>
        <p:spPr>
          <a:xfrm>
            <a:off x="658368" y="566928"/>
            <a:ext cx="237744" cy="25603"/>
          </a:xfrm>
          <a:prstGeom prst="rect">
            <a:avLst/>
          </a:prstGeom>
          <a:solidFill>
            <a:srgbClr val="5566E0"/>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5566E0"/>
                </a:solidFill>
                <a:latin typeface="Consolas" pitchFamily="34" charset="0"/>
                <a:ea typeface="Consolas" pitchFamily="34" charset="-122"/>
                <a:cs typeface="Consolas" pitchFamily="34" charset="-120"/>
              </a:rPr>
              <a:t>AGENTIC PROJECT · WHAT IT'S WORTH</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What actually changed for whoever runs it.</a:t>
            </a:r>
            <a:endParaRPr lang="en-US" sz="2800" dirty="0"/>
          </a:p>
        </p:txBody>
      </p:sp>
      <p:sp>
        <p:nvSpPr>
          <p:cNvPr id="7" name="Text 5"/>
          <p:cNvSpPr/>
          <p:nvPr/>
        </p:nvSpPr>
        <p:spPr>
          <a:xfrm>
            <a:off x="658368" y="1645920"/>
            <a:ext cx="950976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Five things that used to cost a person time, a hand-off, or a judgement call they shouldn't have had to make.</a:t>
            </a:r>
            <a:endParaRPr lang="en-US" sz="1300" dirty="0"/>
          </a:p>
        </p:txBody>
      </p:sp>
      <p:sp>
        <p:nvSpPr>
          <p:cNvPr id="8" name="Shape 6"/>
          <p:cNvSpPr/>
          <p:nvPr/>
        </p:nvSpPr>
        <p:spPr>
          <a:xfrm>
            <a:off x="658368" y="2304288"/>
            <a:ext cx="10872216" cy="0"/>
          </a:xfrm>
          <a:prstGeom prst="line">
            <a:avLst/>
          </a:prstGeom>
          <a:noFill/>
          <a:ln w="9525">
            <a:solidFill>
              <a:srgbClr val="DBE3EC"/>
            </a:solidFill>
            <a:prstDash val="solid"/>
          </a:ln>
        </p:spPr>
      </p:sp>
      <p:sp>
        <p:nvSpPr>
          <p:cNvPr id="9" name="Text 7"/>
          <p:cNvSpPr/>
          <p:nvPr/>
        </p:nvSpPr>
        <p:spPr>
          <a:xfrm>
            <a:off x="658368" y="2395728"/>
            <a:ext cx="1097280" cy="164592"/>
          </a:xfrm>
          <a:prstGeom prst="rect">
            <a:avLst/>
          </a:prstGeom>
          <a:noFill/>
          <a:ln/>
        </p:spPr>
        <p:txBody>
          <a:bodyPr wrap="square" rtlCol="0" anchor="ctr"/>
          <a:lstStyle/>
          <a:p>
            <a:pPr indent="0" marL="0">
              <a:buNone/>
            </a:pPr>
            <a:r>
              <a:rPr lang="en-US" sz="750" b="1" spc="140" kern="0" dirty="0">
                <a:solidFill>
                  <a:srgbClr val="7C8AA0"/>
                </a:solidFill>
                <a:latin typeface="Consolas" pitchFamily="34" charset="0"/>
                <a:ea typeface="Consolas" pitchFamily="34" charset="-122"/>
                <a:cs typeface="Consolas" pitchFamily="34" charset="-120"/>
              </a:rPr>
              <a:t>BEFORE</a:t>
            </a:r>
            <a:endParaRPr lang="en-US" sz="750" dirty="0"/>
          </a:p>
        </p:txBody>
      </p:sp>
      <p:sp>
        <p:nvSpPr>
          <p:cNvPr id="10" name="Text 8"/>
          <p:cNvSpPr/>
          <p:nvPr/>
        </p:nvSpPr>
        <p:spPr>
          <a:xfrm>
            <a:off x="658368" y="2578608"/>
            <a:ext cx="4572000" cy="530352"/>
          </a:xfrm>
          <a:prstGeom prst="rect">
            <a:avLst/>
          </a:prstGeom>
          <a:noFill/>
          <a:ln/>
        </p:spPr>
        <p:txBody>
          <a:bodyPr wrap="square" rtlCol="0" anchor="t"/>
          <a:lstStyle/>
          <a:p>
            <a:pPr indent="0" marL="0">
              <a:lnSpc>
                <a:spcPct val="116000"/>
              </a:lnSpc>
              <a:buNone/>
            </a:pPr>
            <a:r>
              <a:rPr lang="en-US" sz="950" dirty="0">
                <a:solidFill>
                  <a:srgbClr val="7C8AA0"/>
                </a:solidFill>
                <a:latin typeface="Segoe UI" pitchFamily="34" charset="0"/>
                <a:ea typeface="Segoe UI" pitchFamily="34" charset="-122"/>
                <a:cs typeface="Segoe UI" pitchFamily="34" charset="-120"/>
              </a:rPr>
              <a:t>Every ticket got the same heavyweight treatment — a copy tweak cost what a checkout feature cost.</a:t>
            </a:r>
            <a:endParaRPr lang="en-US" sz="950" dirty="0"/>
          </a:p>
        </p:txBody>
      </p:sp>
      <p:sp>
        <p:nvSpPr>
          <p:cNvPr id="11" name="Text 9"/>
          <p:cNvSpPr/>
          <p:nvPr/>
        </p:nvSpPr>
        <p:spPr>
          <a:xfrm>
            <a:off x="5550408" y="2395728"/>
            <a:ext cx="1097280" cy="164592"/>
          </a:xfrm>
          <a:prstGeom prst="rect">
            <a:avLst/>
          </a:prstGeom>
          <a:noFill/>
          <a:ln/>
        </p:spPr>
        <p:txBody>
          <a:bodyPr wrap="square" rtlCol="0" anchor="ctr"/>
          <a:lstStyle/>
          <a:p>
            <a:pPr indent="0" marL="0">
              <a:buNone/>
            </a:pPr>
            <a:r>
              <a:rPr lang="en-US" sz="750" b="1" spc="140" kern="0" dirty="0">
                <a:solidFill>
                  <a:srgbClr val="5566E0"/>
                </a:solidFill>
                <a:latin typeface="Consolas" pitchFamily="34" charset="0"/>
                <a:ea typeface="Consolas" pitchFamily="34" charset="-122"/>
                <a:cs typeface="Consolas" pitchFamily="34" charset="-120"/>
              </a:rPr>
              <a:t>NOW</a:t>
            </a:r>
            <a:endParaRPr lang="en-US" sz="750" dirty="0"/>
          </a:p>
        </p:txBody>
      </p:sp>
      <p:sp>
        <p:nvSpPr>
          <p:cNvPr id="12" name="Text 10"/>
          <p:cNvSpPr/>
          <p:nvPr/>
        </p:nvSpPr>
        <p:spPr>
          <a:xfrm>
            <a:off x="5550408" y="2578608"/>
            <a:ext cx="5980176" cy="530352"/>
          </a:xfrm>
          <a:prstGeom prst="rect">
            <a:avLst/>
          </a:prstGeom>
          <a:noFill/>
          <a:ln/>
        </p:spPr>
        <p:txBody>
          <a:bodyPr wrap="square" rtlCol="0" anchor="t"/>
          <a:lstStyle/>
          <a:p>
            <a:pPr indent="0" marL="0">
              <a:lnSpc>
                <a:spcPct val="116000"/>
              </a:lnSpc>
              <a:buNone/>
            </a:pPr>
            <a:r>
              <a:rPr lang="en-US" sz="1000" b="1" dirty="0">
                <a:solidFill>
                  <a:srgbClr val="16202E"/>
                </a:solidFill>
                <a:latin typeface="Segoe UI" pitchFamily="34" charset="0"/>
                <a:ea typeface="Segoe UI" pitchFamily="34" charset="-122"/>
                <a:cs typeface="Segoe UI" pitchFamily="34" charset="-120"/>
              </a:rPr>
              <a:t>Effort tracks risk.</a:t>
            </a:r>
            <a:pPr indent="0" marL="0">
              <a:lnSpc>
                <a:spcPct val="116000"/>
              </a:lnSpc>
              <a:buNone/>
            </a:pPr>
            <a:r>
              <a:rPr lang="en-US" sz="1000" dirty="0">
                <a:solidFill>
                  <a:srgbClr val="16202E"/>
                </a:solidFill>
                <a:latin typeface="Segoe UI" pitchFamily="34" charset="0"/>
                <a:ea typeface="Segoe UI" pitchFamily="34" charset="-122"/>
                <a:cs typeface="Segoe UI" pitchFamily="34" charset="-120"/>
              </a:rPr>
              <a:t> FAST skips the BA-context and story-review agents, authors minimally, runs one execution agent, self-checks inline.</a:t>
            </a:r>
            <a:endParaRPr lang="en-US" sz="1000" dirty="0"/>
          </a:p>
        </p:txBody>
      </p:sp>
      <p:sp>
        <p:nvSpPr>
          <p:cNvPr id="13" name="Shape 11"/>
          <p:cNvSpPr/>
          <p:nvPr/>
        </p:nvSpPr>
        <p:spPr>
          <a:xfrm>
            <a:off x="658368" y="3054096"/>
            <a:ext cx="10872216" cy="0"/>
          </a:xfrm>
          <a:prstGeom prst="line">
            <a:avLst/>
          </a:prstGeom>
          <a:noFill/>
          <a:ln w="9525">
            <a:solidFill>
              <a:srgbClr val="DBE3EC"/>
            </a:solidFill>
            <a:prstDash val="solid"/>
          </a:ln>
        </p:spPr>
      </p:sp>
      <p:sp>
        <p:nvSpPr>
          <p:cNvPr id="14" name="Text 12"/>
          <p:cNvSpPr/>
          <p:nvPr/>
        </p:nvSpPr>
        <p:spPr>
          <a:xfrm>
            <a:off x="658368" y="3145536"/>
            <a:ext cx="1097280" cy="164592"/>
          </a:xfrm>
          <a:prstGeom prst="rect">
            <a:avLst/>
          </a:prstGeom>
          <a:noFill/>
          <a:ln/>
        </p:spPr>
        <p:txBody>
          <a:bodyPr wrap="square" rtlCol="0" anchor="ctr"/>
          <a:lstStyle/>
          <a:p>
            <a:pPr indent="0" marL="0">
              <a:buNone/>
            </a:pPr>
            <a:r>
              <a:rPr lang="en-US" sz="750" b="1" spc="140" kern="0" dirty="0">
                <a:solidFill>
                  <a:srgbClr val="7C8AA0"/>
                </a:solidFill>
                <a:latin typeface="Consolas" pitchFamily="34" charset="0"/>
                <a:ea typeface="Consolas" pitchFamily="34" charset="-122"/>
                <a:cs typeface="Consolas" pitchFamily="34" charset="-120"/>
              </a:rPr>
              <a:t>BEFORE</a:t>
            </a:r>
            <a:endParaRPr lang="en-US" sz="750" dirty="0"/>
          </a:p>
        </p:txBody>
      </p:sp>
      <p:sp>
        <p:nvSpPr>
          <p:cNvPr id="15" name="Text 13"/>
          <p:cNvSpPr/>
          <p:nvPr/>
        </p:nvSpPr>
        <p:spPr>
          <a:xfrm>
            <a:off x="658368" y="3328416"/>
            <a:ext cx="4572000" cy="530352"/>
          </a:xfrm>
          <a:prstGeom prst="rect">
            <a:avLst/>
          </a:prstGeom>
          <a:noFill/>
          <a:ln/>
        </p:spPr>
        <p:txBody>
          <a:bodyPr wrap="square" rtlCol="0" anchor="t"/>
          <a:lstStyle/>
          <a:p>
            <a:pPr indent="0" marL="0">
              <a:lnSpc>
                <a:spcPct val="116000"/>
              </a:lnSpc>
              <a:buNone/>
            </a:pPr>
            <a:r>
              <a:rPr lang="en-US" sz="950" dirty="0">
                <a:solidFill>
                  <a:srgbClr val="7C8AA0"/>
                </a:solidFill>
                <a:latin typeface="Segoe UI" pitchFamily="34" charset="0"/>
                <a:ea typeface="Segoe UI" pitchFamily="34" charset="-122"/>
                <a:cs typeface="Segoe UI" pitchFamily="34" charset="-120"/>
              </a:rPr>
              <a:t>A fix-ready Bug was re-tested as though it were a new feature, authoring cases nobody needed.</a:t>
            </a:r>
            <a:endParaRPr lang="en-US" sz="950" dirty="0"/>
          </a:p>
        </p:txBody>
      </p:sp>
      <p:sp>
        <p:nvSpPr>
          <p:cNvPr id="16" name="Text 14"/>
          <p:cNvSpPr/>
          <p:nvPr/>
        </p:nvSpPr>
        <p:spPr>
          <a:xfrm>
            <a:off x="5550408" y="3145536"/>
            <a:ext cx="1097280" cy="164592"/>
          </a:xfrm>
          <a:prstGeom prst="rect">
            <a:avLst/>
          </a:prstGeom>
          <a:noFill/>
          <a:ln/>
        </p:spPr>
        <p:txBody>
          <a:bodyPr wrap="square" rtlCol="0" anchor="ctr"/>
          <a:lstStyle/>
          <a:p>
            <a:pPr indent="0" marL="0">
              <a:buNone/>
            </a:pPr>
            <a:r>
              <a:rPr lang="en-US" sz="750" b="1" spc="140" kern="0" dirty="0">
                <a:solidFill>
                  <a:srgbClr val="5566E0"/>
                </a:solidFill>
                <a:latin typeface="Consolas" pitchFamily="34" charset="0"/>
                <a:ea typeface="Consolas" pitchFamily="34" charset="-122"/>
                <a:cs typeface="Consolas" pitchFamily="34" charset="-120"/>
              </a:rPr>
              <a:t>NOW</a:t>
            </a:r>
            <a:endParaRPr lang="en-US" sz="750" dirty="0"/>
          </a:p>
        </p:txBody>
      </p:sp>
      <p:sp>
        <p:nvSpPr>
          <p:cNvPr id="17" name="Text 15"/>
          <p:cNvSpPr/>
          <p:nvPr/>
        </p:nvSpPr>
        <p:spPr>
          <a:xfrm>
            <a:off x="5550408" y="3328416"/>
            <a:ext cx="5980176" cy="530352"/>
          </a:xfrm>
          <a:prstGeom prst="rect">
            <a:avLst/>
          </a:prstGeom>
          <a:noFill/>
          <a:ln/>
        </p:spPr>
        <p:txBody>
          <a:bodyPr wrap="square" rtlCol="0" anchor="t"/>
          <a:lstStyle/>
          <a:p>
            <a:pPr indent="0" marL="0">
              <a:lnSpc>
                <a:spcPct val="116000"/>
              </a:lnSpc>
              <a:buNone/>
            </a:pPr>
            <a:r>
              <a:rPr lang="en-US" sz="1000" b="1" dirty="0">
                <a:solidFill>
                  <a:srgbClr val="16202E"/>
                </a:solidFill>
                <a:latin typeface="Segoe UI" pitchFamily="34" charset="0"/>
                <a:ea typeface="Segoe UI" pitchFamily="34" charset="-122"/>
                <a:cs typeface="Segoe UI" pitchFamily="34" charset="-120"/>
              </a:rPr>
              <a:t>A bug fix is a verification.</a:t>
            </a:r>
            <a:pPr indent="0" marL="0">
              <a:lnSpc>
                <a:spcPct val="116000"/>
              </a:lnSpc>
              <a:buNone/>
            </a:pPr>
            <a:r>
              <a:rPr lang="en-US" sz="1000" dirty="0">
                <a:solidFill>
                  <a:srgbClr val="16202E"/>
                </a:solidFill>
                <a:latin typeface="Segoe UI" pitchFamily="34" charset="0"/>
                <a:ea typeface="Segoe UI" pitchFamily="34" charset="-122"/>
                <a:cs typeface="Segoe UI" pitchFamily="34" charset="-120"/>
              </a:rPr>
              <a:t> Routed straight to RED→GREEN inline — the right job, at a fraction of the work.</a:t>
            </a:r>
            <a:endParaRPr lang="en-US" sz="1000" dirty="0"/>
          </a:p>
        </p:txBody>
      </p:sp>
      <p:sp>
        <p:nvSpPr>
          <p:cNvPr id="18" name="Shape 16"/>
          <p:cNvSpPr/>
          <p:nvPr/>
        </p:nvSpPr>
        <p:spPr>
          <a:xfrm>
            <a:off x="658368" y="3803904"/>
            <a:ext cx="10872216" cy="0"/>
          </a:xfrm>
          <a:prstGeom prst="line">
            <a:avLst/>
          </a:prstGeom>
          <a:noFill/>
          <a:ln w="9525">
            <a:solidFill>
              <a:srgbClr val="DBE3EC"/>
            </a:solidFill>
            <a:prstDash val="solid"/>
          </a:ln>
        </p:spPr>
      </p:sp>
      <p:sp>
        <p:nvSpPr>
          <p:cNvPr id="19" name="Text 17"/>
          <p:cNvSpPr/>
          <p:nvPr/>
        </p:nvSpPr>
        <p:spPr>
          <a:xfrm>
            <a:off x="658368" y="3895344"/>
            <a:ext cx="1097280" cy="164592"/>
          </a:xfrm>
          <a:prstGeom prst="rect">
            <a:avLst/>
          </a:prstGeom>
          <a:noFill/>
          <a:ln/>
        </p:spPr>
        <p:txBody>
          <a:bodyPr wrap="square" rtlCol="0" anchor="ctr"/>
          <a:lstStyle/>
          <a:p>
            <a:pPr indent="0" marL="0">
              <a:buNone/>
            </a:pPr>
            <a:r>
              <a:rPr lang="en-US" sz="750" b="1" spc="140" kern="0" dirty="0">
                <a:solidFill>
                  <a:srgbClr val="7C8AA0"/>
                </a:solidFill>
                <a:latin typeface="Consolas" pitchFamily="34" charset="0"/>
                <a:ea typeface="Consolas" pitchFamily="34" charset="-122"/>
                <a:cs typeface="Consolas" pitchFamily="34" charset="-120"/>
              </a:rPr>
              <a:t>BEFORE</a:t>
            </a:r>
            <a:endParaRPr lang="en-US" sz="750" dirty="0"/>
          </a:p>
        </p:txBody>
      </p:sp>
      <p:sp>
        <p:nvSpPr>
          <p:cNvPr id="20" name="Text 18"/>
          <p:cNvSpPr/>
          <p:nvPr/>
        </p:nvSpPr>
        <p:spPr>
          <a:xfrm>
            <a:off x="658368" y="4078224"/>
            <a:ext cx="4572000" cy="530352"/>
          </a:xfrm>
          <a:prstGeom prst="rect">
            <a:avLst/>
          </a:prstGeom>
          <a:noFill/>
          <a:ln/>
        </p:spPr>
        <p:txBody>
          <a:bodyPr wrap="square" rtlCol="0" anchor="t"/>
          <a:lstStyle/>
          <a:p>
            <a:pPr indent="0" marL="0">
              <a:lnSpc>
                <a:spcPct val="116000"/>
              </a:lnSpc>
              <a:buNone/>
            </a:pPr>
            <a:r>
              <a:rPr lang="en-US" sz="950" dirty="0">
                <a:solidFill>
                  <a:srgbClr val="7C8AA0"/>
                </a:solidFill>
                <a:latin typeface="Segoe UI" pitchFamily="34" charset="0"/>
                <a:ea typeface="Segoe UI" pitchFamily="34" charset="-122"/>
                <a:cs typeface="Segoe UI" pitchFamily="34" charset="-120"/>
              </a:rPr>
              <a:t>New cases landed in a run-scoped CSV and waited for a separate promotion pass to reach the real suites.</a:t>
            </a:r>
            <a:endParaRPr lang="en-US" sz="950" dirty="0"/>
          </a:p>
        </p:txBody>
      </p:sp>
      <p:sp>
        <p:nvSpPr>
          <p:cNvPr id="21" name="Text 19"/>
          <p:cNvSpPr/>
          <p:nvPr/>
        </p:nvSpPr>
        <p:spPr>
          <a:xfrm>
            <a:off x="5550408" y="3895344"/>
            <a:ext cx="1097280" cy="164592"/>
          </a:xfrm>
          <a:prstGeom prst="rect">
            <a:avLst/>
          </a:prstGeom>
          <a:noFill/>
          <a:ln/>
        </p:spPr>
        <p:txBody>
          <a:bodyPr wrap="square" rtlCol="0" anchor="ctr"/>
          <a:lstStyle/>
          <a:p>
            <a:pPr indent="0" marL="0">
              <a:buNone/>
            </a:pPr>
            <a:r>
              <a:rPr lang="en-US" sz="750" b="1" spc="140" kern="0" dirty="0">
                <a:solidFill>
                  <a:srgbClr val="5566E0"/>
                </a:solidFill>
                <a:latin typeface="Consolas" pitchFamily="34" charset="0"/>
                <a:ea typeface="Consolas" pitchFamily="34" charset="-122"/>
                <a:cs typeface="Consolas" pitchFamily="34" charset="-120"/>
              </a:rPr>
              <a:t>NOW</a:t>
            </a:r>
            <a:endParaRPr lang="en-US" sz="750" dirty="0"/>
          </a:p>
        </p:txBody>
      </p:sp>
      <p:sp>
        <p:nvSpPr>
          <p:cNvPr id="22" name="Text 20"/>
          <p:cNvSpPr/>
          <p:nvPr/>
        </p:nvSpPr>
        <p:spPr>
          <a:xfrm>
            <a:off x="5550408" y="4078224"/>
            <a:ext cx="5980176" cy="530352"/>
          </a:xfrm>
          <a:prstGeom prst="rect">
            <a:avLst/>
          </a:prstGeom>
          <a:noFill/>
          <a:ln/>
        </p:spPr>
        <p:txBody>
          <a:bodyPr wrap="square" rtlCol="0" anchor="t"/>
          <a:lstStyle/>
          <a:p>
            <a:pPr indent="0" marL="0">
              <a:lnSpc>
                <a:spcPct val="116000"/>
              </a:lnSpc>
              <a:buNone/>
            </a:pPr>
            <a:r>
              <a:rPr lang="en-US" sz="1000" b="1" dirty="0">
                <a:solidFill>
                  <a:srgbClr val="16202E"/>
                </a:solidFill>
                <a:latin typeface="Segoe UI" pitchFamily="34" charset="0"/>
                <a:ea typeface="Segoe UI" pitchFamily="34" charset="-122"/>
                <a:cs typeface="Segoe UI" pitchFamily="34" charset="-120"/>
              </a:rPr>
              <a:t>One pipeline, one promoter.</a:t>
            </a:r>
            <a:pPr indent="0" marL="0">
              <a:lnSpc>
                <a:spcPct val="116000"/>
              </a:lnSpc>
              <a:buNone/>
            </a:pPr>
            <a:r>
              <a:rPr lang="en-US" sz="1000" dirty="0">
                <a:solidFill>
                  <a:srgbClr val="16202E"/>
                </a:solidFill>
                <a:latin typeface="Segoe UI" pitchFamily="34" charset="0"/>
                <a:ea typeface="Segoe UI" pitchFamily="34" charset="-122"/>
                <a:cs typeface="Segoe UI" pitchFamily="34" charset="-120"/>
              </a:rPr>
              <a:t> Cases go straight into the suites as Draft, are executed by the run that wrote them, and promote in-run only if green.</a:t>
            </a:r>
            <a:endParaRPr lang="en-US" sz="1000" dirty="0"/>
          </a:p>
        </p:txBody>
      </p:sp>
      <p:sp>
        <p:nvSpPr>
          <p:cNvPr id="23" name="Shape 21"/>
          <p:cNvSpPr/>
          <p:nvPr/>
        </p:nvSpPr>
        <p:spPr>
          <a:xfrm>
            <a:off x="658368" y="4553712"/>
            <a:ext cx="10872216" cy="0"/>
          </a:xfrm>
          <a:prstGeom prst="line">
            <a:avLst/>
          </a:prstGeom>
          <a:noFill/>
          <a:ln w="9525">
            <a:solidFill>
              <a:srgbClr val="DBE3EC"/>
            </a:solidFill>
            <a:prstDash val="solid"/>
          </a:ln>
        </p:spPr>
      </p:sp>
      <p:sp>
        <p:nvSpPr>
          <p:cNvPr id="24" name="Text 22"/>
          <p:cNvSpPr/>
          <p:nvPr/>
        </p:nvSpPr>
        <p:spPr>
          <a:xfrm>
            <a:off x="658368" y="4645152"/>
            <a:ext cx="1097280" cy="164592"/>
          </a:xfrm>
          <a:prstGeom prst="rect">
            <a:avLst/>
          </a:prstGeom>
          <a:noFill/>
          <a:ln/>
        </p:spPr>
        <p:txBody>
          <a:bodyPr wrap="square" rtlCol="0" anchor="ctr"/>
          <a:lstStyle/>
          <a:p>
            <a:pPr indent="0" marL="0">
              <a:buNone/>
            </a:pPr>
            <a:r>
              <a:rPr lang="en-US" sz="750" b="1" spc="140" kern="0" dirty="0">
                <a:solidFill>
                  <a:srgbClr val="7C8AA0"/>
                </a:solidFill>
                <a:latin typeface="Consolas" pitchFamily="34" charset="0"/>
                <a:ea typeface="Consolas" pitchFamily="34" charset="-122"/>
                <a:cs typeface="Consolas" pitchFamily="34" charset="-120"/>
              </a:rPr>
              <a:t>BEFORE</a:t>
            </a:r>
            <a:endParaRPr lang="en-US" sz="750" dirty="0"/>
          </a:p>
        </p:txBody>
      </p:sp>
      <p:sp>
        <p:nvSpPr>
          <p:cNvPr id="25" name="Text 23"/>
          <p:cNvSpPr/>
          <p:nvPr/>
        </p:nvSpPr>
        <p:spPr>
          <a:xfrm>
            <a:off x="658368" y="4828032"/>
            <a:ext cx="4572000" cy="530352"/>
          </a:xfrm>
          <a:prstGeom prst="rect">
            <a:avLst/>
          </a:prstGeom>
          <a:noFill/>
          <a:ln/>
        </p:spPr>
        <p:txBody>
          <a:bodyPr wrap="square" rtlCol="0" anchor="t"/>
          <a:lstStyle/>
          <a:p>
            <a:pPr indent="0" marL="0">
              <a:lnSpc>
                <a:spcPct val="116000"/>
              </a:lnSpc>
              <a:buNone/>
            </a:pPr>
            <a:r>
              <a:rPr lang="en-US" sz="950" dirty="0">
                <a:solidFill>
                  <a:srgbClr val="7C8AA0"/>
                </a:solidFill>
                <a:latin typeface="Segoe UI" pitchFamily="34" charset="0"/>
                <a:ea typeface="Segoe UI" pitchFamily="34" charset="-122"/>
                <a:cs typeface="Segoe UI" pitchFamily="34" charset="-120"/>
              </a:rPr>
              <a:t>A red run was a list of failures somebody had to interpret from scratch.</a:t>
            </a:r>
            <a:endParaRPr lang="en-US" sz="950" dirty="0"/>
          </a:p>
        </p:txBody>
      </p:sp>
      <p:sp>
        <p:nvSpPr>
          <p:cNvPr id="26" name="Text 24"/>
          <p:cNvSpPr/>
          <p:nvPr/>
        </p:nvSpPr>
        <p:spPr>
          <a:xfrm>
            <a:off x="5550408" y="4645152"/>
            <a:ext cx="1097280" cy="164592"/>
          </a:xfrm>
          <a:prstGeom prst="rect">
            <a:avLst/>
          </a:prstGeom>
          <a:noFill/>
          <a:ln/>
        </p:spPr>
        <p:txBody>
          <a:bodyPr wrap="square" rtlCol="0" anchor="ctr"/>
          <a:lstStyle/>
          <a:p>
            <a:pPr indent="0" marL="0">
              <a:buNone/>
            </a:pPr>
            <a:r>
              <a:rPr lang="en-US" sz="750" b="1" spc="140" kern="0" dirty="0">
                <a:solidFill>
                  <a:srgbClr val="5566E0"/>
                </a:solidFill>
                <a:latin typeface="Consolas" pitchFamily="34" charset="0"/>
                <a:ea typeface="Consolas" pitchFamily="34" charset="-122"/>
                <a:cs typeface="Consolas" pitchFamily="34" charset="-120"/>
              </a:rPr>
              <a:t>NOW</a:t>
            </a:r>
            <a:endParaRPr lang="en-US" sz="750" dirty="0"/>
          </a:p>
        </p:txBody>
      </p:sp>
      <p:sp>
        <p:nvSpPr>
          <p:cNvPr id="27" name="Text 25"/>
          <p:cNvSpPr/>
          <p:nvPr/>
        </p:nvSpPr>
        <p:spPr>
          <a:xfrm>
            <a:off x="5550408" y="4828032"/>
            <a:ext cx="5980176" cy="530352"/>
          </a:xfrm>
          <a:prstGeom prst="rect">
            <a:avLst/>
          </a:prstGeom>
          <a:noFill/>
          <a:ln/>
        </p:spPr>
        <p:txBody>
          <a:bodyPr wrap="square" rtlCol="0" anchor="t"/>
          <a:lstStyle/>
          <a:p>
            <a:pPr indent="0" marL="0">
              <a:lnSpc>
                <a:spcPct val="116000"/>
              </a:lnSpc>
              <a:buNone/>
            </a:pPr>
            <a:r>
              <a:rPr lang="en-US" sz="1000" b="1" dirty="0">
                <a:solidFill>
                  <a:srgbClr val="16202E"/>
                </a:solidFill>
                <a:latin typeface="Segoe UI" pitchFamily="34" charset="0"/>
                <a:ea typeface="Segoe UI" pitchFamily="34" charset="-122"/>
                <a:cs typeface="Segoe UI" pitchFamily="34" charset="-120"/>
              </a:rPr>
              <a:t>A red run is an action list.</a:t>
            </a:r>
            <a:pPr indent="0" marL="0">
              <a:lnSpc>
                <a:spcPct val="116000"/>
              </a:lnSpc>
              <a:buNone/>
            </a:pPr>
            <a:r>
              <a:rPr lang="en-US" sz="1000" dirty="0">
                <a:solidFill>
                  <a:srgbClr val="16202E"/>
                </a:solidFill>
                <a:latin typeface="Segoe UI" pitchFamily="34" charset="0"/>
                <a:ea typeface="Segoe UI" pitchFamily="34" charset="-122"/>
                <a:cs typeface="Segoe UI" pitchFamily="34" charset="-120"/>
              </a:rPr>
              <a:t> Step 5a triages its own FAILs through /qa-triage-results --fix — real bug vs test defect vs flake.</a:t>
            </a:r>
            <a:endParaRPr lang="en-US" sz="1000" dirty="0"/>
          </a:p>
        </p:txBody>
      </p:sp>
      <p:sp>
        <p:nvSpPr>
          <p:cNvPr id="28" name="Shape 26"/>
          <p:cNvSpPr/>
          <p:nvPr/>
        </p:nvSpPr>
        <p:spPr>
          <a:xfrm>
            <a:off x="658368" y="5303520"/>
            <a:ext cx="10872216" cy="0"/>
          </a:xfrm>
          <a:prstGeom prst="line">
            <a:avLst/>
          </a:prstGeom>
          <a:noFill/>
          <a:ln w="9525">
            <a:solidFill>
              <a:srgbClr val="DBE3EC"/>
            </a:solidFill>
            <a:prstDash val="solid"/>
          </a:ln>
        </p:spPr>
      </p:sp>
      <p:sp>
        <p:nvSpPr>
          <p:cNvPr id="29" name="Text 27"/>
          <p:cNvSpPr/>
          <p:nvPr/>
        </p:nvSpPr>
        <p:spPr>
          <a:xfrm>
            <a:off x="658368" y="5394960"/>
            <a:ext cx="1097280" cy="164592"/>
          </a:xfrm>
          <a:prstGeom prst="rect">
            <a:avLst/>
          </a:prstGeom>
          <a:noFill/>
          <a:ln/>
        </p:spPr>
        <p:txBody>
          <a:bodyPr wrap="square" rtlCol="0" anchor="ctr"/>
          <a:lstStyle/>
          <a:p>
            <a:pPr indent="0" marL="0">
              <a:buNone/>
            </a:pPr>
            <a:r>
              <a:rPr lang="en-US" sz="750" b="1" spc="140" kern="0" dirty="0">
                <a:solidFill>
                  <a:srgbClr val="7C8AA0"/>
                </a:solidFill>
                <a:latin typeface="Consolas" pitchFamily="34" charset="0"/>
                <a:ea typeface="Consolas" pitchFamily="34" charset="-122"/>
                <a:cs typeface="Consolas" pitchFamily="34" charset="-120"/>
              </a:rPr>
              <a:t>BEFORE</a:t>
            </a:r>
            <a:endParaRPr lang="en-US" sz="750" dirty="0"/>
          </a:p>
        </p:txBody>
      </p:sp>
      <p:sp>
        <p:nvSpPr>
          <p:cNvPr id="30" name="Text 28"/>
          <p:cNvSpPr/>
          <p:nvPr/>
        </p:nvSpPr>
        <p:spPr>
          <a:xfrm>
            <a:off x="658368" y="5577840"/>
            <a:ext cx="4572000" cy="530352"/>
          </a:xfrm>
          <a:prstGeom prst="rect">
            <a:avLst/>
          </a:prstGeom>
          <a:noFill/>
          <a:ln/>
        </p:spPr>
        <p:txBody>
          <a:bodyPr wrap="square" rtlCol="0" anchor="t"/>
          <a:lstStyle/>
          <a:p>
            <a:pPr indent="0" marL="0">
              <a:lnSpc>
                <a:spcPct val="116000"/>
              </a:lnSpc>
              <a:buNone/>
            </a:pPr>
            <a:r>
              <a:rPr lang="en-US" sz="950" dirty="0">
                <a:solidFill>
                  <a:srgbClr val="7C8AA0"/>
                </a:solidFill>
                <a:latin typeface="Segoe UI" pitchFamily="34" charset="0"/>
                <a:ea typeface="Segoe UI" pitchFamily="34" charset="-122"/>
                <a:cs typeface="Segoe UI" pitchFamily="34" charset="-120"/>
              </a:rPr>
              <a:t>Test → fix → re-test was three manual invocations with a deploy wedged in the middle.</a:t>
            </a:r>
            <a:endParaRPr lang="en-US" sz="950" dirty="0"/>
          </a:p>
        </p:txBody>
      </p:sp>
      <p:sp>
        <p:nvSpPr>
          <p:cNvPr id="31" name="Text 29"/>
          <p:cNvSpPr/>
          <p:nvPr/>
        </p:nvSpPr>
        <p:spPr>
          <a:xfrm>
            <a:off x="5550408" y="5394960"/>
            <a:ext cx="1097280" cy="164592"/>
          </a:xfrm>
          <a:prstGeom prst="rect">
            <a:avLst/>
          </a:prstGeom>
          <a:noFill/>
          <a:ln/>
        </p:spPr>
        <p:txBody>
          <a:bodyPr wrap="square" rtlCol="0" anchor="ctr"/>
          <a:lstStyle/>
          <a:p>
            <a:pPr indent="0" marL="0">
              <a:buNone/>
            </a:pPr>
            <a:r>
              <a:rPr lang="en-US" sz="750" b="1" spc="140" kern="0" dirty="0">
                <a:solidFill>
                  <a:srgbClr val="5566E0"/>
                </a:solidFill>
                <a:latin typeface="Consolas" pitchFamily="34" charset="0"/>
                <a:ea typeface="Consolas" pitchFamily="34" charset="-122"/>
                <a:cs typeface="Consolas" pitchFamily="34" charset="-120"/>
              </a:rPr>
              <a:t>NOW</a:t>
            </a:r>
            <a:endParaRPr lang="en-US" sz="750" dirty="0"/>
          </a:p>
        </p:txBody>
      </p:sp>
      <p:sp>
        <p:nvSpPr>
          <p:cNvPr id="32" name="Text 30"/>
          <p:cNvSpPr/>
          <p:nvPr/>
        </p:nvSpPr>
        <p:spPr>
          <a:xfrm>
            <a:off x="5550408" y="5577840"/>
            <a:ext cx="5980176" cy="530352"/>
          </a:xfrm>
          <a:prstGeom prst="rect">
            <a:avLst/>
          </a:prstGeom>
          <a:noFill/>
          <a:ln/>
        </p:spPr>
        <p:txBody>
          <a:bodyPr wrap="square" rtlCol="0" anchor="t"/>
          <a:lstStyle/>
          <a:p>
            <a:pPr indent="0" marL="0">
              <a:lnSpc>
                <a:spcPct val="116000"/>
              </a:lnSpc>
              <a:buNone/>
            </a:pPr>
            <a:r>
              <a:rPr lang="en-US" sz="1000" b="1" dirty="0">
                <a:solidFill>
                  <a:srgbClr val="16202E"/>
                </a:solidFill>
                <a:latin typeface="Segoe UI" pitchFamily="34" charset="0"/>
                <a:ea typeface="Segoe UI" pitchFamily="34" charset="-122"/>
                <a:cs typeface="Segoe UI" pitchFamily="34" charset="-120"/>
              </a:rPr>
              <a:t>--iterate closes the loop.</a:t>
            </a:r>
            <a:pPr indent="0" marL="0">
              <a:lnSpc>
                <a:spcPct val="116000"/>
              </a:lnSpc>
              <a:buNone/>
            </a:pPr>
            <a:r>
              <a:rPr lang="en-US" sz="1000" dirty="0">
                <a:solidFill>
                  <a:srgbClr val="16202E"/>
                </a:solidFill>
                <a:latin typeface="Segoe UI" pitchFamily="34" charset="0"/>
                <a:ea typeface="Segoe UI" pitchFamily="34" charset="-122"/>
                <a:cs typeface="Segoe UI" pitchFamily="34" charset="-120"/>
              </a:rPr>
              <a:t> Bounded at 2 rounds, confirming every prerelease deploy. Merge and release stay human.</a:t>
            </a:r>
            <a:endParaRPr lang="en-US" sz="1000" dirty="0"/>
          </a:p>
        </p:txBody>
      </p:sp>
      <p:sp>
        <p:nvSpPr>
          <p:cNvPr id="33" name="Shape 31"/>
          <p:cNvSpPr/>
          <p:nvPr/>
        </p:nvSpPr>
        <p:spPr>
          <a:xfrm>
            <a:off x="658368" y="6053328"/>
            <a:ext cx="10872216" cy="0"/>
          </a:xfrm>
          <a:prstGeom prst="line">
            <a:avLst/>
          </a:prstGeom>
          <a:noFill/>
          <a:ln w="9525">
            <a:solidFill>
              <a:srgbClr val="DBE3EC"/>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0313729" cy="50292"/>
          </a:xfrm>
          <a:prstGeom prst="rect">
            <a:avLst/>
          </a:prstGeom>
          <a:solidFill>
            <a:srgbClr val="5566E0"/>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11 / 13</a:t>
            </a:r>
            <a:endParaRPr lang="en-US" sz="900" dirty="0"/>
          </a:p>
        </p:txBody>
      </p:sp>
      <p:sp>
        <p:nvSpPr>
          <p:cNvPr id="4" name="Shape 2"/>
          <p:cNvSpPr/>
          <p:nvPr/>
        </p:nvSpPr>
        <p:spPr>
          <a:xfrm>
            <a:off x="658368" y="566928"/>
            <a:ext cx="237744" cy="25603"/>
          </a:xfrm>
          <a:prstGeom prst="rect">
            <a:avLst/>
          </a:prstGeom>
          <a:solidFill>
            <a:srgbClr val="5566E0"/>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5566E0"/>
                </a:solidFill>
                <a:latin typeface="Consolas" pitchFamily="34" charset="0"/>
                <a:ea typeface="Consolas" pitchFamily="34" charset="-122"/>
                <a:cs typeface="Consolas" pitchFamily="34" charset="-120"/>
              </a:rPr>
              <a:t>AGENTIC PROJECT · THE NEW GATES</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Two kinds of gate, and the difference is the point.</a:t>
            </a:r>
            <a:endParaRPr lang="en-US" sz="2800" dirty="0"/>
          </a:p>
        </p:txBody>
      </p:sp>
      <p:sp>
        <p:nvSpPr>
          <p:cNvPr id="7" name="Text 5"/>
          <p:cNvSpPr/>
          <p:nvPr/>
        </p:nvSpPr>
        <p:spPr>
          <a:xfrm>
            <a:off x="658368" y="1691640"/>
            <a:ext cx="950976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One kind needs judgement, so we buy independence. The other needs none, so we make it deterministic and unarguable.</a:t>
            </a:r>
            <a:endParaRPr lang="en-US" sz="1300" dirty="0"/>
          </a:p>
        </p:txBody>
      </p:sp>
      <p:sp>
        <p:nvSpPr>
          <p:cNvPr id="8" name="Text 6"/>
          <p:cNvSpPr/>
          <p:nvPr/>
        </p:nvSpPr>
        <p:spPr>
          <a:xfrm>
            <a:off x="658368" y="2487168"/>
            <a:ext cx="5760720" cy="182880"/>
          </a:xfrm>
          <a:prstGeom prst="rect">
            <a:avLst/>
          </a:prstGeom>
          <a:noFill/>
          <a:ln/>
        </p:spPr>
        <p:txBody>
          <a:bodyPr wrap="square" rtlCol="0" anchor="ctr"/>
          <a:lstStyle/>
          <a:p>
            <a:pPr indent="0" marL="0">
              <a:buNone/>
            </a:pPr>
            <a:r>
              <a:rPr lang="en-US" sz="800" b="1" spc="150" kern="0" dirty="0">
                <a:solidFill>
                  <a:srgbClr val="7C8AA0"/>
                </a:solidFill>
                <a:latin typeface="Consolas" pitchFamily="34" charset="0"/>
                <a:ea typeface="Consolas" pitchFamily="34" charset="-122"/>
                <a:cs typeface="Consolas" pitchFamily="34" charset="-120"/>
              </a:rPr>
              <a:t>JUDGEMENT · THREE HARD STOPS · FULL PATH</a:t>
            </a:r>
            <a:endParaRPr lang="en-US" sz="800" dirty="0"/>
          </a:p>
        </p:txBody>
      </p:sp>
      <p:sp>
        <p:nvSpPr>
          <p:cNvPr id="9" name="Text 7"/>
          <p:cNvSpPr/>
          <p:nvPr/>
        </p:nvSpPr>
        <p:spPr>
          <a:xfrm>
            <a:off x="658368" y="2697480"/>
            <a:ext cx="5760720" cy="256032"/>
          </a:xfrm>
          <a:prstGeom prst="rect">
            <a:avLst/>
          </a:prstGeom>
          <a:noFill/>
          <a:ln/>
        </p:spPr>
        <p:txBody>
          <a:bodyPr wrap="square"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A fresh verifier, never the doer</a:t>
            </a:r>
            <a:endParaRPr lang="en-US" sz="1300" dirty="0"/>
          </a:p>
        </p:txBody>
      </p:sp>
      <p:sp>
        <p:nvSpPr>
          <p:cNvPr id="10" name="Shape 8"/>
          <p:cNvSpPr/>
          <p:nvPr/>
        </p:nvSpPr>
        <p:spPr>
          <a:xfrm>
            <a:off x="658368" y="3035808"/>
            <a:ext cx="5760720" cy="475488"/>
          </a:xfrm>
          <a:prstGeom prst="roundRect">
            <a:avLst>
              <a:gd name="adj" fmla="val 9615"/>
            </a:avLst>
          </a:prstGeom>
          <a:solidFill>
            <a:srgbClr val="FFFFFF"/>
          </a:solidFill>
          <a:ln w="6350">
            <a:solidFill>
              <a:srgbClr val="DBE3EC"/>
            </a:solidFill>
            <a:prstDash val="solid"/>
          </a:ln>
        </p:spPr>
      </p:sp>
      <p:sp>
        <p:nvSpPr>
          <p:cNvPr id="11" name="Text 9"/>
          <p:cNvSpPr/>
          <p:nvPr/>
        </p:nvSpPr>
        <p:spPr>
          <a:xfrm>
            <a:off x="841248" y="3090672"/>
            <a:ext cx="5394960" cy="365760"/>
          </a:xfrm>
          <a:prstGeom prst="rect">
            <a:avLst/>
          </a:prstGeom>
          <a:noFill/>
          <a:ln/>
        </p:spPr>
        <p:txBody>
          <a:bodyPr wrap="square" rtlCol="0" anchor="ctr"/>
          <a:lstStyle/>
          <a:p>
            <a:pPr indent="0" marL="0">
              <a:lnSpc>
                <a:spcPct val="110000"/>
              </a:lnSpc>
              <a:buNone/>
            </a:pPr>
            <a:r>
              <a:rPr lang="en-US" sz="950" b="1" dirty="0">
                <a:solidFill>
                  <a:srgbClr val="5566E0"/>
                </a:solidFill>
                <a:latin typeface="Consolas" pitchFamily="34" charset="0"/>
                <a:ea typeface="Consolas" pitchFamily="34" charset="-122"/>
                <a:cs typeface="Consolas" pitchFamily="34" charset="-120"/>
              </a:rPr>
              <a:t>Step 3   </a:t>
            </a:r>
            <a:pPr indent="0" marL="0">
              <a:lnSpc>
                <a:spcPct val="110000"/>
              </a:lnSpc>
              <a:buNone/>
            </a:pPr>
            <a:r>
              <a:rPr lang="en-US" sz="950" b="1" dirty="0">
                <a:solidFill>
                  <a:srgbClr val="16202E"/>
                </a:solidFill>
                <a:latin typeface="Segoe UI" pitchFamily="34" charset="0"/>
                <a:ea typeface="Segoe UI" pitchFamily="34" charset="-122"/>
                <a:cs typeface="Segoe UI" pitchFamily="34" charset="-120"/>
              </a:rPr>
              <a:t>Artifacts reviewed &amp; data seeded</a:t>
            </a:r>
            <a:pPr indent="0" marL="0">
              <a:lnSpc>
                <a:spcPct val="110000"/>
              </a:lnSpc>
              <a:buNone/>
            </a:pPr>
            <a:r>
              <a:rPr lang="en-US" sz="950" dirty="0">
                <a:solidFill>
                  <a:srgbClr val="4D5C70"/>
                </a:solidFill>
                <a:latin typeface="Segoe UI" pitchFamily="34" charset="0"/>
                <a:ea typeface="Segoe UI" pitchFamily="34" charset="-122"/>
                <a:cs typeface="Segoe UI" pitchFamily="34" charset="-120"/>
              </a:rPr>
              <a:t> — before a single test runs.</a:t>
            </a:r>
            <a:endParaRPr lang="en-US" sz="950" dirty="0"/>
          </a:p>
        </p:txBody>
      </p:sp>
      <p:sp>
        <p:nvSpPr>
          <p:cNvPr id="12" name="Shape 10"/>
          <p:cNvSpPr/>
          <p:nvPr/>
        </p:nvSpPr>
        <p:spPr>
          <a:xfrm>
            <a:off x="658368" y="3639312"/>
            <a:ext cx="5760720" cy="475488"/>
          </a:xfrm>
          <a:prstGeom prst="roundRect">
            <a:avLst>
              <a:gd name="adj" fmla="val 9615"/>
            </a:avLst>
          </a:prstGeom>
          <a:solidFill>
            <a:srgbClr val="FFFFFF"/>
          </a:solidFill>
          <a:ln w="6350">
            <a:solidFill>
              <a:srgbClr val="DBE3EC"/>
            </a:solidFill>
            <a:prstDash val="solid"/>
          </a:ln>
        </p:spPr>
      </p:sp>
      <p:sp>
        <p:nvSpPr>
          <p:cNvPr id="13" name="Text 11"/>
          <p:cNvSpPr/>
          <p:nvPr/>
        </p:nvSpPr>
        <p:spPr>
          <a:xfrm>
            <a:off x="841248" y="3694176"/>
            <a:ext cx="5394960" cy="365760"/>
          </a:xfrm>
          <a:prstGeom prst="rect">
            <a:avLst/>
          </a:prstGeom>
          <a:noFill/>
          <a:ln/>
        </p:spPr>
        <p:txBody>
          <a:bodyPr wrap="square" rtlCol="0" anchor="ctr"/>
          <a:lstStyle/>
          <a:p>
            <a:pPr indent="0" marL="0">
              <a:lnSpc>
                <a:spcPct val="110000"/>
              </a:lnSpc>
              <a:buNone/>
            </a:pPr>
            <a:r>
              <a:rPr lang="en-US" sz="950" b="1" dirty="0">
                <a:solidFill>
                  <a:srgbClr val="5566E0"/>
                </a:solidFill>
                <a:latin typeface="Consolas" pitchFamily="34" charset="0"/>
                <a:ea typeface="Consolas" pitchFamily="34" charset="-122"/>
                <a:cs typeface="Consolas" pitchFamily="34" charset="-120"/>
              </a:rPr>
              <a:t>Step 5b   </a:t>
            </a:r>
            <a:pPr indent="0" marL="0">
              <a:lnSpc>
                <a:spcPct val="110000"/>
              </a:lnSpc>
              <a:buNone/>
            </a:pPr>
            <a:r>
              <a:rPr lang="en-US" sz="950" b="1" dirty="0">
                <a:solidFill>
                  <a:srgbClr val="16202E"/>
                </a:solidFill>
                <a:latin typeface="Segoe UI" pitchFamily="34" charset="0"/>
                <a:ea typeface="Segoe UI" pitchFamily="34" charset="-122"/>
                <a:cs typeface="Segoe UI" pitchFamily="34" charset="-120"/>
              </a:rPr>
              <a:t>Triage + AC/DoD vs implementation</a:t>
            </a:r>
            <a:pPr indent="0" marL="0">
              <a:lnSpc>
                <a:spcPct val="110000"/>
              </a:lnSpc>
              <a:buNone/>
            </a:pPr>
            <a:r>
              <a:rPr lang="en-US" sz="950" dirty="0">
                <a:solidFill>
                  <a:srgbClr val="4D5C70"/>
                </a:solidFill>
                <a:latin typeface="Segoe UI" pitchFamily="34" charset="0"/>
                <a:ea typeface="Segoe UI" pitchFamily="34" charset="-122"/>
                <a:cs typeface="Segoe UI" pitchFamily="34" charset="-120"/>
              </a:rPr>
              <a:t> — with a quantified coverage estimate, before any verdict is filed.</a:t>
            </a:r>
            <a:endParaRPr lang="en-US" sz="950" dirty="0"/>
          </a:p>
        </p:txBody>
      </p:sp>
      <p:sp>
        <p:nvSpPr>
          <p:cNvPr id="14" name="Shape 12"/>
          <p:cNvSpPr/>
          <p:nvPr/>
        </p:nvSpPr>
        <p:spPr>
          <a:xfrm>
            <a:off x="658368" y="4242816"/>
            <a:ext cx="5760720" cy="475488"/>
          </a:xfrm>
          <a:prstGeom prst="roundRect">
            <a:avLst>
              <a:gd name="adj" fmla="val 9615"/>
            </a:avLst>
          </a:prstGeom>
          <a:solidFill>
            <a:srgbClr val="FFFFFF"/>
          </a:solidFill>
          <a:ln w="6350">
            <a:solidFill>
              <a:srgbClr val="DBE3EC"/>
            </a:solidFill>
            <a:prstDash val="solid"/>
          </a:ln>
        </p:spPr>
      </p:sp>
      <p:sp>
        <p:nvSpPr>
          <p:cNvPr id="15" name="Text 13"/>
          <p:cNvSpPr/>
          <p:nvPr/>
        </p:nvSpPr>
        <p:spPr>
          <a:xfrm>
            <a:off x="841248" y="4297680"/>
            <a:ext cx="5394960" cy="365760"/>
          </a:xfrm>
          <a:prstGeom prst="rect">
            <a:avLst/>
          </a:prstGeom>
          <a:noFill/>
          <a:ln/>
        </p:spPr>
        <p:txBody>
          <a:bodyPr wrap="square" rtlCol="0" anchor="ctr"/>
          <a:lstStyle/>
          <a:p>
            <a:pPr indent="0" marL="0">
              <a:lnSpc>
                <a:spcPct val="110000"/>
              </a:lnSpc>
              <a:buNone/>
            </a:pPr>
            <a:r>
              <a:rPr lang="en-US" sz="950" b="1" dirty="0">
                <a:solidFill>
                  <a:srgbClr val="5566E0"/>
                </a:solidFill>
                <a:latin typeface="Consolas" pitchFamily="34" charset="0"/>
                <a:ea typeface="Consolas" pitchFamily="34" charset="-122"/>
                <a:cs typeface="Consolas" pitchFamily="34" charset="-120"/>
              </a:rPr>
              <a:t>Step 5g   </a:t>
            </a:r>
            <a:pPr indent="0" marL="0">
              <a:lnSpc>
                <a:spcPct val="110000"/>
              </a:lnSpc>
              <a:buNone/>
            </a:pPr>
            <a:r>
              <a:rPr lang="en-US" sz="950" b="1" dirty="0">
                <a:solidFill>
                  <a:srgbClr val="16202E"/>
                </a:solidFill>
                <a:latin typeface="Segoe UI" pitchFamily="34" charset="0"/>
                <a:ea typeface="Segoe UI" pitchFamily="34" charset="-122"/>
                <a:cs typeface="Segoe UI" pitchFamily="34" charset="-120"/>
              </a:rPr>
              <a:t>Promotion sound</a:t>
            </a:r>
            <a:pPr indent="0" marL="0">
              <a:lnSpc>
                <a:spcPct val="110000"/>
              </a:lnSpc>
              <a:buNone/>
            </a:pPr>
            <a:r>
              <a:rPr lang="en-US" sz="950" dirty="0">
                <a:solidFill>
                  <a:srgbClr val="4D5C70"/>
                </a:solidFill>
                <a:latin typeface="Segoe UI" pitchFamily="34" charset="0"/>
                <a:ea typeface="Segoe UI" pitchFamily="34" charset="-122"/>
                <a:cs typeface="Segoe UI" pitchFamily="34" charset="-120"/>
              </a:rPr>
              <a:t> — runs last and non-blocking, after the verdict and the close-out.</a:t>
            </a:r>
            <a:endParaRPr lang="en-US" sz="950" dirty="0"/>
          </a:p>
        </p:txBody>
      </p:sp>
      <p:sp>
        <p:nvSpPr>
          <p:cNvPr id="16" name="Shape 14"/>
          <p:cNvSpPr/>
          <p:nvPr/>
        </p:nvSpPr>
        <p:spPr>
          <a:xfrm>
            <a:off x="658368" y="4901184"/>
            <a:ext cx="5760720" cy="786384"/>
          </a:xfrm>
          <a:prstGeom prst="roundRect">
            <a:avLst>
              <a:gd name="adj" fmla="val 5814"/>
            </a:avLst>
          </a:prstGeom>
          <a:solidFill>
            <a:srgbClr val="E8EAFB"/>
          </a:solidFill>
          <a:ln w="9525">
            <a:solidFill>
              <a:srgbClr val="5566E0"/>
            </a:solidFill>
            <a:prstDash val="dash"/>
          </a:ln>
        </p:spPr>
      </p:sp>
      <p:sp>
        <p:nvSpPr>
          <p:cNvPr id="17" name="Text 15"/>
          <p:cNvSpPr/>
          <p:nvPr/>
        </p:nvSpPr>
        <p:spPr>
          <a:xfrm>
            <a:off x="877824" y="5010912"/>
            <a:ext cx="5321808" cy="566928"/>
          </a:xfrm>
          <a:prstGeom prst="rect">
            <a:avLst/>
          </a:prstGeom>
          <a:noFill/>
          <a:ln/>
        </p:spPr>
        <p:txBody>
          <a:bodyPr wrap="square" rtlCol="0" anchor="ctr"/>
          <a:lstStyle/>
          <a:p>
            <a:pPr indent="0" marL="0">
              <a:lnSpc>
                <a:spcPct val="120000"/>
              </a:lnSpc>
              <a:buNone/>
            </a:pPr>
            <a:r>
              <a:rPr lang="en-US" sz="1050" dirty="0">
                <a:solidFill>
                  <a:srgbClr val="5566E0"/>
                </a:solidFill>
                <a:latin typeface="Segoe UI" pitchFamily="34" charset="0"/>
                <a:ea typeface="Segoe UI" pitchFamily="34" charset="-122"/>
                <a:cs typeface="Segoe UI" pitchFamily="34" charset="-120"/>
              </a:rPr>
              <a:t>A fresh orchestrator instance re-derives the evidence from source — re-runs the lints, re-opens the artifacts, and delegates a live re-check on a different browser lane than the doer used. REJECT → reason + fix → re-verify once, then STOP.</a:t>
            </a:r>
            <a:endParaRPr lang="en-US" sz="1050" dirty="0"/>
          </a:p>
        </p:txBody>
      </p:sp>
      <p:sp>
        <p:nvSpPr>
          <p:cNvPr id="18" name="Text 16"/>
          <p:cNvSpPr/>
          <p:nvPr/>
        </p:nvSpPr>
        <p:spPr>
          <a:xfrm>
            <a:off x="6784848" y="2487168"/>
            <a:ext cx="4745736" cy="182880"/>
          </a:xfrm>
          <a:prstGeom prst="rect">
            <a:avLst/>
          </a:prstGeom>
          <a:noFill/>
          <a:ln/>
        </p:spPr>
        <p:txBody>
          <a:bodyPr wrap="square" rtlCol="0" anchor="ctr"/>
          <a:lstStyle/>
          <a:p>
            <a:pPr indent="0" marL="0">
              <a:buNone/>
            </a:pPr>
            <a:r>
              <a:rPr lang="en-US" sz="800" b="1" spc="150" kern="0" dirty="0">
                <a:solidFill>
                  <a:srgbClr val="7C8AA0"/>
                </a:solidFill>
                <a:latin typeface="Consolas" pitchFamily="34" charset="0"/>
                <a:ea typeface="Consolas" pitchFamily="34" charset="-122"/>
                <a:cs typeface="Consolas" pitchFamily="34" charset="-120"/>
              </a:rPr>
              <a:t>DETERMINISTIC · NO JUDGEMENT REQUIRED</a:t>
            </a:r>
            <a:endParaRPr lang="en-US" sz="800" dirty="0"/>
          </a:p>
        </p:txBody>
      </p:sp>
      <p:sp>
        <p:nvSpPr>
          <p:cNvPr id="19" name="Text 17"/>
          <p:cNvSpPr/>
          <p:nvPr/>
        </p:nvSpPr>
        <p:spPr>
          <a:xfrm>
            <a:off x="6784848" y="2697480"/>
            <a:ext cx="4745736" cy="256032"/>
          </a:xfrm>
          <a:prstGeom prst="rect">
            <a:avLst/>
          </a:prstGeom>
          <a:noFill/>
          <a:ln/>
        </p:spPr>
        <p:txBody>
          <a:bodyPr wrap="square"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Lints that simply refuse</a:t>
            </a:r>
            <a:endParaRPr lang="en-US" sz="1300" dirty="0"/>
          </a:p>
        </p:txBody>
      </p:sp>
      <p:sp>
        <p:nvSpPr>
          <p:cNvPr id="20" name="Shape 18"/>
          <p:cNvSpPr/>
          <p:nvPr/>
        </p:nvSpPr>
        <p:spPr>
          <a:xfrm>
            <a:off x="6784848" y="3035808"/>
            <a:ext cx="4745736" cy="548640"/>
          </a:xfrm>
          <a:prstGeom prst="roundRect">
            <a:avLst>
              <a:gd name="adj" fmla="val 8333"/>
            </a:avLst>
          </a:prstGeom>
          <a:solidFill>
            <a:srgbClr val="FFFFFF"/>
          </a:solidFill>
          <a:ln w="6350">
            <a:solidFill>
              <a:srgbClr val="DBE3EC"/>
            </a:solidFill>
            <a:prstDash val="solid"/>
          </a:ln>
        </p:spPr>
      </p:sp>
      <p:sp>
        <p:nvSpPr>
          <p:cNvPr id="21" name="Text 19"/>
          <p:cNvSpPr/>
          <p:nvPr/>
        </p:nvSpPr>
        <p:spPr>
          <a:xfrm>
            <a:off x="6967728" y="3090672"/>
            <a:ext cx="4379976" cy="438912"/>
          </a:xfrm>
          <a:prstGeom prst="rect">
            <a:avLst/>
          </a:prstGeom>
          <a:noFill/>
          <a:ln/>
        </p:spPr>
        <p:txBody>
          <a:bodyPr wrap="square" rtlCol="0" anchor="ctr"/>
          <a:lstStyle/>
          <a:p>
            <a:pPr indent="0" marL="0">
              <a:lnSpc>
                <a:spcPct val="110000"/>
              </a:lnSpc>
              <a:buNone/>
            </a:pPr>
            <a:r>
              <a:rPr lang="en-US" sz="950" b="1" dirty="0">
                <a:solidFill>
                  <a:srgbClr val="0A6E64"/>
                </a:solidFill>
                <a:latin typeface="Consolas" pitchFamily="34" charset="0"/>
                <a:ea typeface="Consolas" pitchFamily="34" charset="-122"/>
                <a:cs typeface="Consolas" pitchFamily="34" charset="-120"/>
              </a:rPr>
              <a:t>ECL   </a:t>
            </a:r>
            <a:pPr indent="0" marL="0">
              <a:lnSpc>
                <a:spcPct val="110000"/>
              </a:lnSpc>
              <a:buNone/>
            </a:pPr>
            <a:r>
              <a:rPr lang="en-US" sz="950" b="1" dirty="0">
                <a:solidFill>
                  <a:srgbClr val="16202E"/>
                </a:solidFill>
                <a:latin typeface="Segoe UI" pitchFamily="34" charset="0"/>
                <a:ea typeface="Segoe UI" pitchFamily="34" charset="-122"/>
                <a:cs typeface="Segoe UI" pitchFamily="34" charset="-120"/>
              </a:rPr>
              <a:t>Citation gate</a:t>
            </a:r>
            <a:pPr indent="0" marL="0">
              <a:lnSpc>
                <a:spcPct val="110000"/>
              </a:lnSpc>
              <a:buNone/>
            </a:pPr>
            <a:r>
              <a:rPr lang="en-US" sz="950" dirty="0">
                <a:solidFill>
                  <a:srgbClr val="4D5C70"/>
                </a:solidFill>
                <a:latin typeface="Segoe UI" pitchFamily="34" charset="0"/>
                <a:ea typeface="Segoe UI" pitchFamily="34" charset="-122"/>
                <a:cs typeface="Segoe UI" pitchFamily="34" charset="-120"/>
              </a:rPr>
              <a:t> — every edge-case reference in every suite must resolve.</a:t>
            </a:r>
            <a:endParaRPr lang="en-US" sz="950" dirty="0"/>
          </a:p>
        </p:txBody>
      </p:sp>
      <p:sp>
        <p:nvSpPr>
          <p:cNvPr id="22" name="Shape 20"/>
          <p:cNvSpPr/>
          <p:nvPr/>
        </p:nvSpPr>
        <p:spPr>
          <a:xfrm>
            <a:off x="6784848" y="3712464"/>
            <a:ext cx="4745736" cy="548640"/>
          </a:xfrm>
          <a:prstGeom prst="roundRect">
            <a:avLst>
              <a:gd name="adj" fmla="val 8333"/>
            </a:avLst>
          </a:prstGeom>
          <a:solidFill>
            <a:srgbClr val="FFFFFF"/>
          </a:solidFill>
          <a:ln w="6350">
            <a:solidFill>
              <a:srgbClr val="DBE3EC"/>
            </a:solidFill>
            <a:prstDash val="solid"/>
          </a:ln>
        </p:spPr>
      </p:sp>
      <p:sp>
        <p:nvSpPr>
          <p:cNvPr id="23" name="Text 21"/>
          <p:cNvSpPr/>
          <p:nvPr/>
        </p:nvSpPr>
        <p:spPr>
          <a:xfrm>
            <a:off x="6967728" y="3767328"/>
            <a:ext cx="4379976" cy="438912"/>
          </a:xfrm>
          <a:prstGeom prst="rect">
            <a:avLst/>
          </a:prstGeom>
          <a:noFill/>
          <a:ln/>
        </p:spPr>
        <p:txBody>
          <a:bodyPr wrap="square" rtlCol="0" anchor="ctr"/>
          <a:lstStyle/>
          <a:p>
            <a:pPr indent="0" marL="0">
              <a:lnSpc>
                <a:spcPct val="110000"/>
              </a:lnSpc>
              <a:buNone/>
            </a:pPr>
            <a:r>
              <a:rPr lang="en-US" sz="950" b="1" dirty="0">
                <a:solidFill>
                  <a:srgbClr val="0A6E64"/>
                </a:solidFill>
                <a:latin typeface="Consolas" pitchFamily="34" charset="0"/>
                <a:ea typeface="Consolas" pitchFamily="34" charset="-122"/>
                <a:cs typeface="Consolas" pitchFamily="34" charset="-120"/>
              </a:rPr>
              <a:t>IDs   </a:t>
            </a:r>
            <a:pPr indent="0" marL="0">
              <a:lnSpc>
                <a:spcPct val="110000"/>
              </a:lnSpc>
              <a:buNone/>
            </a:pPr>
            <a:r>
              <a:rPr lang="en-US" sz="950" b="1" dirty="0">
                <a:solidFill>
                  <a:srgbClr val="16202E"/>
                </a:solidFill>
                <a:latin typeface="Segoe UI" pitchFamily="34" charset="0"/>
                <a:ea typeface="Segoe UI" pitchFamily="34" charset="-122"/>
                <a:cs typeface="Segoe UI" pitchFamily="34" charset="-120"/>
              </a:rPr>
              <a:t>Globally unique case IDs</a:t>
            </a:r>
            <a:pPr indent="0" marL="0">
              <a:lnSpc>
                <a:spcPct val="110000"/>
              </a:lnSpc>
              <a:buNone/>
            </a:pPr>
            <a:r>
              <a:rPr lang="en-US" sz="950" dirty="0">
                <a:solidFill>
                  <a:srgbClr val="4D5C70"/>
                </a:solidFill>
                <a:latin typeface="Segoe UI" pitchFamily="34" charset="0"/>
                <a:ea typeface="Segoe UI" pitchFamily="34" charset="-122"/>
                <a:cs typeface="Segoe UI" pitchFamily="34" charset="-120"/>
              </a:rPr>
              <a:t> — hard-fails on a collision, across every CSV on disk.</a:t>
            </a:r>
            <a:endParaRPr lang="en-US" sz="950" dirty="0"/>
          </a:p>
        </p:txBody>
      </p:sp>
      <p:sp>
        <p:nvSpPr>
          <p:cNvPr id="24" name="Shape 22"/>
          <p:cNvSpPr/>
          <p:nvPr/>
        </p:nvSpPr>
        <p:spPr>
          <a:xfrm>
            <a:off x="6784848" y="4389120"/>
            <a:ext cx="4745736" cy="548640"/>
          </a:xfrm>
          <a:prstGeom prst="roundRect">
            <a:avLst>
              <a:gd name="adj" fmla="val 8333"/>
            </a:avLst>
          </a:prstGeom>
          <a:solidFill>
            <a:srgbClr val="FFFFFF"/>
          </a:solidFill>
          <a:ln w="6350">
            <a:solidFill>
              <a:srgbClr val="DBE3EC"/>
            </a:solidFill>
            <a:prstDash val="solid"/>
          </a:ln>
        </p:spPr>
      </p:sp>
      <p:sp>
        <p:nvSpPr>
          <p:cNvPr id="25" name="Text 23"/>
          <p:cNvSpPr/>
          <p:nvPr/>
        </p:nvSpPr>
        <p:spPr>
          <a:xfrm>
            <a:off x="6967728" y="4443984"/>
            <a:ext cx="4379976" cy="438912"/>
          </a:xfrm>
          <a:prstGeom prst="rect">
            <a:avLst/>
          </a:prstGeom>
          <a:noFill/>
          <a:ln/>
        </p:spPr>
        <p:txBody>
          <a:bodyPr wrap="square" rtlCol="0" anchor="ctr"/>
          <a:lstStyle/>
          <a:p>
            <a:pPr indent="0" marL="0">
              <a:lnSpc>
                <a:spcPct val="110000"/>
              </a:lnSpc>
              <a:buNone/>
            </a:pPr>
            <a:r>
              <a:rPr lang="en-US" sz="950" b="1" dirty="0">
                <a:solidFill>
                  <a:srgbClr val="0A6E64"/>
                </a:solidFill>
                <a:latin typeface="Consolas" pitchFamily="34" charset="0"/>
                <a:ea typeface="Consolas" pitchFamily="34" charset="-122"/>
                <a:cs typeface="Consolas" pitchFamily="34" charset="-120"/>
              </a:rPr>
              <a:t>CSV   </a:t>
            </a:r>
            <a:pPr indent="0" marL="0">
              <a:lnSpc>
                <a:spcPct val="110000"/>
              </a:lnSpc>
              <a:buNone/>
            </a:pPr>
            <a:r>
              <a:rPr lang="en-US" sz="950" b="1" dirty="0">
                <a:solidFill>
                  <a:srgbClr val="16202E"/>
                </a:solidFill>
                <a:latin typeface="Segoe UI" pitchFamily="34" charset="0"/>
                <a:ea typeface="Segoe UI" pitchFamily="34" charset="-122"/>
                <a:cs typeface="Segoe UI" pitchFamily="34" charset="-120"/>
              </a:rPr>
              <a:t>Declared-but-missing suite</a:t>
            </a:r>
            <a:pPr indent="0" marL="0">
              <a:lnSpc>
                <a:spcPct val="110000"/>
              </a:lnSpc>
              <a:buNone/>
            </a:pPr>
            <a:r>
              <a:rPr lang="en-US" sz="950" dirty="0">
                <a:solidFill>
                  <a:srgbClr val="4D5C70"/>
                </a:solidFill>
                <a:latin typeface="Segoe UI" pitchFamily="34" charset="0"/>
                <a:ea typeface="Segoe UI" pitchFamily="34" charset="-122"/>
                <a:cs typeface="Segoe UI" pitchFamily="34" charset="-120"/>
              </a:rPr>
              <a:t> — hard-fails, so a selection can never silently run zero cases.</a:t>
            </a:r>
            <a:endParaRPr lang="en-US" sz="950" dirty="0"/>
          </a:p>
        </p:txBody>
      </p:sp>
      <p:sp>
        <p:nvSpPr>
          <p:cNvPr id="26" name="Shape 24"/>
          <p:cNvSpPr/>
          <p:nvPr/>
        </p:nvSpPr>
        <p:spPr>
          <a:xfrm>
            <a:off x="6784848" y="5065776"/>
            <a:ext cx="4745736" cy="548640"/>
          </a:xfrm>
          <a:prstGeom prst="roundRect">
            <a:avLst>
              <a:gd name="adj" fmla="val 8333"/>
            </a:avLst>
          </a:prstGeom>
          <a:solidFill>
            <a:srgbClr val="FFFFFF"/>
          </a:solidFill>
          <a:ln w="6350">
            <a:solidFill>
              <a:srgbClr val="DBE3EC"/>
            </a:solidFill>
            <a:prstDash val="solid"/>
          </a:ln>
        </p:spPr>
      </p:sp>
      <p:sp>
        <p:nvSpPr>
          <p:cNvPr id="27" name="Text 25"/>
          <p:cNvSpPr/>
          <p:nvPr/>
        </p:nvSpPr>
        <p:spPr>
          <a:xfrm>
            <a:off x="6967728" y="5120640"/>
            <a:ext cx="4379976" cy="438912"/>
          </a:xfrm>
          <a:prstGeom prst="rect">
            <a:avLst/>
          </a:prstGeom>
          <a:noFill/>
          <a:ln/>
        </p:spPr>
        <p:txBody>
          <a:bodyPr wrap="square" rtlCol="0" anchor="ctr"/>
          <a:lstStyle/>
          <a:p>
            <a:pPr indent="0" marL="0">
              <a:lnSpc>
                <a:spcPct val="110000"/>
              </a:lnSpc>
              <a:buNone/>
            </a:pPr>
            <a:r>
              <a:rPr lang="en-US" sz="950" b="1" dirty="0">
                <a:solidFill>
                  <a:srgbClr val="0A6E64"/>
                </a:solidFill>
                <a:latin typeface="Consolas" pitchFamily="34" charset="0"/>
                <a:ea typeface="Consolas" pitchFamily="34" charset="-122"/>
                <a:cs typeface="Consolas" pitchFamily="34" charset="-120"/>
              </a:rPr>
              <a:t>TRI   </a:t>
            </a:r>
            <a:pPr indent="0" marL="0">
              <a:lnSpc>
                <a:spcPct val="110000"/>
              </a:lnSpc>
              <a:buNone/>
            </a:pPr>
            <a:r>
              <a:rPr lang="en-US" sz="950" b="1" dirty="0">
                <a:solidFill>
                  <a:srgbClr val="16202E"/>
                </a:solidFill>
                <a:latin typeface="Segoe UI" pitchFamily="34" charset="0"/>
                <a:ea typeface="Segoe UI" pitchFamily="34" charset="-122"/>
                <a:cs typeface="Segoe UI" pitchFamily="34" charset="-120"/>
              </a:rPr>
              <a:t>Stamp staleness</a:t>
            </a:r>
            <a:pPr indent="0" marL="0">
              <a:lnSpc>
                <a:spcPct val="110000"/>
              </a:lnSpc>
              <a:buNone/>
            </a:pPr>
            <a:r>
              <a:rPr lang="en-US" sz="950" dirty="0">
                <a:solidFill>
                  <a:srgbClr val="4D5C70"/>
                </a:solidFill>
                <a:latin typeface="Segoe UI" pitchFamily="34" charset="0"/>
                <a:ea typeface="Segoe UI" pitchFamily="34" charset="-122"/>
                <a:cs typeface="Segoe UI" pitchFamily="34" charset="-120"/>
              </a:rPr>
              <a:t> — flags assertions whose last audit has aged out.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1251340" cy="50292"/>
          </a:xfrm>
          <a:prstGeom prst="rect">
            <a:avLst/>
          </a:prstGeom>
          <a:solidFill>
            <a:srgbClr val="5566E0"/>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12 / 13</a:t>
            </a:r>
            <a:endParaRPr lang="en-US" sz="900" dirty="0"/>
          </a:p>
        </p:txBody>
      </p:sp>
      <p:sp>
        <p:nvSpPr>
          <p:cNvPr id="4" name="Shape 2"/>
          <p:cNvSpPr/>
          <p:nvPr/>
        </p:nvSpPr>
        <p:spPr>
          <a:xfrm>
            <a:off x="658368" y="566928"/>
            <a:ext cx="237744" cy="25603"/>
          </a:xfrm>
          <a:prstGeom prst="rect">
            <a:avLst/>
          </a:prstGeom>
          <a:solidFill>
            <a:srgbClr val="5566E0"/>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5566E0"/>
                </a:solidFill>
                <a:latin typeface="Consolas" pitchFamily="34" charset="0"/>
                <a:ea typeface="Consolas" pitchFamily="34" charset="-122"/>
                <a:cs typeface="Consolas" pitchFamily="34" charset="-120"/>
              </a:rPr>
              <a:t>AGENTIC PROJECT · ORACLE REVIEW</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Our oracles now prove themselves against reality.</a:t>
            </a:r>
            <a:endParaRPr lang="en-US" sz="2800" dirty="0"/>
          </a:p>
        </p:txBody>
      </p:sp>
      <p:sp>
        <p:nvSpPr>
          <p:cNvPr id="7" name="Text 5"/>
          <p:cNvSpPr/>
          <p:nvPr/>
        </p:nvSpPr>
        <p:spPr>
          <a:xfrm>
            <a:off x="658368" y="1691640"/>
            <a:ext cx="585216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/qa-review-oracles — one skill, two axes. The business-rules audit and the edge-case library shared their entire mechanism, so they became one thing with two entry points.</a:t>
            </a:r>
            <a:endParaRPr lang="en-US" sz="1300" dirty="0"/>
          </a:p>
        </p:txBody>
      </p:sp>
      <p:sp>
        <p:nvSpPr>
          <p:cNvPr id="8" name="Text 6"/>
          <p:cNvSpPr/>
          <p:nvPr/>
        </p:nvSpPr>
        <p:spPr>
          <a:xfrm>
            <a:off x="658368" y="2743200"/>
            <a:ext cx="237744" cy="256032"/>
          </a:xfrm>
          <a:prstGeom prst="rect">
            <a:avLst/>
          </a:prstGeom>
          <a:noFill/>
          <a:ln/>
        </p:spPr>
        <p:txBody>
          <a:bodyPr wrap="square" rtlCol="0" anchor="t"/>
          <a:lstStyle/>
          <a:p>
            <a:pPr indent="0" marL="0">
              <a:buNone/>
            </a:pPr>
            <a:r>
              <a:rPr lang="en-US" sz="1100" b="1" dirty="0">
                <a:solidFill>
                  <a:srgbClr val="5566E0"/>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932688" y="2743200"/>
            <a:ext cx="5577840" cy="475488"/>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Three independent axes</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documentation, live behaviour, and platform source, gathered per entry and compared.</a:t>
            </a:r>
            <a:endParaRPr lang="en-US" sz="1050" dirty="0"/>
          </a:p>
        </p:txBody>
      </p:sp>
      <p:sp>
        <p:nvSpPr>
          <p:cNvPr id="10" name="Text 8"/>
          <p:cNvSpPr/>
          <p:nvPr/>
        </p:nvSpPr>
        <p:spPr>
          <a:xfrm>
            <a:off x="658368" y="3218688"/>
            <a:ext cx="237744" cy="256032"/>
          </a:xfrm>
          <a:prstGeom prst="rect">
            <a:avLst/>
          </a:prstGeom>
          <a:noFill/>
          <a:ln/>
        </p:spPr>
        <p:txBody>
          <a:bodyPr wrap="square" rtlCol="0" anchor="t"/>
          <a:lstStyle/>
          <a:p>
            <a:pPr indent="0" marL="0">
              <a:buNone/>
            </a:pPr>
            <a:r>
              <a:rPr lang="en-US" sz="1100" b="1" dirty="0">
                <a:solidFill>
                  <a:srgbClr val="5566E0"/>
                </a:solidFill>
                <a:latin typeface="Consolas" pitchFamily="34" charset="0"/>
                <a:ea typeface="Consolas" pitchFamily="34" charset="-122"/>
                <a:cs typeface="Consolas" pitchFamily="34" charset="-120"/>
              </a:rPr>
              <a:t>✓</a:t>
            </a:r>
            <a:endParaRPr lang="en-US" sz="1100" dirty="0"/>
          </a:p>
        </p:txBody>
      </p:sp>
      <p:sp>
        <p:nvSpPr>
          <p:cNvPr id="11" name="Text 9"/>
          <p:cNvSpPr/>
          <p:nvPr/>
        </p:nvSpPr>
        <p:spPr>
          <a:xfrm>
            <a:off x="932688" y="3218688"/>
            <a:ext cx="5577840" cy="621792"/>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Auto-apply on evidence, not approval</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a confirmed correction is written straight to the oracle; contradictory or ungrounded ones become a proposal a human reads.</a:t>
            </a:r>
            <a:endParaRPr lang="en-US" sz="1050" dirty="0"/>
          </a:p>
        </p:txBody>
      </p:sp>
      <p:sp>
        <p:nvSpPr>
          <p:cNvPr id="12" name="Text 10"/>
          <p:cNvSpPr/>
          <p:nvPr/>
        </p:nvSpPr>
        <p:spPr>
          <a:xfrm>
            <a:off x="658368" y="3840480"/>
            <a:ext cx="237744" cy="256032"/>
          </a:xfrm>
          <a:prstGeom prst="rect">
            <a:avLst/>
          </a:prstGeom>
          <a:noFill/>
          <a:ln/>
        </p:spPr>
        <p:txBody>
          <a:bodyPr wrap="square" rtlCol="0" anchor="t"/>
          <a:lstStyle/>
          <a:p>
            <a:pPr indent="0" marL="0">
              <a:buNone/>
            </a:pPr>
            <a:r>
              <a:rPr lang="en-US" sz="1100" b="1" dirty="0">
                <a:solidFill>
                  <a:srgbClr val="5566E0"/>
                </a:solidFill>
                <a:latin typeface="Consolas" pitchFamily="34" charset="0"/>
                <a:ea typeface="Consolas" pitchFamily="34" charset="-122"/>
                <a:cs typeface="Consolas" pitchFamily="34" charset="-120"/>
              </a:rPr>
              <a:t>✓</a:t>
            </a:r>
            <a:endParaRPr lang="en-US" sz="1100" dirty="0"/>
          </a:p>
        </p:txBody>
      </p:sp>
      <p:sp>
        <p:nvSpPr>
          <p:cNvPr id="13" name="Text 11"/>
          <p:cNvSpPr/>
          <p:nvPr/>
        </p:nvSpPr>
        <p:spPr>
          <a:xfrm>
            <a:off x="932688" y="3840480"/>
            <a:ext cx="5577840" cy="621792"/>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IDs are a citation contract</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never renumber a surviving entry. Renumbering silently repoints every correct citation, and no gate could detect it.</a:t>
            </a:r>
            <a:endParaRPr lang="en-US" sz="1050" dirty="0"/>
          </a:p>
        </p:txBody>
      </p:sp>
      <p:sp>
        <p:nvSpPr>
          <p:cNvPr id="14" name="Text 12"/>
          <p:cNvSpPr/>
          <p:nvPr/>
        </p:nvSpPr>
        <p:spPr>
          <a:xfrm>
            <a:off x="658368" y="4462272"/>
            <a:ext cx="237744" cy="256032"/>
          </a:xfrm>
          <a:prstGeom prst="rect">
            <a:avLst/>
          </a:prstGeom>
          <a:noFill/>
          <a:ln/>
        </p:spPr>
        <p:txBody>
          <a:bodyPr wrap="square" rtlCol="0" anchor="t"/>
          <a:lstStyle/>
          <a:p>
            <a:pPr indent="0" marL="0">
              <a:buNone/>
            </a:pPr>
            <a:r>
              <a:rPr lang="en-US" sz="1100" b="1" dirty="0">
                <a:solidFill>
                  <a:srgbClr val="5566E0"/>
                </a:solidFill>
                <a:latin typeface="Consolas" pitchFamily="34" charset="0"/>
                <a:ea typeface="Consolas" pitchFamily="34" charset="-122"/>
                <a:cs typeface="Consolas" pitchFamily="34" charset="-120"/>
              </a:rPr>
              <a:t>✓</a:t>
            </a:r>
            <a:endParaRPr lang="en-US" sz="1100" dirty="0"/>
          </a:p>
        </p:txBody>
      </p:sp>
      <p:sp>
        <p:nvSpPr>
          <p:cNvPr id="15" name="Text 13"/>
          <p:cNvSpPr/>
          <p:nvPr/>
        </p:nvSpPr>
        <p:spPr>
          <a:xfrm>
            <a:off x="932688" y="4462272"/>
            <a:ext cx="5577840" cy="621792"/>
          </a:xfrm>
          <a:prstGeom prst="rect">
            <a:avLst/>
          </a:prstGeom>
          <a:noFill/>
          <a:ln/>
        </p:spPr>
        <p:txBody>
          <a:bodyPr wrap="square" rtlCol="0" anchor="t"/>
          <a:lstStyle/>
          <a:p>
            <a:pPr indent="0" marL="0">
              <a:lnSpc>
                <a:spcPct val="120000"/>
              </a:lnSpc>
              <a:buNone/>
            </a:pPr>
            <a:r>
              <a:rPr lang="en-US" sz="1050" b="1" dirty="0">
                <a:solidFill>
                  <a:srgbClr val="16202E"/>
                </a:solidFill>
                <a:latin typeface="Segoe UI" pitchFamily="34" charset="0"/>
                <a:ea typeface="Segoe UI" pitchFamily="34" charset="-122"/>
                <a:cs typeface="Segoe UI" pitchFamily="34" charset="-120"/>
              </a:rPr>
              <a:t>Parallel, but a single writer</a:t>
            </a:r>
            <a:pPr indent="0" marL="0">
              <a:lnSpc>
                <a:spcPct val="120000"/>
              </a:lnSpc>
              <a:buNone/>
            </a:pPr>
            <a:r>
              <a:rPr lang="en-US" sz="1050" dirty="0">
                <a:solidFill>
                  <a:srgbClr val="4D5C70"/>
                </a:solidFill>
                <a:latin typeface="Segoe UI" pitchFamily="34" charset="0"/>
                <a:ea typeface="Segoe UI" pitchFamily="34" charset="-122"/>
                <a:cs typeface="Segoe UI" pitchFamily="34" charset="-120"/>
              </a:rPr>
              <a:t> — fans out across up to three analysts each with their own browser lane, then applies serially. It never edits a test CSV.</a:t>
            </a:r>
            <a:endParaRPr lang="en-US" sz="1050" dirty="0"/>
          </a:p>
        </p:txBody>
      </p:sp>
      <p:sp>
        <p:nvSpPr>
          <p:cNvPr id="16" name="Shape 14"/>
          <p:cNvSpPr/>
          <p:nvPr/>
        </p:nvSpPr>
        <p:spPr>
          <a:xfrm>
            <a:off x="658368" y="5257800"/>
            <a:ext cx="5852160" cy="749808"/>
          </a:xfrm>
          <a:prstGeom prst="roundRect">
            <a:avLst>
              <a:gd name="adj" fmla="val 6098"/>
            </a:avLst>
          </a:prstGeom>
          <a:solidFill>
            <a:srgbClr val="E8EAFB"/>
          </a:solidFill>
          <a:ln w="9525">
            <a:solidFill>
              <a:srgbClr val="5566E0"/>
            </a:solidFill>
            <a:prstDash val="dash"/>
          </a:ln>
        </p:spPr>
      </p:sp>
      <p:sp>
        <p:nvSpPr>
          <p:cNvPr id="17" name="Text 15"/>
          <p:cNvSpPr/>
          <p:nvPr/>
        </p:nvSpPr>
        <p:spPr>
          <a:xfrm>
            <a:off x="877824" y="5367528"/>
            <a:ext cx="5413248" cy="530352"/>
          </a:xfrm>
          <a:prstGeom prst="rect">
            <a:avLst/>
          </a:prstGeom>
          <a:noFill/>
          <a:ln/>
        </p:spPr>
        <p:txBody>
          <a:bodyPr wrap="square" rtlCol="0" anchor="ctr"/>
          <a:lstStyle/>
          <a:p>
            <a:pPr indent="0" marL="0">
              <a:lnSpc>
                <a:spcPct val="120000"/>
              </a:lnSpc>
              <a:buNone/>
            </a:pPr>
            <a:r>
              <a:rPr lang="en-US" sz="1050" dirty="0">
                <a:solidFill>
                  <a:srgbClr val="5566E0"/>
                </a:solidFill>
                <a:latin typeface="Segoe UI" pitchFamily="34" charset="0"/>
                <a:ea typeface="Segoe UI" pitchFamily="34" charset="-122"/>
                <a:cs typeface="Segoe UI" pitchFamily="34" charset="-120"/>
              </a:rPr>
              <a:t>The ECL axis had never had a gate at all. Its first run found 20 dangling references cited by ~65 cases across 7 suites — including one id that had never existed.</a:t>
            </a:r>
            <a:endParaRPr lang="en-US" sz="1050" dirty="0"/>
          </a:p>
        </p:txBody>
      </p:sp>
      <p:sp>
        <p:nvSpPr>
          <p:cNvPr id="18" name="Shape 16"/>
          <p:cNvSpPr/>
          <p:nvPr/>
        </p:nvSpPr>
        <p:spPr>
          <a:xfrm>
            <a:off x="6858000" y="1828800"/>
            <a:ext cx="4663440" cy="3474720"/>
          </a:xfrm>
          <a:prstGeom prst="roundRect">
            <a:avLst>
              <a:gd name="adj" fmla="val 2105"/>
            </a:avLst>
          </a:prstGeom>
          <a:solidFill>
            <a:srgbClr val="0D141F"/>
          </a:solidFill>
          <a:ln w="6350">
            <a:solidFill>
              <a:srgbClr val="DBE3EC"/>
            </a:solidFill>
            <a:prstDash val="solid"/>
          </a:ln>
        </p:spPr>
      </p:sp>
      <p:sp>
        <p:nvSpPr>
          <p:cNvPr id="19" name="Shape 17"/>
          <p:cNvSpPr/>
          <p:nvPr/>
        </p:nvSpPr>
        <p:spPr>
          <a:xfrm>
            <a:off x="6858000" y="1828800"/>
            <a:ext cx="4663440" cy="310896"/>
          </a:xfrm>
          <a:prstGeom prst="rect">
            <a:avLst/>
          </a:prstGeom>
          <a:solidFill>
            <a:srgbClr val="131C2B"/>
          </a:solidFill>
          <a:ln/>
        </p:spPr>
      </p:sp>
      <p:sp>
        <p:nvSpPr>
          <p:cNvPr id="20" name="Shape 18"/>
          <p:cNvSpPr/>
          <p:nvPr/>
        </p:nvSpPr>
        <p:spPr>
          <a:xfrm>
            <a:off x="6986016" y="1933956"/>
            <a:ext cx="100584" cy="100584"/>
          </a:xfrm>
          <a:prstGeom prst="ellipse">
            <a:avLst/>
          </a:prstGeom>
          <a:solidFill>
            <a:srgbClr val="E0788A"/>
          </a:solidFill>
          <a:ln/>
        </p:spPr>
      </p:sp>
      <p:sp>
        <p:nvSpPr>
          <p:cNvPr id="21" name="Shape 19"/>
          <p:cNvSpPr/>
          <p:nvPr/>
        </p:nvSpPr>
        <p:spPr>
          <a:xfrm>
            <a:off x="7159752" y="1933956"/>
            <a:ext cx="100584" cy="100584"/>
          </a:xfrm>
          <a:prstGeom prst="ellipse">
            <a:avLst/>
          </a:prstGeom>
          <a:solidFill>
            <a:srgbClr val="E0AB53"/>
          </a:solidFill>
          <a:ln/>
        </p:spPr>
      </p:sp>
      <p:sp>
        <p:nvSpPr>
          <p:cNvPr id="22" name="Shape 20"/>
          <p:cNvSpPr/>
          <p:nvPr/>
        </p:nvSpPr>
        <p:spPr>
          <a:xfrm>
            <a:off x="7333488" y="1933956"/>
            <a:ext cx="100584" cy="100584"/>
          </a:xfrm>
          <a:prstGeom prst="ellipse">
            <a:avLst/>
          </a:prstGeom>
          <a:solidFill>
            <a:srgbClr val="43C47E"/>
          </a:solidFill>
          <a:ln/>
        </p:spPr>
      </p:sp>
      <p:sp>
        <p:nvSpPr>
          <p:cNvPr id="23" name="Text 21"/>
          <p:cNvSpPr/>
          <p:nvPr/>
        </p:nvSpPr>
        <p:spPr>
          <a:xfrm>
            <a:off x="7571232" y="1874520"/>
            <a:ext cx="3840480" cy="219456"/>
          </a:xfrm>
          <a:prstGeom prst="rect">
            <a:avLst/>
          </a:prstGeom>
          <a:noFill/>
          <a:ln/>
        </p:spPr>
        <p:txBody>
          <a:bodyPr wrap="square" rtlCol="0" anchor="ctr"/>
          <a:lstStyle/>
          <a:p>
            <a:pPr indent="0" marL="0">
              <a:buNone/>
            </a:pPr>
            <a:r>
              <a:rPr lang="en-US" sz="850" dirty="0">
                <a:solidFill>
                  <a:srgbClr val="7C8AA0"/>
                </a:solidFill>
                <a:latin typeface="Consolas" pitchFamily="34" charset="0"/>
                <a:ea typeface="Consolas" pitchFamily="34" charset="-122"/>
                <a:cs typeface="Consolas" pitchFamily="34" charset="-120"/>
              </a:rPr>
              <a:t>/qa-review-oracles all</a:t>
            </a:r>
            <a:endParaRPr lang="en-US" sz="850" dirty="0"/>
          </a:p>
        </p:txBody>
      </p:sp>
      <p:sp>
        <p:nvSpPr>
          <p:cNvPr id="24" name="Text 22"/>
          <p:cNvSpPr/>
          <p:nvPr/>
        </p:nvSpPr>
        <p:spPr>
          <a:xfrm>
            <a:off x="7059168" y="2249424"/>
            <a:ext cx="4261104" cy="2907792"/>
          </a:xfrm>
          <a:prstGeom prst="rect">
            <a:avLst/>
          </a:prstGeom>
          <a:noFill/>
          <a:ln/>
        </p:spPr>
        <p:txBody>
          <a:bodyPr wrap="square" rtlCol="0" anchor="t"/>
          <a:lstStyle/>
          <a:p>
            <a:pPr indent="0" marL="0">
              <a:lnSpc>
                <a:spcPct val="132000"/>
              </a:lnSpc>
              <a:buNone/>
            </a:pPr>
            <a:r>
              <a:rPr lang="en-US" sz="950" dirty="0">
                <a:solidFill>
                  <a:srgbClr val="3FD0BF"/>
                </a:solidFill>
                <a:latin typeface="Consolas" pitchFamily="34" charset="0"/>
                <a:ea typeface="Consolas" pitchFamily="34" charset="-122"/>
                <a:cs typeface="Consolas" pitchFamily="34" charset="-120"/>
              </a:rPr>
              <a:t>➜ </a:t>
            </a:r>
            <a:pPr indent="0" marL="0">
              <a:lnSpc>
                <a:spcPct val="132000"/>
              </a:lnSpc>
              <a:buNone/>
            </a:pPr>
            <a:r>
              <a:rPr lang="en-US" sz="950" b="1" dirty="0">
                <a:solidFill>
                  <a:srgbClr val="E7EDF5"/>
                </a:solidFill>
                <a:latin typeface="Consolas" pitchFamily="34" charset="0"/>
                <a:ea typeface="Consolas" pitchFamily="34" charset="-122"/>
                <a:cs typeface="Consolas" pitchFamily="34" charset="-120"/>
              </a:rPr>
              <a:t>/qa-review-oracles all cart</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axes: docs · live · source</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entry  </a:t>
            </a:r>
            <a:pPr indent="0" marL="0">
              <a:lnSpc>
                <a:spcPct val="132000"/>
              </a:lnSpc>
              <a:buNone/>
            </a:pPr>
            <a:r>
              <a:rPr lang="en-US" sz="950" b="1" dirty="0">
                <a:solidFill>
                  <a:srgbClr val="43C47E"/>
                </a:solidFill>
                <a:latin typeface="Consolas" pitchFamily="34" charset="0"/>
                <a:ea typeface="Consolas" pitchFamily="34" charset="-122"/>
                <a:cs typeface="Consolas" pitchFamily="34" charset="-120"/>
              </a:rPr>
              <a:t>CONFIRMED</a:t>
            </a:r>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all three agree</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entry  </a:t>
            </a:r>
            <a:pPr indent="0" marL="0">
              <a:lnSpc>
                <a:spcPct val="132000"/>
              </a:lnSpc>
              <a:buNone/>
            </a:pPr>
            <a:r>
              <a:rPr lang="en-US" sz="950" b="1" dirty="0">
                <a:solidFill>
                  <a:srgbClr val="E0AB53"/>
                </a:solidFill>
                <a:latin typeface="Consolas" pitchFamily="34" charset="0"/>
                <a:ea typeface="Consolas" pitchFamily="34" charset="-122"/>
                <a:cs typeface="Consolas" pitchFamily="34" charset="-120"/>
              </a:rPr>
              <a:t>DRIFT</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 </a:t>
            </a:r>
            <a:pPr indent="0" marL="0">
              <a:lnSpc>
                <a:spcPct val="132000"/>
              </a:lnSpc>
              <a:buNone/>
            </a:pPr>
            <a:r>
              <a:rPr lang="en-US" sz="950" dirty="0">
                <a:solidFill>
                  <a:srgbClr val="43C47E"/>
                </a:solidFill>
                <a:latin typeface="Consolas" pitchFamily="34" charset="0"/>
                <a:ea typeface="Consolas" pitchFamily="34" charset="-122"/>
                <a:cs typeface="Consolas" pitchFamily="34" charset="-120"/>
              </a:rPr>
              <a:t>auto-applied</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docs + source moved the rule</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entry  </a:t>
            </a:r>
            <a:pPr indent="0" marL="0">
              <a:lnSpc>
                <a:spcPct val="132000"/>
              </a:lnSpc>
              <a:buNone/>
            </a:pPr>
            <a:r>
              <a:rPr lang="en-US" sz="950" dirty="0">
                <a:solidFill>
                  <a:srgbClr val="8B98F2"/>
                </a:solidFill>
                <a:latin typeface="Consolas" pitchFamily="34" charset="0"/>
                <a:ea typeface="Consolas" pitchFamily="34" charset="-122"/>
                <a:cs typeface="Consolas" pitchFamily="34" charset="-120"/>
              </a:rPr>
              <a:t>MISSING</a:t>
            </a:r>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 added</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entry  </a:t>
            </a:r>
            <a:pPr indent="0" marL="0">
              <a:lnSpc>
                <a:spcPct val="132000"/>
              </a:lnSpc>
              <a:buNone/>
            </a:pPr>
            <a:r>
              <a:rPr lang="en-US" sz="950" dirty="0">
                <a:solidFill>
                  <a:srgbClr val="E0AB53"/>
                </a:solidFill>
                <a:latin typeface="Consolas" pitchFamily="34" charset="0"/>
                <a:ea typeface="Consolas" pitchFamily="34" charset="-122"/>
                <a:cs typeface="Consolas" pitchFamily="34" charset="-120"/>
              </a:rPr>
              <a:t>CONTRADICTORY</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     → proposal, a human decides</a:t>
            </a:r>
            <a:endParaRPr lang="en-US" sz="950" dirty="0"/>
          </a:p>
          <a:p>
            <a:pPr indent="0" marL="0">
              <a:lnSpc>
                <a:spcPct val="132000"/>
              </a:lnSpc>
              <a:buNone/>
            </a:pPr>
            <a:r>
              <a:rPr lang="en-US" sz="950" dirty="0">
                <a:solidFill>
                  <a:srgbClr val="C5D2E2"/>
                </a:solidFill>
                <a:latin typeface="Consolas" pitchFamily="34" charset="0"/>
                <a:ea typeface="Consolas" pitchFamily="34" charset="-122"/>
                <a:cs typeface="Consolas" pitchFamily="34" charset="-120"/>
              </a:rPr>
              <a:t> </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oracle updated · audit trail written </a:t>
            </a:r>
            <a:pPr indent="0" marL="0">
              <a:lnSpc>
                <a:spcPct val="132000"/>
              </a:lnSpc>
              <a:buNone/>
            </a:pPr>
            <a:r>
              <a:rPr lang="en-US" sz="950" dirty="0">
                <a:solidFill>
                  <a:srgbClr val="43C47E"/>
                </a:solidFill>
                <a:latin typeface="Consolas" pitchFamily="34" charset="0"/>
                <a:ea typeface="Consolas" pitchFamily="34" charset="-122"/>
                <a:cs typeface="Consolas" pitchFamily="34" charset="-120"/>
              </a:rPr>
              <a:t>✓</a:t>
            </a:r>
            <a:endParaRPr lang="en-US" sz="950" dirty="0"/>
          </a:p>
          <a:p>
            <a:pPr indent="0" marL="0">
              <a:lnSpc>
                <a:spcPct val="132000"/>
              </a:lnSpc>
              <a:buNone/>
            </a:pPr>
            <a:r>
              <a:rPr lang="en-US" sz="950" dirty="0">
                <a:solidFill>
                  <a:srgbClr val="6A7C92"/>
                </a:solidFill>
                <a:latin typeface="Consolas" pitchFamily="34" charset="0"/>
                <a:ea typeface="Consolas" pitchFamily="34" charset="-122"/>
                <a:cs typeface="Consolas" pitchFamily="34" charset="-120"/>
              </a:rPr>
              <a:t>citation remap → /qa-review-tests --fix</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88952"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13 / 13</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WHERE THAT LEAVES US</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600" b="1" dirty="0">
                <a:solidFill>
                  <a:srgbClr val="16202E"/>
                </a:solidFill>
                <a:latin typeface="Segoe UI" pitchFamily="34" charset="0"/>
                <a:ea typeface="Segoe UI" pitchFamily="34" charset="-122"/>
                <a:cs typeface="Segoe UI" pitchFamily="34" charset="-120"/>
              </a:rPr>
              <a:t>A plugin we can hand over, and a pipeline that spends</a:t>
            </a:r>
            <a:endParaRPr lang="en-US" sz="2600" dirty="0"/>
          </a:p>
          <a:p>
            <a:pPr indent="0" marL="0">
              <a:buNone/>
            </a:pPr>
            <a:r>
              <a:rPr lang="en-US" sz="2600" b="1" dirty="0">
                <a:solidFill>
                  <a:srgbClr val="16202E"/>
                </a:solidFill>
                <a:latin typeface="Segoe UI" pitchFamily="34" charset="0"/>
                <a:ea typeface="Segoe UI" pitchFamily="34" charset="-122"/>
                <a:cs typeface="Segoe UI" pitchFamily="34" charset="-120"/>
              </a:rPr>
              <a:t>effort where it matters.</a:t>
            </a:r>
            <a:endParaRPr lang="en-US" sz="2600" dirty="0"/>
          </a:p>
        </p:txBody>
      </p:sp>
      <p:sp>
        <p:nvSpPr>
          <p:cNvPr id="7" name="Shape 5"/>
          <p:cNvSpPr/>
          <p:nvPr/>
        </p:nvSpPr>
        <p:spPr>
          <a:xfrm>
            <a:off x="658368" y="2514600"/>
            <a:ext cx="3441192" cy="2057400"/>
          </a:xfrm>
          <a:prstGeom prst="roundRect">
            <a:avLst>
              <a:gd name="adj" fmla="val 2667"/>
            </a:avLst>
          </a:prstGeom>
          <a:solidFill>
            <a:srgbClr val="FFFFFF"/>
          </a:solidFill>
          <a:ln w="6350">
            <a:solidFill>
              <a:srgbClr val="DBE3EC"/>
            </a:solidFill>
            <a:prstDash val="solid"/>
          </a:ln>
        </p:spPr>
      </p:sp>
      <p:sp>
        <p:nvSpPr>
          <p:cNvPr id="8" name="Shape 6"/>
          <p:cNvSpPr/>
          <p:nvPr/>
        </p:nvSpPr>
        <p:spPr>
          <a:xfrm>
            <a:off x="658368" y="2560320"/>
            <a:ext cx="41148" cy="1965960"/>
          </a:xfrm>
          <a:prstGeom prst="rect">
            <a:avLst/>
          </a:prstGeom>
          <a:solidFill>
            <a:srgbClr val="0F9D8F"/>
          </a:solidFill>
          <a:ln/>
        </p:spPr>
      </p:sp>
      <p:sp>
        <p:nvSpPr>
          <p:cNvPr id="9" name="Text 7"/>
          <p:cNvSpPr/>
          <p:nvPr/>
        </p:nvSpPr>
        <p:spPr>
          <a:xfrm>
            <a:off x="914400" y="2697480"/>
            <a:ext cx="298399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THE MARKETPLACE</a:t>
            </a:r>
            <a:endParaRPr lang="en-US" sz="800" dirty="0"/>
          </a:p>
        </p:txBody>
      </p:sp>
      <p:sp>
        <p:nvSpPr>
          <p:cNvPr id="10" name="Text 8"/>
          <p:cNvSpPr/>
          <p:nvPr/>
        </p:nvSpPr>
        <p:spPr>
          <a:xfrm>
            <a:off x="914400" y="2935224"/>
            <a:ext cx="298399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Two products, not one</a:t>
            </a:r>
            <a:endParaRPr lang="en-US" sz="1300" dirty="0"/>
          </a:p>
        </p:txBody>
      </p:sp>
      <p:sp>
        <p:nvSpPr>
          <p:cNvPr id="11" name="Text 9"/>
          <p:cNvSpPr/>
          <p:nvPr/>
        </p:nvSpPr>
        <p:spPr>
          <a:xfrm>
            <a:off x="914400" y="3319272"/>
            <a:ext cx="2983992" cy="106984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vc-fix is trustworthy enough to leave running on someone else's stack, and vc-perf gives performance work an instrument instead of an opinion.</a:t>
            </a:r>
            <a:endParaRPr lang="en-US" sz="950" dirty="0"/>
          </a:p>
        </p:txBody>
      </p:sp>
      <p:sp>
        <p:nvSpPr>
          <p:cNvPr id="12" name="Shape 10"/>
          <p:cNvSpPr/>
          <p:nvPr/>
        </p:nvSpPr>
        <p:spPr>
          <a:xfrm>
            <a:off x="4373880" y="2514600"/>
            <a:ext cx="3441192" cy="2057400"/>
          </a:xfrm>
          <a:prstGeom prst="roundRect">
            <a:avLst>
              <a:gd name="adj" fmla="val 2667"/>
            </a:avLst>
          </a:prstGeom>
          <a:solidFill>
            <a:srgbClr val="FFFFFF"/>
          </a:solidFill>
          <a:ln w="6350">
            <a:solidFill>
              <a:srgbClr val="DBE3EC"/>
            </a:solidFill>
            <a:prstDash val="solid"/>
          </a:ln>
        </p:spPr>
      </p:sp>
      <p:sp>
        <p:nvSpPr>
          <p:cNvPr id="13" name="Shape 11"/>
          <p:cNvSpPr/>
          <p:nvPr/>
        </p:nvSpPr>
        <p:spPr>
          <a:xfrm>
            <a:off x="4373880" y="2560320"/>
            <a:ext cx="41148" cy="1965960"/>
          </a:xfrm>
          <a:prstGeom prst="rect">
            <a:avLst/>
          </a:prstGeom>
          <a:solidFill>
            <a:srgbClr val="5566E0"/>
          </a:solidFill>
          <a:ln/>
        </p:spPr>
      </p:sp>
      <p:sp>
        <p:nvSpPr>
          <p:cNvPr id="14" name="Text 12"/>
          <p:cNvSpPr/>
          <p:nvPr/>
        </p:nvSpPr>
        <p:spPr>
          <a:xfrm>
            <a:off x="4629912" y="2697480"/>
            <a:ext cx="298399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THE PIPELINE</a:t>
            </a:r>
            <a:endParaRPr lang="en-US" sz="800" dirty="0"/>
          </a:p>
        </p:txBody>
      </p:sp>
      <p:sp>
        <p:nvSpPr>
          <p:cNvPr id="15" name="Text 13"/>
          <p:cNvSpPr/>
          <p:nvPr/>
        </p:nvSpPr>
        <p:spPr>
          <a:xfrm>
            <a:off x="4629912" y="2935224"/>
            <a:ext cx="298399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Proportionate by default</a:t>
            </a:r>
            <a:endParaRPr lang="en-US" sz="1300" dirty="0"/>
          </a:p>
        </p:txBody>
      </p:sp>
      <p:sp>
        <p:nvSpPr>
          <p:cNvPr id="16" name="Text 14"/>
          <p:cNvSpPr/>
          <p:nvPr/>
        </p:nvSpPr>
        <p:spPr>
          <a:xfrm>
            <a:off x="4629912" y="3319272"/>
            <a:ext cx="2983992" cy="106984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Effort tracks risk, a bug fix is verified rather than re-tested, and new cases reach the real suites in the same run that wrote them.</a:t>
            </a:r>
            <a:endParaRPr lang="en-US" sz="950" dirty="0"/>
          </a:p>
        </p:txBody>
      </p:sp>
      <p:sp>
        <p:nvSpPr>
          <p:cNvPr id="17" name="Shape 15"/>
          <p:cNvSpPr/>
          <p:nvPr/>
        </p:nvSpPr>
        <p:spPr>
          <a:xfrm>
            <a:off x="8089392" y="2514600"/>
            <a:ext cx="3441192" cy="2057400"/>
          </a:xfrm>
          <a:prstGeom prst="roundRect">
            <a:avLst>
              <a:gd name="adj" fmla="val 2667"/>
            </a:avLst>
          </a:prstGeom>
          <a:solidFill>
            <a:srgbClr val="FFFFFF"/>
          </a:solidFill>
          <a:ln w="6350">
            <a:solidFill>
              <a:srgbClr val="DBE3EC"/>
            </a:solidFill>
            <a:prstDash val="solid"/>
          </a:ln>
        </p:spPr>
      </p:sp>
      <p:sp>
        <p:nvSpPr>
          <p:cNvPr id="18" name="Shape 16"/>
          <p:cNvSpPr/>
          <p:nvPr/>
        </p:nvSpPr>
        <p:spPr>
          <a:xfrm>
            <a:off x="8089392" y="2560320"/>
            <a:ext cx="41148" cy="1965960"/>
          </a:xfrm>
          <a:prstGeom prst="rect">
            <a:avLst/>
          </a:prstGeom>
          <a:solidFill>
            <a:srgbClr val="1F9D57"/>
          </a:solidFill>
          <a:ln/>
        </p:spPr>
      </p:sp>
      <p:sp>
        <p:nvSpPr>
          <p:cNvPr id="19" name="Text 17"/>
          <p:cNvSpPr/>
          <p:nvPr/>
        </p:nvSpPr>
        <p:spPr>
          <a:xfrm>
            <a:off x="8345424" y="2697480"/>
            <a:ext cx="298399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THE PRINCIPLE</a:t>
            </a:r>
            <a:endParaRPr lang="en-US" sz="800" dirty="0"/>
          </a:p>
        </p:txBody>
      </p:sp>
      <p:sp>
        <p:nvSpPr>
          <p:cNvPr id="20" name="Text 18"/>
          <p:cNvSpPr/>
          <p:nvPr/>
        </p:nvSpPr>
        <p:spPr>
          <a:xfrm>
            <a:off x="8345424" y="2935224"/>
            <a:ext cx="298399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Independent where it counts</a:t>
            </a:r>
            <a:endParaRPr lang="en-US" sz="1300" dirty="0"/>
          </a:p>
        </p:txBody>
      </p:sp>
      <p:sp>
        <p:nvSpPr>
          <p:cNvPr id="21" name="Text 19"/>
          <p:cNvSpPr/>
          <p:nvPr/>
        </p:nvSpPr>
        <p:spPr>
          <a:xfrm>
            <a:off x="8345424" y="3319272"/>
            <a:ext cx="2983992" cy="106984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Judgement gates buy a second opinion from someone who wasn't involved; everything else is deterministic. Merge and release stay human.</a:t>
            </a:r>
            <a:endParaRPr lang="en-US" sz="950" dirty="0"/>
          </a:p>
        </p:txBody>
      </p:sp>
      <p:sp>
        <p:nvSpPr>
          <p:cNvPr id="22" name="Text 20"/>
          <p:cNvSpPr/>
          <p:nvPr/>
        </p:nvSpPr>
        <p:spPr>
          <a:xfrm>
            <a:off x="658368" y="5074920"/>
            <a:ext cx="10872216" cy="365760"/>
          </a:xfrm>
          <a:prstGeom prst="rect">
            <a:avLst/>
          </a:prstGeom>
          <a:noFill/>
          <a:ln/>
        </p:spPr>
        <p:txBody>
          <a:bodyPr wrap="square" rtlCol="0" anchor="ctr"/>
          <a:lstStyle/>
          <a:p>
            <a:pPr algn="ctr" indent="0" marL="0">
              <a:buNone/>
            </a:pPr>
            <a:r>
              <a:rPr lang="en-US" sz="1200" dirty="0">
                <a:solidFill>
                  <a:srgbClr val="4D5C70"/>
                </a:solidFill>
                <a:latin typeface="Consolas" pitchFamily="34" charset="0"/>
                <a:ea typeface="Consolas" pitchFamily="34" charset="-122"/>
                <a:cs typeface="Consolas" pitchFamily="34" charset="-120"/>
              </a:rPr>
              <a:t>Thank you  ·  questions &amp; live demo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Virto Commerce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26-15 Demo — Agentic QA</dc:title>
  <dc:subject>Sprint 26-15 — Agentic QA</dc:subject>
  <dc:creator>Virto Commerce QA Engineering</dc:creator>
  <cp:lastModifiedBy>Virto Commerce QA Engineering</cp:lastModifiedBy>
  <cp:revision>1</cp:revision>
  <dcterms:created xsi:type="dcterms:W3CDTF">2026-08-07T09:02:57Z</dcterms:created>
  <dcterms:modified xsi:type="dcterms:W3CDTF">2026-08-07T09:02:57Z</dcterms:modified>
</cp:coreProperties>
</file>