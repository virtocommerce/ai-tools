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30 seconds. One line of framing: 'last sprint we shipped a second plugin to customers; this sprint we fixed how we ourselves decide what to test.' Read the four numbers, give the running order, move on. Do NOT start explaining the axes here — slide 6 does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Section-one divider. Pause so the room resets. The one thing to say out loud: six pull requests all landed on ONE command, which is unusual and deliberate — /qa-test is where the cost of a bad decision compounds, because every case the pipeline writes lives in the corpus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IN THE DECK. Do not rush it. Walk the four numbers left to right and let the third one land — one case on the last link, written on the final day. Then the callout, which is the whole thesis: the ranker called that suite STRONG, because assertion strength asks 'can this check fail' and nothing was asking 'would anyone care'. If someone gets defensive, be explicit that no individual author did anything wrong — every case was defensible; the method was what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Point at the diagram rather than reading the bullets. Three passes: the chain along the middle, the single accent arrow above it that is the journey case, then the two brackets underneath — cases piled up under link one, nothing under link five. Then the killer line: EP, BVA, pairwise and the rest are parameter-space techniques; they refine a link that has ALREADY been named, and none of them can name the chain. If asked what enforces it: a planned row is rejected before authoring unless it names its observable, the customer-visible failure, and why that failure is plausible here — a null-hypothesis phrasing like 'could fail to render' is refused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vs FULL. The diagram is the argument — the accent arc IS the change. Say the measured part: most recorded runs take FAST, so leaving the expensive work marked 'both paths, always' meant the split saved nothing on the path everyone actually uses. Then the callout, which is the honest bit: we had made three axes mandatory on FAST on arguments that all had the same shape, and when we measured them they had blocked one run, one run, and zero. We reversed it. Revisit at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axes, as a table — read the column headings, then only the rows the room cares about. For engineers: 2d, because a stale contract has no symptom of its own, it just manufactures cases that fail later and get triaged as product defects. For leadership: 2e, which is the next slide anyway. The single rule to say out loud is the bottom callout: derived, never asked, never defaulted. The operator is not a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worked example, and the one people find counter-intuitive. Take the left column as a sequence — selection missed, the tier filter dropped the rest, and a row that never runs is never triaged. Then the right column, and spend your time on RE-BASE: the change under test is normally an UNMERGED pull request, so if you rewrite a case's expected value to match it before the run, the case can only pass. You have made the change its own oracle, in the very run that reports it green. REPAIR is safe because it moves the mechanics and not the oracle.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Section-two divider. Colour shifts to indigo. Reset: 'that was how we decide what to test; this is what it runs on.' Read the rail as the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Lead with the second sentence, not the first — the prize is verdict quality, not speed. A case riding a browser lane comes back BLOCKED for reasons about how it ran, not about the product, and those get triaged as if they were product failures. Point at the two dashed lanes: manual means a person runs this, deprecated means nobody does, and folding them together would make the manual count lie. The invariant list is the part to stress — the planned set comes from the classifier, so a lane that dies shows up as BLOCKED rather than as a smaller, greener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Oracles. Left column first, and let the number do the work: nothing had ever checked that a cited edge-case section existed, and the first run found twenty dangling references across about sixty-five live cases. Most were the library missing content, not authors being careless — worth saying, it changes how the room hears it. Right column: the value gate. The line that lands is 'thirty citations cannot carry a cosmetic rule into a file whose job is judging pass or fail'. If asked whether this deletes anything: no — low value is not evidence an entry is dead, and corrections apply regardless of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new knowledge surfaces. Pick two. The release ledger is the easiest to explain — our docs source stops about nine months behind production, so 'has this changed recently' was unanswerable. The functionality map is the one with the sharpest finding: forty-seven analysis documents on disk, one instruction telling one agent to skim them for duplicates, and a durable test-model folder that nothing ever opened — one surface ended up with two contradictory models. The blind-spot line on each card is the honest half; read at least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guards. Frame it as one story, not four fixes: each of these was a guarantee we had written down and were not enforcing. The YAML one is the best telling — a colon and a space inside an unquoted description, the parser gives up, the skill loads with empty metadata, and it sat there for a month because nothing looked. Then land the general form: a guard nobody runs is a comment. If someone asks about the base64 one, it is the reverse failure — a check so eager it blocks on a harmless value, which is how you teach a team to turn checks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Tickets, so the room can see the process work was not academic. Do not read all six — say that VCST-5320 is where the diagnosis came from and VCST-5735 is the first ticket driven end to end by the new design step. Close on the kicker: the in-flight run found that our own design axis needs a signed-in browser lane, which is the tooling catching a defect in the tooling. That is the loop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cards and the one sentence above them — stop trusting that something was checked, make it checkable, then check it. Design, scope, cost. End by repeating that merge and release are still human, then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870639"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1 / 14</a:t>
            </a:r>
            <a:endParaRPr lang="en-US" sz="900" dirty="0"/>
          </a:p>
        </p:txBody>
      </p:sp>
      <p:sp>
        <p:nvSpPr>
          <p:cNvPr id="4" name="Shape 2"/>
          <p:cNvSpPr/>
          <p:nvPr/>
        </p:nvSpPr>
        <p:spPr>
          <a:xfrm>
            <a:off x="658368" y="566928"/>
            <a:ext cx="237744" cy="25603"/>
          </a:xfrm>
          <a:prstGeom prst="rect">
            <a:avLst/>
          </a:prstGeom>
          <a:solidFill>
            <a:srgbClr val="0F9D8F"/>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0A6E64"/>
                </a:solidFill>
                <a:latin typeface="Consolas" pitchFamily="34" charset="0"/>
                <a:ea typeface="Consolas" pitchFamily="34" charset="-122"/>
                <a:cs typeface="Consolas" pitchFamily="34" charset="-120"/>
              </a:rPr>
              <a:t>SPRINT 26-17 · AGENTIC QA</a:t>
            </a:r>
            <a:endParaRPr lang="en-US" sz="950" dirty="0"/>
          </a:p>
        </p:txBody>
      </p:sp>
      <p:sp>
        <p:nvSpPr>
          <p:cNvPr id="6" name="Text 4"/>
          <p:cNvSpPr/>
          <p:nvPr/>
        </p:nvSpPr>
        <p:spPr>
          <a:xfrm>
            <a:off x="658368" y="1051560"/>
            <a:ext cx="10872216" cy="1554480"/>
          </a:xfrm>
          <a:prstGeom prst="rect">
            <a:avLst/>
          </a:prstGeom>
          <a:noFill/>
          <a:ln/>
        </p:spPr>
        <p:txBody>
          <a:bodyPr wrap="square" rtlCol="0" anchor="t"/>
          <a:lstStyle/>
          <a:p>
            <a:pPr indent="0" marL="0">
              <a:lnSpc>
                <a:spcPct val="102000"/>
              </a:lnSpc>
              <a:buNone/>
            </a:pPr>
            <a:r>
              <a:rPr lang="en-US" sz="4200" b="1" dirty="0">
                <a:solidFill>
                  <a:srgbClr val="16202E"/>
                </a:solidFill>
                <a:latin typeface="Segoe UI" pitchFamily="34" charset="0"/>
                <a:ea typeface="Segoe UI" pitchFamily="34" charset="-122"/>
                <a:cs typeface="Segoe UI" pitchFamily="34" charset="-120"/>
              </a:rPr>
              <a:t>The pipeline learned what to</a:t>
            </a:r>
            <a:endParaRPr lang="en-US" sz="4200" dirty="0"/>
          </a:p>
          <a:p>
            <a:pPr indent="0" marL="0">
              <a:lnSpc>
                <a:spcPct val="102000"/>
              </a:lnSpc>
              <a:buNone/>
            </a:pPr>
            <a:r>
              <a:rPr lang="en-US" sz="4200" b="1" dirty="0">
                <a:solidFill>
                  <a:srgbClr val="16202E"/>
                </a:solidFill>
                <a:latin typeface="Segoe UI" pitchFamily="34" charset="0"/>
                <a:ea typeface="Segoe UI" pitchFamily="34" charset="-122"/>
                <a:cs typeface="Segoe UI" pitchFamily="34" charset="-120"/>
              </a:rPr>
              <a:t>look at, before it looks.</a:t>
            </a:r>
            <a:endParaRPr lang="en-US" sz="4200" dirty="0"/>
          </a:p>
        </p:txBody>
      </p:sp>
      <p:sp>
        <p:nvSpPr>
          <p:cNvPr id="7" name="Text 5"/>
          <p:cNvSpPr/>
          <p:nvPr/>
        </p:nvSpPr>
        <p:spPr>
          <a:xfrm>
            <a:off x="658368" y="2743200"/>
            <a:ext cx="8595360" cy="868680"/>
          </a:xfrm>
          <a:prstGeom prst="rect">
            <a:avLst/>
          </a:prstGeom>
          <a:noFill/>
          <a:ln/>
        </p:spPr>
        <p:txBody>
          <a:bodyPr wrap="square" rtlCol="0" anchor="t"/>
          <a:lstStyle/>
          <a:p>
            <a:pPr indent="0" marL="0">
              <a:lnSpc>
                <a:spcPct val="125000"/>
              </a:lnSpc>
              <a:buNone/>
            </a:pPr>
            <a:r>
              <a:rPr lang="en-US" sz="1350" dirty="0">
                <a:solidFill>
                  <a:srgbClr val="4D5C70"/>
                </a:solidFill>
                <a:latin typeface="Segoe UI" pitchFamily="34" charset="0"/>
                <a:ea typeface="Segoe UI" pitchFamily="34" charset="-122"/>
                <a:cs typeface="Segoe UI" pitchFamily="34" charset="-120"/>
              </a:rPr>
              <a:t>Last sprint the marketplace gained a second plugin. This sprint the internal pipeline gained a memory and a set of eyes: it reads what already exists, names the mechanism under test before it writes a single case, and checks four things about the change that nothing was checking at all.</a:t>
            </a:r>
            <a:endParaRPr lang="en-US" sz="1350" dirty="0"/>
          </a:p>
        </p:txBody>
      </p:sp>
      <p:sp>
        <p:nvSpPr>
          <p:cNvPr id="8" name="Shape 6"/>
          <p:cNvSpPr/>
          <p:nvPr/>
        </p:nvSpPr>
        <p:spPr>
          <a:xfrm>
            <a:off x="658368" y="3886200"/>
            <a:ext cx="10872216" cy="0"/>
          </a:xfrm>
          <a:prstGeom prst="line">
            <a:avLst/>
          </a:prstGeom>
          <a:noFill/>
          <a:ln w="9525">
            <a:solidFill>
              <a:srgbClr val="DBE3EC"/>
            </a:solidFill>
            <a:prstDash val="solid"/>
          </a:ln>
        </p:spPr>
      </p:sp>
      <p:sp>
        <p:nvSpPr>
          <p:cNvPr id="9" name="Shape 7"/>
          <p:cNvSpPr/>
          <p:nvPr/>
        </p:nvSpPr>
        <p:spPr>
          <a:xfrm>
            <a:off x="658368" y="4800600"/>
            <a:ext cx="10872216" cy="0"/>
          </a:xfrm>
          <a:prstGeom prst="line">
            <a:avLst/>
          </a:prstGeom>
          <a:noFill/>
          <a:ln w="9525">
            <a:solidFill>
              <a:srgbClr val="DBE3EC"/>
            </a:solidFill>
            <a:prstDash val="solid"/>
          </a:ln>
        </p:spPr>
      </p:sp>
      <p:sp>
        <p:nvSpPr>
          <p:cNvPr id="10" name="Text 8"/>
          <p:cNvSpPr/>
          <p:nvPr/>
        </p:nvSpPr>
        <p:spPr>
          <a:xfrm>
            <a:off x="658368" y="4041648"/>
            <a:ext cx="2468880" cy="384048"/>
          </a:xfrm>
          <a:prstGeom prst="rect">
            <a:avLst/>
          </a:prstGeom>
          <a:noFill/>
          <a:ln/>
        </p:spPr>
        <p:txBody>
          <a:bodyPr wrap="square" rtlCol="0" anchor="t"/>
          <a:lstStyle/>
          <a:p>
            <a:pPr indent="0" marL="0">
              <a:buNone/>
            </a:pPr>
            <a:r>
              <a:rPr lang="en-US" sz="2200" b="1" dirty="0">
                <a:solidFill>
                  <a:srgbClr val="16202E"/>
                </a:solidFill>
                <a:latin typeface="Consolas" pitchFamily="34" charset="0"/>
                <a:ea typeface="Consolas" pitchFamily="34" charset="-122"/>
                <a:cs typeface="Consolas" pitchFamily="34" charset="-120"/>
              </a:rPr>
              <a:t>26</a:t>
            </a:r>
            <a:endParaRPr lang="en-US" sz="2200" dirty="0"/>
          </a:p>
        </p:txBody>
      </p:sp>
      <p:sp>
        <p:nvSpPr>
          <p:cNvPr id="11" name="Text 9"/>
          <p:cNvSpPr/>
          <p:nvPr/>
        </p:nvSpPr>
        <p:spPr>
          <a:xfrm>
            <a:off x="658368" y="4443984"/>
            <a:ext cx="2468880" cy="219456"/>
          </a:xfrm>
          <a:prstGeom prst="rect">
            <a:avLst/>
          </a:prstGeom>
          <a:noFill/>
          <a:ln/>
        </p:spPr>
        <p:txBody>
          <a:bodyPr wrap="square" rtlCol="0" anchor="ctr"/>
          <a:lstStyle/>
          <a:p>
            <a:pPr indent="0" marL="0">
              <a:buNone/>
            </a:pPr>
            <a:r>
              <a:rPr lang="en-US" sz="800" b="1" spc="160" kern="0" dirty="0">
                <a:solidFill>
                  <a:srgbClr val="7C8AA0"/>
                </a:solidFill>
                <a:latin typeface="Consolas" pitchFamily="34" charset="0"/>
                <a:ea typeface="Consolas" pitchFamily="34" charset="-122"/>
                <a:cs typeface="Consolas" pitchFamily="34" charset="-120"/>
              </a:rPr>
              <a:t>PRS MERGED</a:t>
            </a:r>
            <a:endParaRPr lang="en-US" sz="800" dirty="0"/>
          </a:p>
        </p:txBody>
      </p:sp>
      <p:sp>
        <p:nvSpPr>
          <p:cNvPr id="12" name="Shape 10"/>
          <p:cNvSpPr/>
          <p:nvPr/>
        </p:nvSpPr>
        <p:spPr>
          <a:xfrm>
            <a:off x="3090672" y="4005072"/>
            <a:ext cx="0" cy="713232"/>
          </a:xfrm>
          <a:prstGeom prst="line">
            <a:avLst/>
          </a:prstGeom>
          <a:noFill/>
          <a:ln w="9525">
            <a:solidFill>
              <a:srgbClr val="DBE3EC"/>
            </a:solidFill>
            <a:prstDash val="solid"/>
          </a:ln>
        </p:spPr>
      </p:sp>
      <p:sp>
        <p:nvSpPr>
          <p:cNvPr id="13" name="Text 11"/>
          <p:cNvSpPr/>
          <p:nvPr/>
        </p:nvSpPr>
        <p:spPr>
          <a:xfrm>
            <a:off x="3310128" y="4041648"/>
            <a:ext cx="2468880" cy="384048"/>
          </a:xfrm>
          <a:prstGeom prst="rect">
            <a:avLst/>
          </a:prstGeom>
          <a:noFill/>
          <a:ln/>
        </p:spPr>
        <p:txBody>
          <a:bodyPr wrap="square" rtlCol="0" anchor="t"/>
          <a:lstStyle/>
          <a:p>
            <a:pPr indent="0" marL="0">
              <a:buNone/>
            </a:pPr>
            <a:r>
              <a:rPr lang="en-US" sz="2200" b="1" dirty="0">
                <a:solidFill>
                  <a:srgbClr val="16202E"/>
                </a:solidFill>
                <a:latin typeface="Consolas" pitchFamily="34" charset="0"/>
                <a:ea typeface="Consolas" pitchFamily="34" charset="-122"/>
                <a:cs typeface="Consolas" pitchFamily="34" charset="-120"/>
              </a:rPr>
              <a:t>5</a:t>
            </a:r>
            <a:endParaRPr lang="en-US" sz="2200" dirty="0"/>
          </a:p>
        </p:txBody>
      </p:sp>
      <p:sp>
        <p:nvSpPr>
          <p:cNvPr id="14" name="Text 12"/>
          <p:cNvSpPr/>
          <p:nvPr/>
        </p:nvSpPr>
        <p:spPr>
          <a:xfrm>
            <a:off x="3310128" y="4443984"/>
            <a:ext cx="2468880" cy="219456"/>
          </a:xfrm>
          <a:prstGeom prst="rect">
            <a:avLst/>
          </a:prstGeom>
          <a:noFill/>
          <a:ln/>
        </p:spPr>
        <p:txBody>
          <a:bodyPr wrap="square" rtlCol="0" anchor="ctr"/>
          <a:lstStyle/>
          <a:p>
            <a:pPr indent="0" marL="0">
              <a:buNone/>
            </a:pPr>
            <a:r>
              <a:rPr lang="en-US" sz="800" b="1" spc="160" kern="0" dirty="0">
                <a:solidFill>
                  <a:srgbClr val="7C8AA0"/>
                </a:solidFill>
                <a:latin typeface="Consolas" pitchFamily="34" charset="0"/>
                <a:ea typeface="Consolas" pitchFamily="34" charset="-122"/>
                <a:cs typeface="Consolas" pitchFamily="34" charset="-120"/>
              </a:rPr>
              <a:t>PRE-FLIGHT AXES</a:t>
            </a:r>
            <a:endParaRPr lang="en-US" sz="800" dirty="0"/>
          </a:p>
        </p:txBody>
      </p:sp>
      <p:sp>
        <p:nvSpPr>
          <p:cNvPr id="15" name="Shape 13"/>
          <p:cNvSpPr/>
          <p:nvPr/>
        </p:nvSpPr>
        <p:spPr>
          <a:xfrm>
            <a:off x="5742432" y="4005072"/>
            <a:ext cx="0" cy="713232"/>
          </a:xfrm>
          <a:prstGeom prst="line">
            <a:avLst/>
          </a:prstGeom>
          <a:noFill/>
          <a:ln w="9525">
            <a:solidFill>
              <a:srgbClr val="DBE3EC"/>
            </a:solidFill>
            <a:prstDash val="solid"/>
          </a:ln>
        </p:spPr>
      </p:sp>
      <p:sp>
        <p:nvSpPr>
          <p:cNvPr id="16" name="Text 14"/>
          <p:cNvSpPr/>
          <p:nvPr/>
        </p:nvSpPr>
        <p:spPr>
          <a:xfrm>
            <a:off x="5961888" y="4041648"/>
            <a:ext cx="2468880" cy="384048"/>
          </a:xfrm>
          <a:prstGeom prst="rect">
            <a:avLst/>
          </a:prstGeom>
          <a:noFill/>
          <a:ln/>
        </p:spPr>
        <p:txBody>
          <a:bodyPr wrap="square" rtlCol="0" anchor="t"/>
          <a:lstStyle/>
          <a:p>
            <a:pPr indent="0" marL="0">
              <a:buNone/>
            </a:pPr>
            <a:r>
              <a:rPr lang="en-US" sz="2200" b="1" dirty="0">
                <a:solidFill>
                  <a:srgbClr val="16202E"/>
                </a:solidFill>
                <a:latin typeface="Consolas" pitchFamily="34" charset="0"/>
                <a:ea typeface="Consolas" pitchFamily="34" charset="-122"/>
                <a:cs typeface="Consolas" pitchFamily="34" charset="-120"/>
              </a:rPr>
              <a:t>2</a:t>
            </a:r>
            <a:endParaRPr lang="en-US" sz="2200" dirty="0"/>
          </a:p>
        </p:txBody>
      </p:sp>
      <p:sp>
        <p:nvSpPr>
          <p:cNvPr id="17" name="Text 15"/>
          <p:cNvSpPr/>
          <p:nvPr/>
        </p:nvSpPr>
        <p:spPr>
          <a:xfrm>
            <a:off x="5961888" y="4443984"/>
            <a:ext cx="2468880" cy="219456"/>
          </a:xfrm>
          <a:prstGeom prst="rect">
            <a:avLst/>
          </a:prstGeom>
          <a:noFill/>
          <a:ln/>
        </p:spPr>
        <p:txBody>
          <a:bodyPr wrap="square" rtlCol="0" anchor="ctr"/>
          <a:lstStyle/>
          <a:p>
            <a:pPr indent="0" marL="0">
              <a:buNone/>
            </a:pPr>
            <a:r>
              <a:rPr lang="en-US" sz="800" b="1" spc="160" kern="0" dirty="0">
                <a:solidFill>
                  <a:srgbClr val="7C8AA0"/>
                </a:solidFill>
                <a:latin typeface="Consolas" pitchFamily="34" charset="0"/>
                <a:ea typeface="Consolas" pitchFamily="34" charset="-122"/>
                <a:cs typeface="Consolas" pitchFamily="34" charset="-120"/>
              </a:rPr>
              <a:t>PATHS, SHARPLY SPLIT</a:t>
            </a:r>
            <a:endParaRPr lang="en-US" sz="800" dirty="0"/>
          </a:p>
        </p:txBody>
      </p:sp>
      <p:sp>
        <p:nvSpPr>
          <p:cNvPr id="18" name="Shape 16"/>
          <p:cNvSpPr/>
          <p:nvPr/>
        </p:nvSpPr>
        <p:spPr>
          <a:xfrm>
            <a:off x="8394192" y="4005072"/>
            <a:ext cx="0" cy="713232"/>
          </a:xfrm>
          <a:prstGeom prst="line">
            <a:avLst/>
          </a:prstGeom>
          <a:noFill/>
          <a:ln w="9525">
            <a:solidFill>
              <a:srgbClr val="DBE3EC"/>
            </a:solidFill>
            <a:prstDash val="solid"/>
          </a:ln>
        </p:spPr>
      </p:sp>
      <p:sp>
        <p:nvSpPr>
          <p:cNvPr id="19" name="Text 17"/>
          <p:cNvSpPr/>
          <p:nvPr/>
        </p:nvSpPr>
        <p:spPr>
          <a:xfrm>
            <a:off x="8613648" y="4041648"/>
            <a:ext cx="2468880" cy="384048"/>
          </a:xfrm>
          <a:prstGeom prst="rect">
            <a:avLst/>
          </a:prstGeom>
          <a:noFill/>
          <a:ln/>
        </p:spPr>
        <p:txBody>
          <a:bodyPr wrap="square" rtlCol="0" anchor="t"/>
          <a:lstStyle/>
          <a:p>
            <a:pPr indent="0" marL="0">
              <a:buNone/>
            </a:pPr>
            <a:r>
              <a:rPr lang="en-US" sz="2200" b="1" dirty="0">
                <a:solidFill>
                  <a:srgbClr val="16202E"/>
                </a:solidFill>
                <a:latin typeface="Consolas" pitchFamily="34" charset="0"/>
                <a:ea typeface="Consolas" pitchFamily="34" charset="-122"/>
                <a:cs typeface="Consolas" pitchFamily="34" charset="-120"/>
              </a:rPr>
              <a:t>3</a:t>
            </a:r>
            <a:endParaRPr lang="en-US" sz="2200" dirty="0"/>
          </a:p>
        </p:txBody>
      </p:sp>
      <p:sp>
        <p:nvSpPr>
          <p:cNvPr id="20" name="Text 18"/>
          <p:cNvSpPr/>
          <p:nvPr/>
        </p:nvSpPr>
        <p:spPr>
          <a:xfrm>
            <a:off x="8613648" y="4443984"/>
            <a:ext cx="2468880" cy="219456"/>
          </a:xfrm>
          <a:prstGeom prst="rect">
            <a:avLst/>
          </a:prstGeom>
          <a:noFill/>
          <a:ln/>
        </p:spPr>
        <p:txBody>
          <a:bodyPr wrap="square" rtlCol="0" anchor="ctr"/>
          <a:lstStyle/>
          <a:p>
            <a:pPr indent="0" marL="0">
              <a:buNone/>
            </a:pPr>
            <a:r>
              <a:rPr lang="en-US" sz="800" b="1" spc="160" kern="0" dirty="0">
                <a:solidFill>
                  <a:srgbClr val="7C8AA0"/>
                </a:solidFill>
                <a:latin typeface="Consolas" pitchFamily="34" charset="0"/>
                <a:ea typeface="Consolas" pitchFamily="34" charset="-122"/>
                <a:cs typeface="Consolas" pitchFamily="34" charset="-120"/>
              </a:rPr>
              <a:t>VERIFIER GATES</a:t>
            </a:r>
            <a:endParaRPr lang="en-US" sz="800" dirty="0"/>
          </a:p>
        </p:txBody>
      </p:sp>
      <p:sp>
        <p:nvSpPr>
          <p:cNvPr id="21" name="Text 19"/>
          <p:cNvSpPr/>
          <p:nvPr/>
        </p:nvSpPr>
        <p:spPr>
          <a:xfrm>
            <a:off x="658368" y="5074920"/>
            <a:ext cx="10872216" cy="274320"/>
          </a:xfrm>
          <a:prstGeom prst="rect">
            <a:avLst/>
          </a:prstGeom>
          <a:noFill/>
          <a:ln/>
        </p:spPr>
        <p:txBody>
          <a:bodyPr wrap="square" rtlCol="0" anchor="ctr"/>
          <a:lstStyle/>
          <a:p>
            <a:pPr indent="0" marL="0">
              <a:buNone/>
            </a:pPr>
            <a:r>
              <a:rPr lang="en-US" sz="1050" dirty="0">
                <a:solidFill>
                  <a:srgbClr val="4D5C70"/>
                </a:solidFill>
                <a:latin typeface="Consolas" pitchFamily="34" charset="0"/>
                <a:ea typeface="Consolas" pitchFamily="34" charset="-122"/>
                <a:cs typeface="Consolas" pitchFamily="34" charset="-120"/>
              </a:rPr>
              <a:t>Running order:  why the corpus measured the wrong thing  →  the fault model and the five axes  →  the machinery underneath  →  questions.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741279"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2 / 14</a:t>
            </a:r>
            <a:endParaRPr lang="en-US" sz="900" dirty="0"/>
          </a:p>
        </p:txBody>
      </p:sp>
      <p:sp>
        <p:nvSpPr>
          <p:cNvPr id="4" name="Shape 2"/>
          <p:cNvSpPr/>
          <p:nvPr/>
        </p:nvSpPr>
        <p:spPr>
          <a:xfrm>
            <a:off x="6949440" y="0"/>
            <a:ext cx="5239512" cy="3108960"/>
          </a:xfrm>
          <a:prstGeom prst="rect">
            <a:avLst/>
          </a:prstGeom>
          <a:solidFill>
            <a:srgbClr val="E2F4F1"/>
          </a:solidFill>
          <a:ln/>
        </p:spPr>
      </p:sp>
      <p:sp>
        <p:nvSpPr>
          <p:cNvPr id="5" name="Text 3"/>
          <p:cNvSpPr/>
          <p:nvPr/>
        </p:nvSpPr>
        <p:spPr>
          <a:xfrm>
            <a:off x="658368" y="1965960"/>
            <a:ext cx="10872216" cy="274320"/>
          </a:xfrm>
          <a:prstGeom prst="rect">
            <a:avLst/>
          </a:prstGeom>
          <a:noFill/>
          <a:ln/>
        </p:spPr>
        <p:txBody>
          <a:bodyPr wrap="square" rtlCol="0" anchor="ctr"/>
          <a:lstStyle/>
          <a:p>
            <a:pPr indent="0" marL="0">
              <a:buNone/>
            </a:pPr>
            <a:r>
              <a:rPr lang="en-US" sz="1000" b="1" spc="240" kern="0" dirty="0">
                <a:solidFill>
                  <a:srgbClr val="7C8AA0"/>
                </a:solidFill>
                <a:latin typeface="Consolas" pitchFamily="34" charset="0"/>
                <a:ea typeface="Consolas" pitchFamily="34" charset="-122"/>
                <a:cs typeface="Consolas" pitchFamily="34" charset="-120"/>
              </a:rPr>
              <a:t>SECTION ONE</a:t>
            </a:r>
            <a:endParaRPr lang="en-US" sz="1000" dirty="0"/>
          </a:p>
        </p:txBody>
      </p:sp>
      <p:sp>
        <p:nvSpPr>
          <p:cNvPr id="6" name="Text 4"/>
          <p:cNvSpPr/>
          <p:nvPr/>
        </p:nvSpPr>
        <p:spPr>
          <a:xfrm>
            <a:off x="658368" y="2286000"/>
            <a:ext cx="7680960" cy="914400"/>
          </a:xfrm>
          <a:prstGeom prst="rect">
            <a:avLst/>
          </a:prstGeom>
          <a:noFill/>
          <a:ln/>
        </p:spPr>
        <p:txBody>
          <a:bodyPr wrap="square" rtlCol="0" anchor="t"/>
          <a:lstStyle/>
          <a:p>
            <a:pPr indent="0" marL="0">
              <a:lnSpc>
                <a:spcPct val="102000"/>
              </a:lnSpc>
              <a:buNone/>
            </a:pPr>
            <a:r>
              <a:rPr lang="en-US" sz="4200" b="1" dirty="0">
                <a:solidFill>
                  <a:srgbClr val="16202E"/>
                </a:solidFill>
                <a:latin typeface="Segoe UI" pitchFamily="34" charset="0"/>
                <a:ea typeface="Segoe UI" pitchFamily="34" charset="-122"/>
                <a:cs typeface="Segoe UI" pitchFamily="34" charset="-120"/>
              </a:rPr>
              <a:t>/qa-test grew up</a:t>
            </a:r>
            <a:endParaRPr lang="en-US" sz="4200" dirty="0"/>
          </a:p>
        </p:txBody>
      </p:sp>
      <p:sp>
        <p:nvSpPr>
          <p:cNvPr id="7" name="Text 5"/>
          <p:cNvSpPr/>
          <p:nvPr/>
        </p:nvSpPr>
        <p:spPr>
          <a:xfrm>
            <a:off x="658368" y="3520440"/>
            <a:ext cx="7498080" cy="731520"/>
          </a:xfrm>
          <a:prstGeom prst="rect">
            <a:avLst/>
          </a:prstGeom>
          <a:noFill/>
          <a:ln/>
        </p:spPr>
        <p:txBody>
          <a:bodyPr wrap="square" rtlCol="0" anchor="t"/>
          <a:lstStyle/>
          <a:p>
            <a:pPr indent="0" marL="0">
              <a:lnSpc>
                <a:spcPct val="125000"/>
              </a:lnSpc>
              <a:buNone/>
            </a:pPr>
            <a:r>
              <a:rPr lang="en-US" sz="1300" dirty="0">
                <a:solidFill>
                  <a:srgbClr val="4D5C70"/>
                </a:solidFill>
                <a:latin typeface="Segoe UI" pitchFamily="34" charset="0"/>
                <a:ea typeface="Segoe UI" pitchFamily="34" charset="-122"/>
                <a:cs typeface="Segoe UI" pitchFamily="34" charset="-120"/>
              </a:rPr>
              <a:t>Six PRs on one command. It stopped being a script that walks screens and became a pipeline that names a mechanism, derives what to check, and spends effort in proportion to what is actually at risk.</a:t>
            </a:r>
            <a:endParaRPr lang="en-US" sz="1300" dirty="0"/>
          </a:p>
        </p:txBody>
      </p:sp>
      <p:sp>
        <p:nvSpPr>
          <p:cNvPr id="8" name="Shape 6"/>
          <p:cNvSpPr/>
          <p:nvPr/>
        </p:nvSpPr>
        <p:spPr>
          <a:xfrm>
            <a:off x="658368" y="4663440"/>
            <a:ext cx="1697126" cy="310896"/>
          </a:xfrm>
          <a:prstGeom prst="roundRect">
            <a:avLst>
              <a:gd name="adj" fmla="val 14706"/>
            </a:avLst>
          </a:prstGeom>
          <a:solidFill>
            <a:srgbClr val="FFFFFF"/>
          </a:solidFill>
          <a:ln w="6350">
            <a:solidFill>
              <a:srgbClr val="DBE3EC"/>
            </a:solidFill>
            <a:prstDash val="solid"/>
          </a:ln>
        </p:spPr>
      </p:sp>
      <p:sp>
        <p:nvSpPr>
          <p:cNvPr id="9" name="Text 7"/>
          <p:cNvSpPr/>
          <p:nvPr/>
        </p:nvSpPr>
        <p:spPr>
          <a:xfrm>
            <a:off x="658368" y="4663440"/>
            <a:ext cx="1697126"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Step 1e — a fault model</a:t>
            </a:r>
            <a:endParaRPr lang="en-US" sz="900" dirty="0"/>
          </a:p>
        </p:txBody>
      </p:sp>
      <p:sp>
        <p:nvSpPr>
          <p:cNvPr id="10" name="Shape 8"/>
          <p:cNvSpPr/>
          <p:nvPr/>
        </p:nvSpPr>
        <p:spPr>
          <a:xfrm>
            <a:off x="2465222" y="4663440"/>
            <a:ext cx="1038758" cy="310896"/>
          </a:xfrm>
          <a:prstGeom prst="roundRect">
            <a:avLst>
              <a:gd name="adj" fmla="val 14706"/>
            </a:avLst>
          </a:prstGeom>
          <a:solidFill>
            <a:srgbClr val="FFFFFF"/>
          </a:solidFill>
          <a:ln w="6350">
            <a:solidFill>
              <a:srgbClr val="DBE3EC"/>
            </a:solidFill>
            <a:prstDash val="solid"/>
          </a:ln>
        </p:spPr>
      </p:sp>
      <p:sp>
        <p:nvSpPr>
          <p:cNvPr id="11" name="Text 9"/>
          <p:cNvSpPr/>
          <p:nvPr/>
        </p:nvSpPr>
        <p:spPr>
          <a:xfrm>
            <a:off x="2465222" y="4663440"/>
            <a:ext cx="1038758"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FAST restored</a:t>
            </a:r>
            <a:endParaRPr lang="en-US" sz="900" dirty="0"/>
          </a:p>
        </p:txBody>
      </p:sp>
      <p:sp>
        <p:nvSpPr>
          <p:cNvPr id="12" name="Shape 10"/>
          <p:cNvSpPr/>
          <p:nvPr/>
        </p:nvSpPr>
        <p:spPr>
          <a:xfrm>
            <a:off x="3613709" y="4663440"/>
            <a:ext cx="1104595" cy="310896"/>
          </a:xfrm>
          <a:prstGeom prst="roundRect">
            <a:avLst>
              <a:gd name="adj" fmla="val 14706"/>
            </a:avLst>
          </a:prstGeom>
          <a:solidFill>
            <a:srgbClr val="FFFFFF"/>
          </a:solidFill>
          <a:ln w="6350">
            <a:solidFill>
              <a:srgbClr val="DBE3EC"/>
            </a:solidFill>
            <a:prstDash val="solid"/>
          </a:ln>
        </p:spPr>
      </p:sp>
      <p:sp>
        <p:nvSpPr>
          <p:cNvPr id="13" name="Text 11"/>
          <p:cNvSpPr/>
          <p:nvPr/>
        </p:nvSpPr>
        <p:spPr>
          <a:xfrm>
            <a:off x="3613709" y="4663440"/>
            <a:ext cx="1104595"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5 derived axes</a:t>
            </a:r>
            <a:endParaRPr lang="en-US" sz="900" dirty="0"/>
          </a:p>
        </p:txBody>
      </p:sp>
      <p:sp>
        <p:nvSpPr>
          <p:cNvPr id="14" name="Shape 12"/>
          <p:cNvSpPr/>
          <p:nvPr/>
        </p:nvSpPr>
        <p:spPr>
          <a:xfrm>
            <a:off x="4828032" y="4663440"/>
            <a:ext cx="1302106" cy="310896"/>
          </a:xfrm>
          <a:prstGeom prst="roundRect">
            <a:avLst>
              <a:gd name="adj" fmla="val 14706"/>
            </a:avLst>
          </a:prstGeom>
          <a:solidFill>
            <a:srgbClr val="FFFFFF"/>
          </a:solidFill>
          <a:ln w="6350">
            <a:solidFill>
              <a:srgbClr val="DBE3EC"/>
            </a:solidFill>
            <a:prstDash val="solid"/>
          </a:ln>
        </p:spPr>
      </p:sp>
      <p:sp>
        <p:nvSpPr>
          <p:cNvPr id="15" name="Text 13"/>
          <p:cNvSpPr/>
          <p:nvPr/>
        </p:nvSpPr>
        <p:spPr>
          <a:xfrm>
            <a:off x="4828032" y="4663440"/>
            <a:ext cx="1302106"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discovery lane 3x</a:t>
            </a:r>
            <a:endParaRPr lang="en-US" sz="900" dirty="0"/>
          </a:p>
        </p:txBody>
      </p:sp>
      <p:sp>
        <p:nvSpPr>
          <p:cNvPr id="16" name="Shape 14"/>
          <p:cNvSpPr/>
          <p:nvPr/>
        </p:nvSpPr>
        <p:spPr>
          <a:xfrm>
            <a:off x="6239866" y="4663440"/>
            <a:ext cx="1302106" cy="310896"/>
          </a:xfrm>
          <a:prstGeom prst="roundRect">
            <a:avLst>
              <a:gd name="adj" fmla="val 14706"/>
            </a:avLst>
          </a:prstGeom>
          <a:solidFill>
            <a:srgbClr val="FFFFFF"/>
          </a:solidFill>
          <a:ln w="6350">
            <a:solidFill>
              <a:srgbClr val="DBE3EC"/>
            </a:solidFill>
            <a:prstDash val="solid"/>
          </a:ln>
        </p:spPr>
      </p:sp>
      <p:sp>
        <p:nvSpPr>
          <p:cNvPr id="17" name="Text 15"/>
          <p:cNvSpPr/>
          <p:nvPr/>
        </p:nvSpPr>
        <p:spPr>
          <a:xfrm>
            <a:off x="6239866" y="4663440"/>
            <a:ext cx="1302106"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--iterate round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2611918"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3 / 14</a:t>
            </a:r>
            <a:endParaRPr lang="en-US" sz="900" dirty="0"/>
          </a:p>
        </p:txBody>
      </p:sp>
      <p:sp>
        <p:nvSpPr>
          <p:cNvPr id="4" name="Shape 2"/>
          <p:cNvSpPr/>
          <p:nvPr/>
        </p:nvSpPr>
        <p:spPr>
          <a:xfrm>
            <a:off x="658368" y="566928"/>
            <a:ext cx="237744" cy="25603"/>
          </a:xfrm>
          <a:prstGeom prst="rect">
            <a:avLst/>
          </a:prstGeom>
          <a:solidFill>
            <a:srgbClr val="0F9D8F"/>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0A6E64"/>
                </a:solidFill>
                <a:latin typeface="Consolas" pitchFamily="34" charset="0"/>
                <a:ea typeface="Consolas" pitchFamily="34" charset="-122"/>
                <a:cs typeface="Consolas" pitchFamily="34" charset="-120"/>
              </a:rPr>
              <a:t>WHY ANY OF THIS</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600" b="1" dirty="0">
                <a:solidFill>
                  <a:srgbClr val="16202E"/>
                </a:solidFill>
                <a:latin typeface="Segoe UI" pitchFamily="34" charset="0"/>
                <a:ea typeface="Segoe UI" pitchFamily="34" charset="-122"/>
                <a:cs typeface="Segoe UI" pitchFamily="34" charset="-120"/>
              </a:rPr>
              <a:t>A suite can be well-written, strongly asserted, and</a:t>
            </a:r>
            <a:endParaRPr lang="en-US" sz="2600" dirty="0"/>
          </a:p>
          <a:p>
            <a:pPr indent="0" marL="0">
              <a:buNone/>
            </a:pPr>
            <a:r>
              <a:rPr lang="en-US" sz="2600" b="1" dirty="0">
                <a:solidFill>
                  <a:srgbClr val="16202E"/>
                </a:solidFill>
                <a:latin typeface="Segoe UI" pitchFamily="34" charset="0"/>
                <a:ea typeface="Segoe UI" pitchFamily="34" charset="-122"/>
                <a:cs typeface="Segoe UI" pitchFamily="34" charset="-120"/>
              </a:rPr>
              <a:t>unable to notice the feature is broken.</a:t>
            </a:r>
            <a:endParaRPr lang="en-US" sz="2600" dirty="0"/>
          </a:p>
        </p:txBody>
      </p:sp>
      <p:sp>
        <p:nvSpPr>
          <p:cNvPr id="7" name="Text 5"/>
          <p:cNvSpPr/>
          <p:nvPr/>
        </p:nvSpPr>
        <p:spPr>
          <a:xfrm>
            <a:off x="658368" y="2011680"/>
            <a:ext cx="9692640" cy="685800"/>
          </a:xfrm>
          <a:prstGeom prst="rect">
            <a:avLst/>
          </a:prstGeom>
          <a:noFill/>
          <a:ln/>
        </p:spPr>
        <p:txBody>
          <a:bodyPr wrap="square" rtlCol="0" anchor="t"/>
          <a:lstStyle/>
          <a:p>
            <a:pPr indent="0" marL="0">
              <a:lnSpc>
                <a:spcPct val="125000"/>
              </a:lnSpc>
              <a:buNone/>
            </a:pPr>
            <a:r>
              <a:rPr lang="en-US" sz="1300" dirty="0">
                <a:solidFill>
                  <a:srgbClr val="4D5C70"/>
                </a:solidFill>
                <a:latin typeface="Segoe UI" pitchFamily="34" charset="0"/>
                <a:ea typeface="Segoe UI" pitchFamily="34" charset="-122"/>
                <a:cs typeface="Segoe UI" pitchFamily="34" charset="-120"/>
              </a:rPr>
              <a:t>Loyalty Missions is the case that drove the whole sprint. Every case was individually defensible. Collectively they tested the screens and never the mechanism.</a:t>
            </a:r>
            <a:endParaRPr lang="en-US" sz="1300" dirty="0"/>
          </a:p>
        </p:txBody>
      </p:sp>
      <p:sp>
        <p:nvSpPr>
          <p:cNvPr id="8" name="Shape 6"/>
          <p:cNvSpPr/>
          <p:nvPr/>
        </p:nvSpPr>
        <p:spPr>
          <a:xfrm>
            <a:off x="658368" y="2880360"/>
            <a:ext cx="2615184" cy="1463040"/>
          </a:xfrm>
          <a:prstGeom prst="roundRect">
            <a:avLst>
              <a:gd name="adj" fmla="val 3750"/>
            </a:avLst>
          </a:prstGeom>
          <a:solidFill>
            <a:srgbClr val="FFFFFF"/>
          </a:solidFill>
          <a:ln w="6350">
            <a:solidFill>
              <a:srgbClr val="DBE3EC"/>
            </a:solidFill>
            <a:prstDash val="solid"/>
          </a:ln>
        </p:spPr>
      </p:sp>
      <p:sp>
        <p:nvSpPr>
          <p:cNvPr id="9" name="Text 7"/>
          <p:cNvSpPr/>
          <p:nvPr/>
        </p:nvSpPr>
        <p:spPr>
          <a:xfrm>
            <a:off x="859536" y="3035808"/>
            <a:ext cx="2212848" cy="420624"/>
          </a:xfrm>
          <a:prstGeom prst="rect">
            <a:avLst/>
          </a:prstGeom>
          <a:noFill/>
          <a:ln/>
        </p:spPr>
        <p:txBody>
          <a:bodyPr wrap="square" rtlCol="0" anchor="t"/>
          <a:lstStyle/>
          <a:p>
            <a:pPr indent="0" marL="0">
              <a:buNone/>
            </a:pPr>
            <a:r>
              <a:rPr lang="en-US" sz="2400" b="1" dirty="0">
                <a:solidFill>
                  <a:srgbClr val="D1495B"/>
                </a:solidFill>
                <a:latin typeface="Consolas" pitchFamily="34" charset="0"/>
                <a:ea typeface="Consolas" pitchFamily="34" charset="-122"/>
                <a:cs typeface="Consolas" pitchFamily="34" charset="-120"/>
              </a:rPr>
              <a:t>0</a:t>
            </a:r>
            <a:endParaRPr lang="en-US" sz="2400" dirty="0"/>
          </a:p>
        </p:txBody>
      </p:sp>
      <p:sp>
        <p:nvSpPr>
          <p:cNvPr id="10" name="Text 8"/>
          <p:cNvSpPr/>
          <p:nvPr/>
        </p:nvSpPr>
        <p:spPr>
          <a:xfrm>
            <a:off x="859536" y="3511296"/>
            <a:ext cx="2212848" cy="749808"/>
          </a:xfrm>
          <a:prstGeom prst="rect">
            <a:avLst/>
          </a:prstGeom>
          <a:noFill/>
          <a:ln/>
        </p:spPr>
        <p:txBody>
          <a:bodyPr wrap="square" rtlCol="0" anchor="t"/>
          <a:lstStyle/>
          <a:p>
            <a:pPr indent="0" marL="0">
              <a:lnSpc>
                <a:spcPct val="115000"/>
              </a:lnSpc>
              <a:buNone/>
            </a:pPr>
            <a:r>
              <a:rPr lang="en-US" sz="900" dirty="0">
                <a:solidFill>
                  <a:srgbClr val="4D5C70"/>
                </a:solidFill>
                <a:latin typeface="Segoe UI" pitchFamily="34" charset="0"/>
                <a:ea typeface="Segoe UI" pitchFamily="34" charset="-122"/>
                <a:cs typeface="Segoe UI" pitchFamily="34" charset="-120"/>
              </a:rPr>
              <a:t>orders placed by the storefront suite — for a feature whose entire premise is that placing an order makes progress.</a:t>
            </a:r>
            <a:endParaRPr lang="en-US" sz="900" dirty="0"/>
          </a:p>
        </p:txBody>
      </p:sp>
      <p:sp>
        <p:nvSpPr>
          <p:cNvPr id="11" name="Shape 9"/>
          <p:cNvSpPr/>
          <p:nvPr/>
        </p:nvSpPr>
        <p:spPr>
          <a:xfrm>
            <a:off x="3410712" y="2880360"/>
            <a:ext cx="2615184" cy="1463040"/>
          </a:xfrm>
          <a:prstGeom prst="roundRect">
            <a:avLst>
              <a:gd name="adj" fmla="val 3750"/>
            </a:avLst>
          </a:prstGeom>
          <a:solidFill>
            <a:srgbClr val="FFFFFF"/>
          </a:solidFill>
          <a:ln w="6350">
            <a:solidFill>
              <a:srgbClr val="DBE3EC"/>
            </a:solidFill>
            <a:prstDash val="solid"/>
          </a:ln>
        </p:spPr>
      </p:sp>
      <p:sp>
        <p:nvSpPr>
          <p:cNvPr id="12" name="Text 10"/>
          <p:cNvSpPr/>
          <p:nvPr/>
        </p:nvSpPr>
        <p:spPr>
          <a:xfrm>
            <a:off x="3611880" y="3035808"/>
            <a:ext cx="2212848" cy="420624"/>
          </a:xfrm>
          <a:prstGeom prst="rect">
            <a:avLst/>
          </a:prstGeom>
          <a:noFill/>
          <a:ln/>
        </p:spPr>
        <p:txBody>
          <a:bodyPr wrap="square" rtlCol="0" anchor="t"/>
          <a:lstStyle/>
          <a:p>
            <a:pPr indent="0" marL="0">
              <a:buNone/>
            </a:pPr>
            <a:r>
              <a:rPr lang="en-US" sz="2400" b="1" dirty="0">
                <a:solidFill>
                  <a:srgbClr val="D1495B"/>
                </a:solidFill>
                <a:latin typeface="Consolas" pitchFamily="34" charset="0"/>
                <a:ea typeface="Consolas" pitchFamily="34" charset="-122"/>
                <a:cs typeface="Consolas" pitchFamily="34" charset="-120"/>
              </a:rPr>
              <a:t>11%</a:t>
            </a:r>
            <a:endParaRPr lang="en-US" sz="2400" dirty="0"/>
          </a:p>
        </p:txBody>
      </p:sp>
      <p:sp>
        <p:nvSpPr>
          <p:cNvPr id="13" name="Text 11"/>
          <p:cNvSpPr/>
          <p:nvPr/>
        </p:nvSpPr>
        <p:spPr>
          <a:xfrm>
            <a:off x="3611880" y="3511296"/>
            <a:ext cx="2212848" cy="749808"/>
          </a:xfrm>
          <a:prstGeom prst="rect">
            <a:avLst/>
          </a:prstGeom>
          <a:noFill/>
          <a:ln/>
        </p:spPr>
        <p:txBody>
          <a:bodyPr wrap="square" rtlCol="0" anchor="t"/>
          <a:lstStyle/>
          <a:p>
            <a:pPr indent="0" marL="0">
              <a:lnSpc>
                <a:spcPct val="115000"/>
              </a:lnSpc>
              <a:buNone/>
            </a:pPr>
            <a:r>
              <a:rPr lang="en-US" sz="900" dirty="0">
                <a:solidFill>
                  <a:srgbClr val="4D5C70"/>
                </a:solidFill>
                <a:latin typeface="Segoe UI" pitchFamily="34" charset="0"/>
                <a:ea typeface="Segoe UI" pitchFamily="34" charset="-122"/>
                <a:cs typeface="Segoe UI" pitchFamily="34" charset="-120"/>
              </a:rPr>
              <a:t>coverage of the mechanism end to end: order → progress → completion → points credited.</a:t>
            </a:r>
            <a:endParaRPr lang="en-US" sz="900" dirty="0"/>
          </a:p>
        </p:txBody>
      </p:sp>
      <p:sp>
        <p:nvSpPr>
          <p:cNvPr id="14" name="Shape 12"/>
          <p:cNvSpPr/>
          <p:nvPr/>
        </p:nvSpPr>
        <p:spPr>
          <a:xfrm>
            <a:off x="6163056" y="2880360"/>
            <a:ext cx="2615184" cy="1463040"/>
          </a:xfrm>
          <a:prstGeom prst="roundRect">
            <a:avLst>
              <a:gd name="adj" fmla="val 3750"/>
            </a:avLst>
          </a:prstGeom>
          <a:solidFill>
            <a:srgbClr val="FFFFFF"/>
          </a:solidFill>
          <a:ln w="6350">
            <a:solidFill>
              <a:srgbClr val="DBE3EC"/>
            </a:solidFill>
            <a:prstDash val="solid"/>
          </a:ln>
        </p:spPr>
      </p:sp>
      <p:sp>
        <p:nvSpPr>
          <p:cNvPr id="15" name="Text 13"/>
          <p:cNvSpPr/>
          <p:nvPr/>
        </p:nvSpPr>
        <p:spPr>
          <a:xfrm>
            <a:off x="6364224" y="3035808"/>
            <a:ext cx="2212848" cy="420624"/>
          </a:xfrm>
          <a:prstGeom prst="rect">
            <a:avLst/>
          </a:prstGeom>
          <a:noFill/>
          <a:ln/>
        </p:spPr>
        <p:txBody>
          <a:bodyPr wrap="square" rtlCol="0" anchor="t"/>
          <a:lstStyle/>
          <a:p>
            <a:pPr indent="0" marL="0">
              <a:buNone/>
            </a:pPr>
            <a:r>
              <a:rPr lang="en-US" sz="2400" b="1" dirty="0">
                <a:solidFill>
                  <a:srgbClr val="D1495B"/>
                </a:solidFill>
                <a:latin typeface="Consolas" pitchFamily="34" charset="0"/>
                <a:ea typeface="Consolas" pitchFamily="34" charset="-122"/>
                <a:cs typeface="Consolas" pitchFamily="34" charset="-120"/>
              </a:rPr>
              <a:t>1</a:t>
            </a:r>
            <a:endParaRPr lang="en-US" sz="2400" dirty="0"/>
          </a:p>
        </p:txBody>
      </p:sp>
      <p:sp>
        <p:nvSpPr>
          <p:cNvPr id="16" name="Text 14"/>
          <p:cNvSpPr/>
          <p:nvPr/>
        </p:nvSpPr>
        <p:spPr>
          <a:xfrm>
            <a:off x="6364224" y="3511296"/>
            <a:ext cx="2212848" cy="749808"/>
          </a:xfrm>
          <a:prstGeom prst="rect">
            <a:avLst/>
          </a:prstGeom>
          <a:noFill/>
          <a:ln/>
        </p:spPr>
        <p:txBody>
          <a:bodyPr wrap="square" rtlCol="0" anchor="t"/>
          <a:lstStyle/>
          <a:p>
            <a:pPr indent="0" marL="0">
              <a:lnSpc>
                <a:spcPct val="115000"/>
              </a:lnSpc>
              <a:buNone/>
            </a:pPr>
            <a:r>
              <a:rPr lang="en-US" sz="900" dirty="0">
                <a:solidFill>
                  <a:srgbClr val="4D5C70"/>
                </a:solidFill>
                <a:latin typeface="Segoe UI" pitchFamily="34" charset="0"/>
                <a:ea typeface="Segoe UI" pitchFamily="34" charset="-122"/>
                <a:cs typeface="Segoe UI" pitchFamily="34" charset="-120"/>
              </a:rPr>
              <a:t>case on the last link — spending what the feature grants — written on the final day.</a:t>
            </a:r>
            <a:endParaRPr lang="en-US" sz="900" dirty="0"/>
          </a:p>
        </p:txBody>
      </p:sp>
      <p:sp>
        <p:nvSpPr>
          <p:cNvPr id="17" name="Shape 15"/>
          <p:cNvSpPr/>
          <p:nvPr/>
        </p:nvSpPr>
        <p:spPr>
          <a:xfrm>
            <a:off x="8915400" y="2880360"/>
            <a:ext cx="2615184" cy="1463040"/>
          </a:xfrm>
          <a:prstGeom prst="roundRect">
            <a:avLst>
              <a:gd name="adj" fmla="val 3750"/>
            </a:avLst>
          </a:prstGeom>
          <a:solidFill>
            <a:srgbClr val="FFFFFF"/>
          </a:solidFill>
          <a:ln w="6350">
            <a:solidFill>
              <a:srgbClr val="DBE3EC"/>
            </a:solidFill>
            <a:prstDash val="solid"/>
          </a:ln>
        </p:spPr>
      </p:sp>
      <p:sp>
        <p:nvSpPr>
          <p:cNvPr id="18" name="Text 16"/>
          <p:cNvSpPr/>
          <p:nvPr/>
        </p:nvSpPr>
        <p:spPr>
          <a:xfrm>
            <a:off x="9116568" y="3035808"/>
            <a:ext cx="2212848" cy="420624"/>
          </a:xfrm>
          <a:prstGeom prst="rect">
            <a:avLst/>
          </a:prstGeom>
          <a:noFill/>
          <a:ln/>
        </p:spPr>
        <p:txBody>
          <a:bodyPr wrap="square" rtlCol="0" anchor="t"/>
          <a:lstStyle/>
          <a:p>
            <a:pPr indent="0" marL="0">
              <a:buNone/>
            </a:pPr>
            <a:r>
              <a:rPr lang="en-US" sz="2400" b="1" dirty="0">
                <a:solidFill>
                  <a:srgbClr val="D1495B"/>
                </a:solidFill>
                <a:latin typeface="Consolas" pitchFamily="34" charset="0"/>
                <a:ea typeface="Consolas" pitchFamily="34" charset="-122"/>
                <a:cs typeface="Consolas" pitchFamily="34" charset="-120"/>
              </a:rPr>
              <a:t>0</a:t>
            </a:r>
            <a:endParaRPr lang="en-US" sz="2400" dirty="0"/>
          </a:p>
        </p:txBody>
      </p:sp>
      <p:sp>
        <p:nvSpPr>
          <p:cNvPr id="19" name="Text 17"/>
          <p:cNvSpPr/>
          <p:nvPr/>
        </p:nvSpPr>
        <p:spPr>
          <a:xfrm>
            <a:off x="9116568" y="3511296"/>
            <a:ext cx="2212848" cy="749808"/>
          </a:xfrm>
          <a:prstGeom prst="rect">
            <a:avLst/>
          </a:prstGeom>
          <a:noFill/>
          <a:ln/>
        </p:spPr>
        <p:txBody>
          <a:bodyPr wrap="square" rtlCol="0" anchor="t"/>
          <a:lstStyle/>
          <a:p>
            <a:pPr indent="0" marL="0">
              <a:lnSpc>
                <a:spcPct val="115000"/>
              </a:lnSpc>
              <a:buNone/>
            </a:pPr>
            <a:r>
              <a:rPr lang="en-US" sz="900" dirty="0">
                <a:solidFill>
                  <a:srgbClr val="4D5C70"/>
                </a:solidFill>
                <a:latin typeface="Segoe UI" pitchFamily="34" charset="0"/>
                <a:ea typeface="Segoe UI" pitchFamily="34" charset="-122"/>
                <a:cs typeface="Segoe UI" pitchFamily="34" charset="-120"/>
              </a:rPr>
              <a:t>BL-* invariants existed for the domain, so the corpus recorded behaviour instead of judging it.</a:t>
            </a:r>
            <a:endParaRPr lang="en-US" sz="900" dirty="0"/>
          </a:p>
        </p:txBody>
      </p:sp>
      <p:sp>
        <p:nvSpPr>
          <p:cNvPr id="20" name="Shape 18"/>
          <p:cNvSpPr/>
          <p:nvPr/>
        </p:nvSpPr>
        <p:spPr>
          <a:xfrm>
            <a:off x="658368" y="4617720"/>
            <a:ext cx="10872216" cy="868680"/>
          </a:xfrm>
          <a:prstGeom prst="roundRect">
            <a:avLst>
              <a:gd name="adj" fmla="val 5263"/>
            </a:avLst>
          </a:prstGeom>
          <a:solidFill>
            <a:srgbClr val="E2F4F1"/>
          </a:solidFill>
          <a:ln w="9525">
            <a:solidFill>
              <a:srgbClr val="0F9D8F"/>
            </a:solidFill>
            <a:prstDash val="dash"/>
          </a:ln>
        </p:spPr>
      </p:sp>
      <p:sp>
        <p:nvSpPr>
          <p:cNvPr id="21" name="Text 19"/>
          <p:cNvSpPr/>
          <p:nvPr/>
        </p:nvSpPr>
        <p:spPr>
          <a:xfrm>
            <a:off x="877824" y="4727448"/>
            <a:ext cx="10433304" cy="649224"/>
          </a:xfrm>
          <a:prstGeom prst="rect">
            <a:avLst/>
          </a:prstGeom>
          <a:noFill/>
          <a:ln/>
        </p:spPr>
        <p:txBody>
          <a:bodyPr wrap="square" rtlCol="0" anchor="ctr"/>
          <a:lstStyle/>
          <a:p>
            <a:pPr indent="0" marL="0">
              <a:lnSpc>
                <a:spcPct val="120000"/>
              </a:lnSpc>
              <a:buNone/>
            </a:pPr>
            <a:r>
              <a:rPr lang="en-US" sz="1050" dirty="0">
                <a:solidFill>
                  <a:srgbClr val="0A6E64"/>
                </a:solidFill>
                <a:latin typeface="Segoe UI" pitchFamily="34" charset="0"/>
                <a:ea typeface="Segoe UI" pitchFamily="34" charset="-122"/>
                <a:cs typeface="Segoe UI" pitchFamily="34" charset="-120"/>
              </a:rPr>
              <a:t>And the ranker scored that suite STRONG. Assertion strength tells you whether a check can fail; chain coverage tells you whether anyone cares if it does. Only the second one culls a case that tests nothing.</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3482558"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4 / 14</a:t>
            </a:r>
            <a:endParaRPr lang="en-US" sz="900" dirty="0"/>
          </a:p>
        </p:txBody>
      </p:sp>
      <p:sp>
        <p:nvSpPr>
          <p:cNvPr id="4" name="Shape 2"/>
          <p:cNvSpPr/>
          <p:nvPr/>
        </p:nvSpPr>
        <p:spPr>
          <a:xfrm>
            <a:off x="658368" y="566928"/>
            <a:ext cx="237744" cy="25603"/>
          </a:xfrm>
          <a:prstGeom prst="rect">
            <a:avLst/>
          </a:prstGeom>
          <a:solidFill>
            <a:srgbClr val="0F9D8F"/>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0A6E64"/>
                </a:solidFill>
                <a:latin typeface="Consolas" pitchFamily="34" charset="0"/>
                <a:ea typeface="Consolas" pitchFamily="34" charset="-122"/>
                <a:cs typeface="Consolas" pitchFamily="34" charset="-120"/>
              </a:rPr>
              <a:t>STEP 1E · THE FIX</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600" b="1" dirty="0">
                <a:solidFill>
                  <a:srgbClr val="16202E"/>
                </a:solidFill>
                <a:latin typeface="Segoe UI" pitchFamily="34" charset="0"/>
                <a:ea typeface="Segoe UI" pitchFamily="34" charset="-122"/>
                <a:cs typeface="Segoe UI" pitchFamily="34" charset="-120"/>
              </a:rPr>
              <a:t>Name the chain first. Every other technique</a:t>
            </a:r>
            <a:endParaRPr lang="en-US" sz="2600" dirty="0"/>
          </a:p>
          <a:p>
            <a:pPr indent="0" marL="0">
              <a:buNone/>
            </a:pPr>
            <a:r>
              <a:rPr lang="en-US" sz="2600" b="1" dirty="0">
                <a:solidFill>
                  <a:srgbClr val="16202E"/>
                </a:solidFill>
                <a:latin typeface="Segoe UI" pitchFamily="34" charset="0"/>
                <a:ea typeface="Segoe UI" pitchFamily="34" charset="-122"/>
                <a:cs typeface="Segoe UI" pitchFamily="34" charset="-120"/>
              </a:rPr>
              <a:t>refines a link that is already named.</a:t>
            </a:r>
            <a:endParaRPr lang="en-US" sz="2600" dirty="0"/>
          </a:p>
        </p:txBody>
      </p:sp>
      <p:sp>
        <p:nvSpPr>
          <p:cNvPr id="7" name="Text 5"/>
          <p:cNvSpPr/>
          <p:nvPr/>
        </p:nvSpPr>
        <p:spPr>
          <a:xfrm>
            <a:off x="658368" y="1993392"/>
            <a:ext cx="10241280" cy="685800"/>
          </a:xfrm>
          <a:prstGeom prst="rect">
            <a:avLst/>
          </a:prstGeom>
          <a:noFill/>
          <a:ln/>
        </p:spPr>
        <p:txBody>
          <a:bodyPr wrap="square" rtlCol="0" anchor="t"/>
          <a:lstStyle/>
          <a:p>
            <a:pPr indent="0" marL="0">
              <a:lnSpc>
                <a:spcPct val="125000"/>
              </a:lnSpc>
              <a:buNone/>
            </a:pPr>
            <a:r>
              <a:rPr lang="en-US" sz="1300" dirty="0">
                <a:solidFill>
                  <a:srgbClr val="4D5C70"/>
                </a:solidFill>
                <a:latin typeface="Segoe UI" pitchFamily="34" charset="0"/>
                <a:ea typeface="Segoe UI" pitchFamily="34" charset="-122"/>
                <a:cs typeface="Segoe UI" pitchFamily="34" charset="-120"/>
              </a:rPr>
              <a:t>EP, BVA, decision tables, state transitions, pairwise — all parameter-space techniques. None can name a value chain, so run against an unnamed one they faithfully produce per-screen checks that pass while the feature does not work.</a:t>
            </a:r>
            <a:endParaRPr lang="en-US" sz="1300" dirty="0"/>
          </a:p>
        </p:txBody>
      </p:sp>
      <p:sp>
        <p:nvSpPr>
          <p:cNvPr id="8" name="Text 6"/>
          <p:cNvSpPr/>
          <p:nvPr/>
        </p:nvSpPr>
        <p:spPr>
          <a:xfrm>
            <a:off x="658368" y="2889504"/>
            <a:ext cx="4206240" cy="164592"/>
          </a:xfrm>
          <a:prstGeom prst="rect">
            <a:avLst/>
          </a:prstGeom>
          <a:noFill/>
          <a:ln/>
        </p:spPr>
        <p:txBody>
          <a:bodyPr wrap="square" rtlCol="0" anchor="ctr"/>
          <a:lstStyle/>
          <a:p>
            <a:pPr indent="0" marL="0">
              <a:buNone/>
            </a:pPr>
            <a:r>
              <a:rPr lang="en-US" sz="750" dirty="0">
                <a:solidFill>
                  <a:srgbClr val="7C8AA0"/>
                </a:solidFill>
                <a:latin typeface="Consolas" pitchFamily="34" charset="0"/>
                <a:ea typeface="Consolas" pitchFamily="34" charset="-122"/>
                <a:cs typeface="Consolas" pitchFamily="34" charset="-120"/>
              </a:rPr>
              <a:t>Technique:FLOW — the [JOURNEY] case, authored first</a:t>
            </a:r>
            <a:endParaRPr lang="en-US" sz="750" dirty="0"/>
          </a:p>
        </p:txBody>
      </p:sp>
      <p:sp>
        <p:nvSpPr>
          <p:cNvPr id="9" name="Shape 7"/>
          <p:cNvSpPr/>
          <p:nvPr/>
        </p:nvSpPr>
        <p:spPr>
          <a:xfrm>
            <a:off x="1636776" y="3127248"/>
            <a:ext cx="0" cy="0"/>
          </a:xfrm>
          <a:prstGeom prst="line">
            <a:avLst/>
          </a:prstGeom>
          <a:noFill/>
          <a:ln w="19050">
            <a:solidFill>
              <a:srgbClr val="0F9D8F"/>
            </a:solidFill>
            <a:prstDash val="solid"/>
          </a:ln>
        </p:spPr>
      </p:sp>
      <p:sp>
        <p:nvSpPr>
          <p:cNvPr id="10" name="Shape 8"/>
          <p:cNvSpPr/>
          <p:nvPr/>
        </p:nvSpPr>
        <p:spPr>
          <a:xfrm>
            <a:off x="1636776" y="3127248"/>
            <a:ext cx="8924544" cy="0"/>
          </a:xfrm>
          <a:prstGeom prst="line">
            <a:avLst/>
          </a:prstGeom>
          <a:noFill/>
          <a:ln w="19050">
            <a:solidFill>
              <a:srgbClr val="0F9D8F"/>
            </a:solidFill>
            <a:prstDash val="solid"/>
          </a:ln>
        </p:spPr>
      </p:sp>
      <p:sp>
        <p:nvSpPr>
          <p:cNvPr id="11" name="Shape 9"/>
          <p:cNvSpPr/>
          <p:nvPr/>
        </p:nvSpPr>
        <p:spPr>
          <a:xfrm>
            <a:off x="10561320" y="3127248"/>
            <a:ext cx="0" cy="237744"/>
          </a:xfrm>
          <a:prstGeom prst="line">
            <a:avLst/>
          </a:prstGeom>
          <a:noFill/>
          <a:ln w="19050">
            <a:solidFill>
              <a:srgbClr val="0F9D8F"/>
            </a:solidFill>
            <a:prstDash val="solid"/>
            <a:tailEnd type="triangle"/>
          </a:ln>
        </p:spPr>
      </p:sp>
      <p:sp>
        <p:nvSpPr>
          <p:cNvPr id="12" name="Shape 10"/>
          <p:cNvSpPr/>
          <p:nvPr/>
        </p:nvSpPr>
        <p:spPr>
          <a:xfrm>
            <a:off x="658368" y="3401568"/>
            <a:ext cx="1956816" cy="676656"/>
          </a:xfrm>
          <a:prstGeom prst="roundRect">
            <a:avLst>
              <a:gd name="adj" fmla="val 6757"/>
            </a:avLst>
          </a:prstGeom>
          <a:solidFill>
            <a:srgbClr val="FFFFFF"/>
          </a:solidFill>
          <a:ln w="9525">
            <a:solidFill>
              <a:srgbClr val="DBE3EC"/>
            </a:solidFill>
            <a:prstDash val="solid"/>
          </a:ln>
        </p:spPr>
      </p:sp>
      <p:sp>
        <p:nvSpPr>
          <p:cNvPr id="13" name="Text 11"/>
          <p:cNvSpPr/>
          <p:nvPr/>
        </p:nvSpPr>
        <p:spPr>
          <a:xfrm>
            <a:off x="658368" y="3483864"/>
            <a:ext cx="1956816" cy="237744"/>
          </a:xfrm>
          <a:prstGeom prst="rect">
            <a:avLst/>
          </a:prstGeom>
          <a:noFill/>
          <a:ln/>
        </p:spPr>
        <p:txBody>
          <a:bodyPr wrap="square" rtlCol="0" anchor="ctr"/>
          <a:lstStyle/>
          <a:p>
            <a:pPr algn="ctr" indent="0" marL="0">
              <a:buNone/>
            </a:pPr>
            <a:r>
              <a:rPr lang="en-US" sz="1050" b="1" dirty="0">
                <a:solidFill>
                  <a:srgbClr val="16202E"/>
                </a:solidFill>
                <a:latin typeface="Segoe UI" pitchFamily="34" charset="0"/>
                <a:ea typeface="Segoe UI" pitchFamily="34" charset="-122"/>
                <a:cs typeface="Segoe UI" pitchFamily="34" charset="-120"/>
              </a:rPr>
              <a:t>Place an order</a:t>
            </a:r>
            <a:endParaRPr lang="en-US" sz="1050" dirty="0"/>
          </a:p>
        </p:txBody>
      </p:sp>
      <p:sp>
        <p:nvSpPr>
          <p:cNvPr id="14" name="Text 12"/>
          <p:cNvSpPr/>
          <p:nvPr/>
        </p:nvSpPr>
        <p:spPr>
          <a:xfrm>
            <a:off x="658368" y="3694176"/>
            <a:ext cx="1956816"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trigger</a:t>
            </a:r>
            <a:endParaRPr lang="en-US" sz="800" dirty="0"/>
          </a:p>
        </p:txBody>
      </p:sp>
      <p:sp>
        <p:nvSpPr>
          <p:cNvPr id="15" name="Shape 13"/>
          <p:cNvSpPr/>
          <p:nvPr/>
        </p:nvSpPr>
        <p:spPr>
          <a:xfrm>
            <a:off x="2642616" y="3739896"/>
            <a:ext cx="219456" cy="0"/>
          </a:xfrm>
          <a:prstGeom prst="line">
            <a:avLst/>
          </a:prstGeom>
          <a:noFill/>
          <a:ln w="12700">
            <a:solidFill>
              <a:srgbClr val="7C8AA0"/>
            </a:solidFill>
            <a:prstDash val="solid"/>
            <a:tailEnd type="triangle"/>
          </a:ln>
        </p:spPr>
      </p:sp>
      <p:sp>
        <p:nvSpPr>
          <p:cNvPr id="16" name="Text 14"/>
          <p:cNvSpPr/>
          <p:nvPr/>
        </p:nvSpPr>
        <p:spPr>
          <a:xfrm>
            <a:off x="2478024" y="3483864"/>
            <a:ext cx="548640" cy="164592"/>
          </a:xfrm>
          <a:prstGeom prst="rect">
            <a:avLst/>
          </a:prstGeom>
          <a:noFill/>
          <a:ln/>
        </p:spPr>
        <p:txBody>
          <a:bodyPr wrap="square" rtlCol="0" anchor="ctr"/>
          <a:lstStyle/>
          <a:p>
            <a:pPr algn="ctr" indent="0" marL="0">
              <a:buNone/>
            </a:pPr>
            <a:r>
              <a:rPr lang="en-US" sz="750" dirty="0">
                <a:solidFill>
                  <a:srgbClr val="7C8AA0"/>
                </a:solidFill>
                <a:latin typeface="Consolas" pitchFamily="34" charset="0"/>
                <a:ea typeface="Consolas" pitchFamily="34" charset="-122"/>
                <a:cs typeface="Consolas" pitchFamily="34" charset="-120"/>
              </a:rPr>
              <a:t>writes</a:t>
            </a:r>
            <a:endParaRPr lang="en-US" sz="750" dirty="0"/>
          </a:p>
        </p:txBody>
      </p:sp>
      <p:sp>
        <p:nvSpPr>
          <p:cNvPr id="17" name="Shape 15"/>
          <p:cNvSpPr/>
          <p:nvPr/>
        </p:nvSpPr>
        <p:spPr>
          <a:xfrm>
            <a:off x="2889504" y="3401568"/>
            <a:ext cx="1956816" cy="676656"/>
          </a:xfrm>
          <a:prstGeom prst="roundRect">
            <a:avLst>
              <a:gd name="adj" fmla="val 6757"/>
            </a:avLst>
          </a:prstGeom>
          <a:solidFill>
            <a:srgbClr val="FFFFFF"/>
          </a:solidFill>
          <a:ln w="9525">
            <a:solidFill>
              <a:srgbClr val="DBE3EC"/>
            </a:solidFill>
            <a:prstDash val="solid"/>
          </a:ln>
        </p:spPr>
      </p:sp>
      <p:sp>
        <p:nvSpPr>
          <p:cNvPr id="18" name="Text 16"/>
          <p:cNvSpPr/>
          <p:nvPr/>
        </p:nvSpPr>
        <p:spPr>
          <a:xfrm>
            <a:off x="2889504" y="3483864"/>
            <a:ext cx="1956816" cy="237744"/>
          </a:xfrm>
          <a:prstGeom prst="rect">
            <a:avLst/>
          </a:prstGeom>
          <a:noFill/>
          <a:ln/>
        </p:spPr>
        <p:txBody>
          <a:bodyPr wrap="square" rtlCol="0" anchor="ctr"/>
          <a:lstStyle/>
          <a:p>
            <a:pPr algn="ctr" indent="0" marL="0">
              <a:buNone/>
            </a:pPr>
            <a:r>
              <a:rPr lang="en-US" sz="1050" b="1" dirty="0">
                <a:solidFill>
                  <a:srgbClr val="16202E"/>
                </a:solidFill>
                <a:latin typeface="Segoe UI" pitchFamily="34" charset="0"/>
                <a:ea typeface="Segoe UI" pitchFamily="34" charset="-122"/>
                <a:cs typeface="Segoe UI" pitchFamily="34" charset="-120"/>
              </a:rPr>
              <a:t>Progress accrues</a:t>
            </a:r>
            <a:endParaRPr lang="en-US" sz="1050" dirty="0"/>
          </a:p>
        </p:txBody>
      </p:sp>
      <p:sp>
        <p:nvSpPr>
          <p:cNvPr id="19" name="Text 17"/>
          <p:cNvSpPr/>
          <p:nvPr/>
        </p:nvSpPr>
        <p:spPr>
          <a:xfrm>
            <a:off x="2889504" y="3694176"/>
            <a:ext cx="1956816"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effect</a:t>
            </a:r>
            <a:endParaRPr lang="en-US" sz="800" dirty="0"/>
          </a:p>
        </p:txBody>
      </p:sp>
      <p:sp>
        <p:nvSpPr>
          <p:cNvPr id="20" name="Shape 18"/>
          <p:cNvSpPr/>
          <p:nvPr/>
        </p:nvSpPr>
        <p:spPr>
          <a:xfrm>
            <a:off x="4873752" y="3739896"/>
            <a:ext cx="219456" cy="0"/>
          </a:xfrm>
          <a:prstGeom prst="line">
            <a:avLst/>
          </a:prstGeom>
          <a:noFill/>
          <a:ln w="12700">
            <a:solidFill>
              <a:srgbClr val="7C8AA0"/>
            </a:solidFill>
            <a:prstDash val="solid"/>
            <a:tailEnd type="triangle"/>
          </a:ln>
        </p:spPr>
      </p:sp>
      <p:sp>
        <p:nvSpPr>
          <p:cNvPr id="21" name="Text 19"/>
          <p:cNvSpPr/>
          <p:nvPr/>
        </p:nvSpPr>
        <p:spPr>
          <a:xfrm>
            <a:off x="4709160" y="3483864"/>
            <a:ext cx="548640" cy="164592"/>
          </a:xfrm>
          <a:prstGeom prst="rect">
            <a:avLst/>
          </a:prstGeom>
          <a:noFill/>
          <a:ln/>
        </p:spPr>
        <p:txBody>
          <a:bodyPr wrap="square" rtlCol="0" anchor="ctr"/>
          <a:lstStyle/>
          <a:p>
            <a:pPr algn="ctr" indent="0" marL="0">
              <a:buNone/>
            </a:pPr>
            <a:r>
              <a:rPr lang="en-US" sz="750" dirty="0">
                <a:solidFill>
                  <a:srgbClr val="7C8AA0"/>
                </a:solidFill>
                <a:latin typeface="Consolas" pitchFamily="34" charset="0"/>
                <a:ea typeface="Consolas" pitchFamily="34" charset="-122"/>
                <a:cs typeface="Consolas" pitchFamily="34" charset="-120"/>
              </a:rPr>
              <a:t>saves</a:t>
            </a:r>
            <a:endParaRPr lang="en-US" sz="750" dirty="0"/>
          </a:p>
        </p:txBody>
      </p:sp>
      <p:sp>
        <p:nvSpPr>
          <p:cNvPr id="22" name="Shape 20"/>
          <p:cNvSpPr/>
          <p:nvPr/>
        </p:nvSpPr>
        <p:spPr>
          <a:xfrm>
            <a:off x="5120640" y="3401568"/>
            <a:ext cx="1956816" cy="676656"/>
          </a:xfrm>
          <a:prstGeom prst="roundRect">
            <a:avLst>
              <a:gd name="adj" fmla="val 6757"/>
            </a:avLst>
          </a:prstGeom>
          <a:solidFill>
            <a:srgbClr val="FFFFFF"/>
          </a:solidFill>
          <a:ln w="9525">
            <a:solidFill>
              <a:srgbClr val="DBE3EC"/>
            </a:solidFill>
            <a:prstDash val="solid"/>
          </a:ln>
        </p:spPr>
      </p:sp>
      <p:sp>
        <p:nvSpPr>
          <p:cNvPr id="23" name="Text 21"/>
          <p:cNvSpPr/>
          <p:nvPr/>
        </p:nvSpPr>
        <p:spPr>
          <a:xfrm>
            <a:off x="5120640" y="3483864"/>
            <a:ext cx="1956816" cy="237744"/>
          </a:xfrm>
          <a:prstGeom prst="rect">
            <a:avLst/>
          </a:prstGeom>
          <a:noFill/>
          <a:ln/>
        </p:spPr>
        <p:txBody>
          <a:bodyPr wrap="square" rtlCol="0" anchor="ctr"/>
          <a:lstStyle/>
          <a:p>
            <a:pPr algn="ctr" indent="0" marL="0">
              <a:buNone/>
            </a:pPr>
            <a:r>
              <a:rPr lang="en-US" sz="1050" b="1" dirty="0">
                <a:solidFill>
                  <a:srgbClr val="16202E"/>
                </a:solidFill>
                <a:latin typeface="Segoe UI" pitchFamily="34" charset="0"/>
                <a:ea typeface="Segoe UI" pitchFamily="34" charset="-122"/>
                <a:cs typeface="Segoe UI" pitchFamily="34" charset="-120"/>
              </a:rPr>
              <a:t>Balance persisted</a:t>
            </a:r>
            <a:endParaRPr lang="en-US" sz="1050" dirty="0"/>
          </a:p>
        </p:txBody>
      </p:sp>
      <p:sp>
        <p:nvSpPr>
          <p:cNvPr id="24" name="Text 22"/>
          <p:cNvSpPr/>
          <p:nvPr/>
        </p:nvSpPr>
        <p:spPr>
          <a:xfrm>
            <a:off x="5120640" y="3694176"/>
            <a:ext cx="1956816"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state</a:t>
            </a:r>
            <a:endParaRPr lang="en-US" sz="800" dirty="0"/>
          </a:p>
        </p:txBody>
      </p:sp>
      <p:sp>
        <p:nvSpPr>
          <p:cNvPr id="25" name="Shape 23"/>
          <p:cNvSpPr/>
          <p:nvPr/>
        </p:nvSpPr>
        <p:spPr>
          <a:xfrm>
            <a:off x="7104888" y="3739896"/>
            <a:ext cx="219456" cy="0"/>
          </a:xfrm>
          <a:prstGeom prst="line">
            <a:avLst/>
          </a:prstGeom>
          <a:noFill/>
          <a:ln w="12700">
            <a:solidFill>
              <a:srgbClr val="7C8AA0"/>
            </a:solidFill>
            <a:prstDash val="solid"/>
            <a:tailEnd type="triangle"/>
          </a:ln>
        </p:spPr>
      </p:sp>
      <p:sp>
        <p:nvSpPr>
          <p:cNvPr id="26" name="Text 24"/>
          <p:cNvSpPr/>
          <p:nvPr/>
        </p:nvSpPr>
        <p:spPr>
          <a:xfrm>
            <a:off x="6940296" y="3483864"/>
            <a:ext cx="548640" cy="164592"/>
          </a:xfrm>
          <a:prstGeom prst="rect">
            <a:avLst/>
          </a:prstGeom>
          <a:noFill/>
          <a:ln/>
        </p:spPr>
        <p:txBody>
          <a:bodyPr wrap="square" rtlCol="0" anchor="ctr"/>
          <a:lstStyle/>
          <a:p>
            <a:pPr algn="ctr" indent="0" marL="0">
              <a:buNone/>
            </a:pPr>
            <a:r>
              <a:rPr lang="en-US" sz="750" dirty="0">
                <a:solidFill>
                  <a:srgbClr val="7C8AA0"/>
                </a:solidFill>
                <a:latin typeface="Consolas" pitchFamily="34" charset="0"/>
                <a:ea typeface="Consolas" pitchFamily="34" charset="-122"/>
                <a:cs typeface="Consolas" pitchFamily="34" charset="-120"/>
              </a:rPr>
              <a:t>renders</a:t>
            </a:r>
            <a:endParaRPr lang="en-US" sz="750" dirty="0"/>
          </a:p>
        </p:txBody>
      </p:sp>
      <p:sp>
        <p:nvSpPr>
          <p:cNvPr id="27" name="Shape 25"/>
          <p:cNvSpPr/>
          <p:nvPr/>
        </p:nvSpPr>
        <p:spPr>
          <a:xfrm>
            <a:off x="7351776" y="3401568"/>
            <a:ext cx="1956816" cy="676656"/>
          </a:xfrm>
          <a:prstGeom prst="roundRect">
            <a:avLst>
              <a:gd name="adj" fmla="val 6757"/>
            </a:avLst>
          </a:prstGeom>
          <a:solidFill>
            <a:srgbClr val="FFFFFF"/>
          </a:solidFill>
          <a:ln w="9525">
            <a:solidFill>
              <a:srgbClr val="DBE3EC"/>
            </a:solidFill>
            <a:prstDash val="solid"/>
          </a:ln>
        </p:spPr>
      </p:sp>
      <p:sp>
        <p:nvSpPr>
          <p:cNvPr id="28" name="Text 26"/>
          <p:cNvSpPr/>
          <p:nvPr/>
        </p:nvSpPr>
        <p:spPr>
          <a:xfrm>
            <a:off x="7351776" y="3483864"/>
            <a:ext cx="1956816" cy="237744"/>
          </a:xfrm>
          <a:prstGeom prst="rect">
            <a:avLst/>
          </a:prstGeom>
          <a:noFill/>
          <a:ln/>
        </p:spPr>
        <p:txBody>
          <a:bodyPr wrap="square" rtlCol="0" anchor="ctr"/>
          <a:lstStyle/>
          <a:p>
            <a:pPr algn="ctr" indent="0" marL="0">
              <a:buNone/>
            </a:pPr>
            <a:r>
              <a:rPr lang="en-US" sz="1050" b="1" dirty="0">
                <a:solidFill>
                  <a:srgbClr val="16202E"/>
                </a:solidFill>
                <a:latin typeface="Segoe UI" pitchFamily="34" charset="0"/>
                <a:ea typeface="Segoe UI" pitchFamily="34" charset="-122"/>
                <a:cs typeface="Segoe UI" pitchFamily="34" charset="-120"/>
              </a:rPr>
              <a:t>Shown to the user</a:t>
            </a:r>
            <a:endParaRPr lang="en-US" sz="1050" dirty="0"/>
          </a:p>
        </p:txBody>
      </p:sp>
      <p:sp>
        <p:nvSpPr>
          <p:cNvPr id="29" name="Text 27"/>
          <p:cNvSpPr/>
          <p:nvPr/>
        </p:nvSpPr>
        <p:spPr>
          <a:xfrm>
            <a:off x="7351776" y="3694176"/>
            <a:ext cx="1956816"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surface</a:t>
            </a:r>
            <a:endParaRPr lang="en-US" sz="800" dirty="0"/>
          </a:p>
        </p:txBody>
      </p:sp>
      <p:sp>
        <p:nvSpPr>
          <p:cNvPr id="30" name="Shape 28"/>
          <p:cNvSpPr/>
          <p:nvPr/>
        </p:nvSpPr>
        <p:spPr>
          <a:xfrm>
            <a:off x="9336024" y="3739896"/>
            <a:ext cx="219456" cy="0"/>
          </a:xfrm>
          <a:prstGeom prst="line">
            <a:avLst/>
          </a:prstGeom>
          <a:noFill/>
          <a:ln w="12700">
            <a:solidFill>
              <a:srgbClr val="7C8AA0"/>
            </a:solidFill>
            <a:prstDash val="solid"/>
            <a:tailEnd type="triangle"/>
          </a:ln>
        </p:spPr>
      </p:sp>
      <p:sp>
        <p:nvSpPr>
          <p:cNvPr id="31" name="Text 29"/>
          <p:cNvSpPr/>
          <p:nvPr/>
        </p:nvSpPr>
        <p:spPr>
          <a:xfrm>
            <a:off x="9171432" y="3483864"/>
            <a:ext cx="548640" cy="164592"/>
          </a:xfrm>
          <a:prstGeom prst="rect">
            <a:avLst/>
          </a:prstGeom>
          <a:noFill/>
          <a:ln/>
        </p:spPr>
        <p:txBody>
          <a:bodyPr wrap="square" rtlCol="0" anchor="ctr"/>
          <a:lstStyle/>
          <a:p>
            <a:pPr algn="ctr" indent="0" marL="0">
              <a:buNone/>
            </a:pPr>
            <a:r>
              <a:rPr lang="en-US" sz="750" dirty="0">
                <a:solidFill>
                  <a:srgbClr val="7C8AA0"/>
                </a:solidFill>
                <a:latin typeface="Consolas" pitchFamily="34" charset="0"/>
                <a:ea typeface="Consolas" pitchFamily="34" charset="-122"/>
                <a:cs typeface="Consolas" pitchFamily="34" charset="-120"/>
              </a:rPr>
              <a:t>unlocks</a:t>
            </a:r>
            <a:endParaRPr lang="en-US" sz="750" dirty="0"/>
          </a:p>
        </p:txBody>
      </p:sp>
      <p:sp>
        <p:nvSpPr>
          <p:cNvPr id="32" name="Shape 30"/>
          <p:cNvSpPr/>
          <p:nvPr/>
        </p:nvSpPr>
        <p:spPr>
          <a:xfrm>
            <a:off x="9582912" y="3401568"/>
            <a:ext cx="1956816" cy="676656"/>
          </a:xfrm>
          <a:prstGeom prst="roundRect">
            <a:avLst>
              <a:gd name="adj" fmla="val 6757"/>
            </a:avLst>
          </a:prstGeom>
          <a:solidFill>
            <a:srgbClr val="E2F4F1"/>
          </a:solidFill>
          <a:ln w="9525">
            <a:solidFill>
              <a:srgbClr val="0F9D8F"/>
            </a:solidFill>
            <a:prstDash val="solid"/>
          </a:ln>
        </p:spPr>
      </p:sp>
      <p:sp>
        <p:nvSpPr>
          <p:cNvPr id="33" name="Text 31"/>
          <p:cNvSpPr/>
          <p:nvPr/>
        </p:nvSpPr>
        <p:spPr>
          <a:xfrm>
            <a:off x="9582912" y="3483864"/>
            <a:ext cx="1956816" cy="237744"/>
          </a:xfrm>
          <a:prstGeom prst="rect">
            <a:avLst/>
          </a:prstGeom>
          <a:noFill/>
          <a:ln/>
        </p:spPr>
        <p:txBody>
          <a:bodyPr wrap="square" rtlCol="0" anchor="ctr"/>
          <a:lstStyle/>
          <a:p>
            <a:pPr algn="ctr" indent="0" marL="0">
              <a:buNone/>
            </a:pPr>
            <a:r>
              <a:rPr lang="en-US" sz="1050" b="1" dirty="0">
                <a:solidFill>
                  <a:srgbClr val="16202E"/>
                </a:solidFill>
                <a:latin typeface="Segoe UI" pitchFamily="34" charset="0"/>
                <a:ea typeface="Segoe UI" pitchFamily="34" charset="-122"/>
                <a:cs typeface="Segoe UI" pitchFamily="34" charset="-120"/>
              </a:rPr>
              <a:t>Points spendable</a:t>
            </a:r>
            <a:endParaRPr lang="en-US" sz="1050" dirty="0"/>
          </a:p>
        </p:txBody>
      </p:sp>
      <p:sp>
        <p:nvSpPr>
          <p:cNvPr id="34" name="Text 32"/>
          <p:cNvSpPr/>
          <p:nvPr/>
        </p:nvSpPr>
        <p:spPr>
          <a:xfrm>
            <a:off x="9582912" y="3694176"/>
            <a:ext cx="1956816"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what it unlocks</a:t>
            </a:r>
            <a:endParaRPr lang="en-US" sz="800" dirty="0"/>
          </a:p>
        </p:txBody>
      </p:sp>
      <p:sp>
        <p:nvSpPr>
          <p:cNvPr id="35" name="Shape 33"/>
          <p:cNvSpPr/>
          <p:nvPr/>
        </p:nvSpPr>
        <p:spPr>
          <a:xfrm>
            <a:off x="658368" y="4206240"/>
            <a:ext cx="1956816" cy="0"/>
          </a:xfrm>
          <a:prstGeom prst="line">
            <a:avLst/>
          </a:prstGeom>
          <a:noFill/>
          <a:ln w="9525">
            <a:solidFill>
              <a:srgbClr val="7C8AA0"/>
            </a:solidFill>
            <a:prstDash val="solid"/>
          </a:ln>
        </p:spPr>
      </p:sp>
      <p:sp>
        <p:nvSpPr>
          <p:cNvPr id="36" name="Text 34"/>
          <p:cNvSpPr/>
          <p:nvPr/>
        </p:nvSpPr>
        <p:spPr>
          <a:xfrm>
            <a:off x="658368" y="4261104"/>
            <a:ext cx="1956816" cy="384048"/>
          </a:xfrm>
          <a:prstGeom prst="rect">
            <a:avLst/>
          </a:prstGeom>
          <a:noFill/>
          <a:ln/>
        </p:spPr>
        <p:txBody>
          <a:bodyPr wrap="square" rtlCol="0" anchor="t"/>
          <a:lstStyle/>
          <a:p>
            <a:pPr algn="ctr" indent="0" marL="0">
              <a:lnSpc>
                <a:spcPct val="110000"/>
              </a:lnSpc>
              <a:buNone/>
            </a:pPr>
            <a:r>
              <a:rPr lang="en-US" sz="800" dirty="0">
                <a:solidFill>
                  <a:srgbClr val="7C8AA0"/>
                </a:solidFill>
                <a:latin typeface="Consolas" pitchFamily="34" charset="0"/>
                <a:ea typeface="Consolas" pitchFamily="34" charset="-122"/>
                <a:cs typeface="Consolas" pitchFamily="34" charset="-120"/>
              </a:rPr>
              <a:t>EP · BVA · DT · ST · PW</a:t>
            </a:r>
            <a:endParaRPr lang="en-US" sz="800" dirty="0"/>
          </a:p>
          <a:p>
            <a:pPr algn="ctr" indent="0" marL="0">
              <a:lnSpc>
                <a:spcPct val="110000"/>
              </a:lnSpc>
              <a:buNone/>
            </a:pPr>
            <a:r>
              <a:rPr lang="en-US" sz="800" dirty="0">
                <a:solidFill>
                  <a:srgbClr val="7C8AA0"/>
                </a:solidFill>
                <a:latin typeface="Consolas" pitchFamily="34" charset="0"/>
                <a:ea typeface="Consolas" pitchFamily="34" charset="-122"/>
                <a:cs typeface="Consolas" pitchFamily="34" charset="-120"/>
              </a:rPr>
              <a:t>refine only THIS link</a:t>
            </a:r>
            <a:endParaRPr lang="en-US" sz="800" dirty="0"/>
          </a:p>
        </p:txBody>
      </p:sp>
      <p:sp>
        <p:nvSpPr>
          <p:cNvPr id="37" name="Text 35"/>
          <p:cNvSpPr/>
          <p:nvPr/>
        </p:nvSpPr>
        <p:spPr>
          <a:xfrm>
            <a:off x="658368" y="4663440"/>
            <a:ext cx="1956816" cy="219456"/>
          </a:xfrm>
          <a:prstGeom prst="rect">
            <a:avLst/>
          </a:prstGeom>
          <a:noFill/>
          <a:ln/>
        </p:spPr>
        <p:txBody>
          <a:bodyPr wrap="square" rtlCol="0" anchor="ctr"/>
          <a:lstStyle/>
          <a:p>
            <a:pPr algn="ctr" indent="0" marL="0">
              <a:buNone/>
            </a:pPr>
            <a:r>
              <a:rPr lang="en-US" sz="950" b="1" dirty="0">
                <a:solidFill>
                  <a:srgbClr val="16202E"/>
                </a:solidFill>
                <a:latin typeface="Segoe UI" pitchFamily="34" charset="0"/>
                <a:ea typeface="Segoe UI" pitchFamily="34" charset="-122"/>
                <a:cs typeface="Segoe UI" pitchFamily="34" charset="-120"/>
              </a:rPr>
              <a:t>where the cases piled up</a:t>
            </a:r>
            <a:endParaRPr lang="en-US" sz="950" dirty="0"/>
          </a:p>
        </p:txBody>
      </p:sp>
      <p:sp>
        <p:nvSpPr>
          <p:cNvPr id="38" name="Shape 36"/>
          <p:cNvSpPr/>
          <p:nvPr/>
        </p:nvSpPr>
        <p:spPr>
          <a:xfrm>
            <a:off x="9582912" y="4206240"/>
            <a:ext cx="1956816" cy="0"/>
          </a:xfrm>
          <a:prstGeom prst="line">
            <a:avLst/>
          </a:prstGeom>
          <a:noFill/>
          <a:ln w="9525">
            <a:solidFill>
              <a:srgbClr val="D1495B"/>
            </a:solidFill>
            <a:prstDash val="dash"/>
          </a:ln>
        </p:spPr>
      </p:sp>
      <p:sp>
        <p:nvSpPr>
          <p:cNvPr id="39" name="Text 37"/>
          <p:cNvSpPr/>
          <p:nvPr/>
        </p:nvSpPr>
        <p:spPr>
          <a:xfrm>
            <a:off x="9582912" y="4261104"/>
            <a:ext cx="1956816" cy="384048"/>
          </a:xfrm>
          <a:prstGeom prst="rect">
            <a:avLst/>
          </a:prstGeom>
          <a:noFill/>
          <a:ln/>
        </p:spPr>
        <p:txBody>
          <a:bodyPr wrap="square" rtlCol="0" anchor="t"/>
          <a:lstStyle/>
          <a:p>
            <a:pPr algn="ctr" indent="0" marL="0">
              <a:lnSpc>
                <a:spcPct val="110000"/>
              </a:lnSpc>
              <a:buNone/>
            </a:pPr>
            <a:r>
              <a:rPr lang="en-US" sz="800" dirty="0">
                <a:solidFill>
                  <a:srgbClr val="7C8AA0"/>
                </a:solidFill>
                <a:latin typeface="Consolas" pitchFamily="34" charset="0"/>
                <a:ea typeface="Consolas" pitchFamily="34" charset="-122"/>
                <a:cs typeface="Consolas" pitchFamily="34" charset="-120"/>
              </a:rPr>
              <a:t>reached last,</a:t>
            </a:r>
            <a:endParaRPr lang="en-US" sz="800" dirty="0"/>
          </a:p>
          <a:p>
            <a:pPr algn="ctr" indent="0" marL="0">
              <a:lnSpc>
                <a:spcPct val="110000"/>
              </a:lnSpc>
              <a:buNone/>
            </a:pPr>
            <a:r>
              <a:rPr lang="en-US" sz="800" dirty="0">
                <a:solidFill>
                  <a:srgbClr val="7C8AA0"/>
                </a:solidFill>
                <a:latin typeface="Consolas" pitchFamily="34" charset="0"/>
                <a:ea typeface="Consolas" pitchFamily="34" charset="-122"/>
                <a:cs typeface="Consolas" pitchFamily="34" charset="-120"/>
              </a:rPr>
              <a:t>or not at all</a:t>
            </a:r>
            <a:endParaRPr lang="en-US" sz="800" dirty="0"/>
          </a:p>
        </p:txBody>
      </p:sp>
      <p:sp>
        <p:nvSpPr>
          <p:cNvPr id="40" name="Text 38"/>
          <p:cNvSpPr/>
          <p:nvPr/>
        </p:nvSpPr>
        <p:spPr>
          <a:xfrm>
            <a:off x="9582912" y="4663440"/>
            <a:ext cx="1956816" cy="219456"/>
          </a:xfrm>
          <a:prstGeom prst="rect">
            <a:avLst/>
          </a:prstGeom>
          <a:noFill/>
          <a:ln/>
        </p:spPr>
        <p:txBody>
          <a:bodyPr wrap="square" rtlCol="0" anchor="ctr"/>
          <a:lstStyle/>
          <a:p>
            <a:pPr algn="ctr" indent="0" marL="0">
              <a:buNone/>
            </a:pPr>
            <a:r>
              <a:rPr lang="en-US" sz="950" b="1" dirty="0">
                <a:solidFill>
                  <a:srgbClr val="D1495B"/>
                </a:solidFill>
                <a:latin typeface="Segoe UI" pitchFamily="34" charset="0"/>
                <a:ea typeface="Segoe UI" pitchFamily="34" charset="-122"/>
                <a:cs typeface="Segoe UI" pitchFamily="34" charset="-120"/>
              </a:rPr>
              <a:t>the hole</a:t>
            </a:r>
            <a:endParaRPr lang="en-US" sz="950" dirty="0"/>
          </a:p>
        </p:txBody>
      </p:sp>
      <p:sp>
        <p:nvSpPr>
          <p:cNvPr id="41" name="Text 39"/>
          <p:cNvSpPr/>
          <p:nvPr/>
        </p:nvSpPr>
        <p:spPr>
          <a:xfrm>
            <a:off x="658368" y="5230368"/>
            <a:ext cx="10872216" cy="219456"/>
          </a:xfrm>
          <a:prstGeom prst="rect">
            <a:avLst/>
          </a:prstGeom>
          <a:noFill/>
          <a:ln/>
        </p:spPr>
        <p:txBody>
          <a:bodyPr wrap="square" rtlCol="0" anchor="ctr"/>
          <a:lstStyle/>
          <a:p>
            <a:pPr algn="ctr" indent="0" marL="0">
              <a:buNone/>
            </a:pPr>
            <a:r>
              <a:rPr lang="en-US" sz="850" dirty="0">
                <a:solidFill>
                  <a:srgbClr val="7C8AA0"/>
                </a:solidFill>
                <a:latin typeface="Consolas" pitchFamily="34" charset="0"/>
                <a:ea typeface="Consolas" pitchFamily="34" charset="-122"/>
                <a:cs typeface="Consolas" pitchFamily="34" charset="-120"/>
              </a:rPr>
              <a:t>Part 0 states the chain in the reader's own words, draws it, and publishes a variants × links matrix with no blank cells.</a:t>
            </a:r>
            <a:endParaRPr lang="en-US" sz="850" dirty="0"/>
          </a:p>
        </p:txBody>
      </p:sp>
      <p:sp>
        <p:nvSpPr>
          <p:cNvPr id="42" name="Shape 40"/>
          <p:cNvSpPr/>
          <p:nvPr/>
        </p:nvSpPr>
        <p:spPr>
          <a:xfrm>
            <a:off x="658368" y="5577840"/>
            <a:ext cx="1762963" cy="310896"/>
          </a:xfrm>
          <a:prstGeom prst="roundRect">
            <a:avLst>
              <a:gd name="adj" fmla="val 14706"/>
            </a:avLst>
          </a:prstGeom>
          <a:solidFill>
            <a:srgbClr val="E8EAFB"/>
          </a:solidFill>
          <a:ln w="6350">
            <a:solidFill>
              <a:srgbClr val="5566E0"/>
            </a:solidFill>
            <a:prstDash val="solid"/>
          </a:ln>
        </p:spPr>
      </p:sp>
      <p:sp>
        <p:nvSpPr>
          <p:cNvPr id="43" name="Text 41"/>
          <p:cNvSpPr/>
          <p:nvPr/>
        </p:nvSpPr>
        <p:spPr>
          <a:xfrm>
            <a:off x="658368" y="5577840"/>
            <a:ext cx="1762963" cy="310896"/>
          </a:xfrm>
          <a:prstGeom prst="rect">
            <a:avLst/>
          </a:prstGeom>
          <a:noFill/>
          <a:ln/>
        </p:spPr>
        <p:txBody>
          <a:bodyPr wrap="square" rtlCol="0" anchor="ctr"/>
          <a:lstStyle/>
          <a:p>
            <a:pPr algn="ctr" indent="0" marL="0">
              <a:buNone/>
            </a:pPr>
            <a:r>
              <a:rPr lang="en-US" sz="900" dirty="0">
                <a:solidFill>
                  <a:srgbClr val="5566E0"/>
                </a:solidFill>
                <a:latin typeface="Consolas" pitchFamily="34" charset="0"/>
                <a:ea typeface="Consolas" pitchFamily="34" charset="-122"/>
                <a:cs typeface="Consolas" pitchFamily="34" charset="-120"/>
              </a:rPr>
              <a:t>condition space per link</a:t>
            </a:r>
            <a:endParaRPr lang="en-US" sz="900" dirty="0"/>
          </a:p>
        </p:txBody>
      </p:sp>
      <p:sp>
        <p:nvSpPr>
          <p:cNvPr id="44" name="Shape 42"/>
          <p:cNvSpPr/>
          <p:nvPr/>
        </p:nvSpPr>
        <p:spPr>
          <a:xfrm>
            <a:off x="2531059" y="5577840"/>
            <a:ext cx="1762963" cy="310896"/>
          </a:xfrm>
          <a:prstGeom prst="roundRect">
            <a:avLst>
              <a:gd name="adj" fmla="val 14706"/>
            </a:avLst>
          </a:prstGeom>
          <a:solidFill>
            <a:srgbClr val="E8EAFB"/>
          </a:solidFill>
          <a:ln w="6350">
            <a:solidFill>
              <a:srgbClr val="5566E0"/>
            </a:solidFill>
            <a:prstDash val="solid"/>
          </a:ln>
        </p:spPr>
      </p:sp>
      <p:sp>
        <p:nvSpPr>
          <p:cNvPr id="45" name="Text 43"/>
          <p:cNvSpPr/>
          <p:nvPr/>
        </p:nvSpPr>
        <p:spPr>
          <a:xfrm>
            <a:off x="2531059" y="5577840"/>
            <a:ext cx="1762963" cy="310896"/>
          </a:xfrm>
          <a:prstGeom prst="rect">
            <a:avLst/>
          </a:prstGeom>
          <a:noFill/>
          <a:ln/>
        </p:spPr>
        <p:txBody>
          <a:bodyPr wrap="square" rtlCol="0" anchor="ctr"/>
          <a:lstStyle/>
          <a:p>
            <a:pPr algn="ctr" indent="0" marL="0">
              <a:buNone/>
            </a:pPr>
            <a:r>
              <a:rPr lang="en-US" sz="900" dirty="0">
                <a:solidFill>
                  <a:srgbClr val="5566E0"/>
                </a:solidFill>
                <a:latin typeface="Consolas" pitchFamily="34" charset="0"/>
                <a:ea typeface="Consolas" pitchFamily="34" charset="-122"/>
                <a:cs typeface="Consolas" pitchFamily="34" charset="-120"/>
              </a:rPr>
              <a:t>explicit N → M reduction</a:t>
            </a:r>
            <a:endParaRPr lang="en-US" sz="900" dirty="0"/>
          </a:p>
        </p:txBody>
      </p:sp>
      <p:sp>
        <p:nvSpPr>
          <p:cNvPr id="46" name="Shape 44"/>
          <p:cNvSpPr/>
          <p:nvPr/>
        </p:nvSpPr>
        <p:spPr>
          <a:xfrm>
            <a:off x="4403750" y="5577840"/>
            <a:ext cx="3474720" cy="310896"/>
          </a:xfrm>
          <a:prstGeom prst="roundRect">
            <a:avLst>
              <a:gd name="adj" fmla="val 14706"/>
            </a:avLst>
          </a:prstGeom>
          <a:solidFill>
            <a:srgbClr val="E8EAFB"/>
          </a:solidFill>
          <a:ln w="6350">
            <a:solidFill>
              <a:srgbClr val="5566E0"/>
            </a:solidFill>
            <a:prstDash val="solid"/>
          </a:ln>
        </p:spPr>
      </p:sp>
      <p:sp>
        <p:nvSpPr>
          <p:cNvPr id="47" name="Text 45"/>
          <p:cNvSpPr/>
          <p:nvPr/>
        </p:nvSpPr>
        <p:spPr>
          <a:xfrm>
            <a:off x="4403750" y="5577840"/>
            <a:ext cx="3474720" cy="310896"/>
          </a:xfrm>
          <a:prstGeom prst="rect">
            <a:avLst/>
          </a:prstGeom>
          <a:noFill/>
          <a:ln/>
        </p:spPr>
        <p:txBody>
          <a:bodyPr wrap="square" rtlCol="0" anchor="ctr"/>
          <a:lstStyle/>
          <a:p>
            <a:pPr algn="ctr" indent="0" marL="0">
              <a:buNone/>
            </a:pPr>
            <a:r>
              <a:rPr lang="en-US" sz="900" dirty="0">
                <a:solidFill>
                  <a:srgbClr val="5566E0"/>
                </a:solidFill>
                <a:latin typeface="Consolas" pitchFamily="34" charset="0"/>
                <a:ea typeface="Consolas" pitchFamily="34" charset="-122"/>
                <a:cs typeface="Consolas" pitchFamily="34" charset="-120"/>
              </a:rPr>
              <a:t>cell · hypothesis · archetype · technique · oracle</a:t>
            </a:r>
            <a:endParaRPr lang="en-US" sz="900" dirty="0"/>
          </a:p>
        </p:txBody>
      </p:sp>
      <p:sp>
        <p:nvSpPr>
          <p:cNvPr id="48" name="Shape 46"/>
          <p:cNvSpPr/>
          <p:nvPr/>
        </p:nvSpPr>
        <p:spPr>
          <a:xfrm>
            <a:off x="7988198" y="5577840"/>
            <a:ext cx="1894637" cy="310896"/>
          </a:xfrm>
          <a:prstGeom prst="roundRect">
            <a:avLst>
              <a:gd name="adj" fmla="val 14706"/>
            </a:avLst>
          </a:prstGeom>
          <a:solidFill>
            <a:srgbClr val="E8EAFB"/>
          </a:solidFill>
          <a:ln w="6350">
            <a:solidFill>
              <a:srgbClr val="5566E0"/>
            </a:solidFill>
            <a:prstDash val="solid"/>
          </a:ln>
        </p:spPr>
      </p:sp>
      <p:sp>
        <p:nvSpPr>
          <p:cNvPr id="49" name="Text 47"/>
          <p:cNvSpPr/>
          <p:nvPr/>
        </p:nvSpPr>
        <p:spPr>
          <a:xfrm>
            <a:off x="7988198" y="5577840"/>
            <a:ext cx="1894637" cy="310896"/>
          </a:xfrm>
          <a:prstGeom prst="rect">
            <a:avLst/>
          </a:prstGeom>
          <a:noFill/>
          <a:ln/>
        </p:spPr>
        <p:txBody>
          <a:bodyPr wrap="square" rtlCol="0" anchor="ctr"/>
          <a:lstStyle/>
          <a:p>
            <a:pPr algn="ctr" indent="0" marL="0">
              <a:buNone/>
            </a:pPr>
            <a:r>
              <a:rPr lang="en-US" sz="900" dirty="0">
                <a:solidFill>
                  <a:srgbClr val="5566E0"/>
                </a:solidFill>
                <a:latin typeface="Consolas" pitchFamily="34" charset="0"/>
                <a:ea typeface="Consolas" pitchFamily="34" charset="-122"/>
                <a:cs typeface="Consolas" pitchFamily="34" charset="-120"/>
              </a:rPr>
              <a:t>gated before a case exists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4353197"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5 / 14</a:t>
            </a:r>
            <a:endParaRPr lang="en-US" sz="900" dirty="0"/>
          </a:p>
        </p:txBody>
      </p:sp>
      <p:sp>
        <p:nvSpPr>
          <p:cNvPr id="4" name="Shape 2"/>
          <p:cNvSpPr/>
          <p:nvPr/>
        </p:nvSpPr>
        <p:spPr>
          <a:xfrm>
            <a:off x="658368" y="566928"/>
            <a:ext cx="237744" cy="25603"/>
          </a:xfrm>
          <a:prstGeom prst="rect">
            <a:avLst/>
          </a:prstGeom>
          <a:solidFill>
            <a:srgbClr val="0F9D8F"/>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0A6E64"/>
                </a:solidFill>
                <a:latin typeface="Consolas" pitchFamily="34" charset="0"/>
                <a:ea typeface="Consolas" pitchFamily="34" charset="-122"/>
                <a:cs typeface="Consolas" pitchFamily="34" charset="-120"/>
              </a:rPr>
              <a:t>STEP 1A · ROUTING</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600" b="1" dirty="0">
                <a:solidFill>
                  <a:srgbClr val="16202E"/>
                </a:solidFill>
                <a:latin typeface="Segoe UI" pitchFamily="34" charset="0"/>
                <a:ea typeface="Segoe UI" pitchFamily="34" charset="-122"/>
                <a:cs typeface="Segoe UI" pitchFamily="34" charset="-120"/>
              </a:rPr>
              <a:t>FAST is a checklist and nothing else —</a:t>
            </a:r>
            <a:endParaRPr lang="en-US" sz="2600" dirty="0"/>
          </a:p>
          <a:p>
            <a:pPr indent="0" marL="0">
              <a:buNone/>
            </a:pPr>
            <a:r>
              <a:rPr lang="en-US" sz="2600" b="1" dirty="0">
                <a:solidFill>
                  <a:srgbClr val="16202E"/>
                </a:solidFill>
                <a:latin typeface="Segoe UI" pitchFamily="34" charset="0"/>
                <a:ea typeface="Segoe UI" pitchFamily="34" charset="-122"/>
                <a:cs typeface="Segoe UI" pitchFamily="34" charset="-120"/>
              </a:rPr>
              <a:t>that promise is now literally true.</a:t>
            </a:r>
            <a:endParaRPr lang="en-US" sz="2600" dirty="0"/>
          </a:p>
        </p:txBody>
      </p:sp>
      <p:sp>
        <p:nvSpPr>
          <p:cNvPr id="7" name="Text 5"/>
          <p:cNvSpPr/>
          <p:nvPr/>
        </p:nvSpPr>
        <p:spPr>
          <a:xfrm>
            <a:off x="658368" y="1993392"/>
            <a:ext cx="9875520" cy="685800"/>
          </a:xfrm>
          <a:prstGeom prst="rect">
            <a:avLst/>
          </a:prstGeom>
          <a:noFill/>
          <a:ln/>
        </p:spPr>
        <p:txBody>
          <a:bodyPr wrap="square" rtlCol="0" anchor="t"/>
          <a:lstStyle/>
          <a:p>
            <a:pPr indent="0" marL="0">
              <a:lnSpc>
                <a:spcPct val="125000"/>
              </a:lnSpc>
              <a:buNone/>
            </a:pPr>
            <a:r>
              <a:rPr lang="en-US" sz="1300" dirty="0">
                <a:solidFill>
                  <a:srgbClr val="4D5C70"/>
                </a:solidFill>
                <a:latin typeface="Segoe UI" pitchFamily="34" charset="0"/>
                <a:ea typeface="Segoe UI" pitchFamily="34" charset="-122"/>
                <a:cs typeface="Segoe UI" pitchFamily="34" charset="-120"/>
              </a:rPr>
              <a:t>The old split dropped the two analysis agents and left everything expensive marked both paths, always. Most recorded runs take FAST, so that is exactly where the cost was sitting.</a:t>
            </a:r>
            <a:endParaRPr lang="en-US" sz="1300" dirty="0"/>
          </a:p>
        </p:txBody>
      </p:sp>
      <p:sp>
        <p:nvSpPr>
          <p:cNvPr id="8" name="Shape 6"/>
          <p:cNvSpPr/>
          <p:nvPr/>
        </p:nvSpPr>
        <p:spPr>
          <a:xfrm>
            <a:off x="2706624" y="3200400"/>
            <a:ext cx="0" cy="457200"/>
          </a:xfrm>
          <a:prstGeom prst="line">
            <a:avLst/>
          </a:prstGeom>
          <a:noFill/>
          <a:ln w="22225">
            <a:solidFill>
              <a:srgbClr val="0F9D8F"/>
            </a:solidFill>
            <a:prstDash val="solid"/>
          </a:ln>
        </p:spPr>
      </p:sp>
      <p:sp>
        <p:nvSpPr>
          <p:cNvPr id="9" name="Shape 7"/>
          <p:cNvSpPr/>
          <p:nvPr/>
        </p:nvSpPr>
        <p:spPr>
          <a:xfrm>
            <a:off x="2706624" y="3200400"/>
            <a:ext cx="5632704" cy="0"/>
          </a:xfrm>
          <a:prstGeom prst="line">
            <a:avLst/>
          </a:prstGeom>
          <a:noFill/>
          <a:ln w="22225">
            <a:solidFill>
              <a:srgbClr val="0F9D8F"/>
            </a:solidFill>
            <a:prstDash val="solid"/>
          </a:ln>
        </p:spPr>
      </p:sp>
      <p:sp>
        <p:nvSpPr>
          <p:cNvPr id="10" name="Shape 8"/>
          <p:cNvSpPr/>
          <p:nvPr/>
        </p:nvSpPr>
        <p:spPr>
          <a:xfrm>
            <a:off x="8339328" y="3200400"/>
            <a:ext cx="0" cy="402336"/>
          </a:xfrm>
          <a:prstGeom prst="line">
            <a:avLst/>
          </a:prstGeom>
          <a:noFill/>
          <a:ln w="22225">
            <a:solidFill>
              <a:srgbClr val="0F9D8F"/>
            </a:solidFill>
            <a:prstDash val="solid"/>
            <a:tailEnd type="triangle"/>
          </a:ln>
        </p:spPr>
      </p:sp>
      <p:sp>
        <p:nvSpPr>
          <p:cNvPr id="11" name="Text 9"/>
          <p:cNvSpPr/>
          <p:nvPr/>
        </p:nvSpPr>
        <p:spPr>
          <a:xfrm>
            <a:off x="2706624" y="2907792"/>
            <a:ext cx="5632704" cy="237744"/>
          </a:xfrm>
          <a:prstGeom prst="rect">
            <a:avLst/>
          </a:prstGeom>
          <a:noFill/>
          <a:ln/>
        </p:spPr>
        <p:txBody>
          <a:bodyPr wrap="square" rtlCol="0" anchor="ctr"/>
          <a:lstStyle/>
          <a:p>
            <a:pPr algn="ctr" indent="0" marL="0">
              <a:buNone/>
            </a:pPr>
            <a:r>
              <a:rPr lang="en-US" sz="1000" b="1" dirty="0">
                <a:solidFill>
                  <a:srgbClr val="0F9D8F"/>
                </a:solidFill>
                <a:latin typeface="Consolas" pitchFamily="34" charset="0"/>
                <a:ea typeface="Consolas" pitchFamily="34" charset="-122"/>
                <a:cs typeface="Consolas" pitchFamily="34" charset="-120"/>
              </a:rPr>
              <a:t>FAST skips all of this</a:t>
            </a:r>
            <a:endParaRPr lang="en-US" sz="1000" dirty="0"/>
          </a:p>
        </p:txBody>
      </p:sp>
      <p:sp>
        <p:nvSpPr>
          <p:cNvPr id="12" name="Shape 10"/>
          <p:cNvSpPr/>
          <p:nvPr/>
        </p:nvSpPr>
        <p:spPr>
          <a:xfrm>
            <a:off x="658368" y="3657600"/>
            <a:ext cx="1280160" cy="640080"/>
          </a:xfrm>
          <a:prstGeom prst="roundRect">
            <a:avLst>
              <a:gd name="adj" fmla="val 7143"/>
            </a:avLst>
          </a:prstGeom>
          <a:solidFill>
            <a:srgbClr val="FFFFFF"/>
          </a:solidFill>
          <a:ln w="9525">
            <a:solidFill>
              <a:srgbClr val="DBE3EC"/>
            </a:solidFill>
            <a:prstDash val="solid"/>
          </a:ln>
        </p:spPr>
      </p:sp>
      <p:sp>
        <p:nvSpPr>
          <p:cNvPr id="13" name="Text 11"/>
          <p:cNvSpPr/>
          <p:nvPr/>
        </p:nvSpPr>
        <p:spPr>
          <a:xfrm>
            <a:off x="658368" y="3739896"/>
            <a:ext cx="1280160" cy="237744"/>
          </a:xfrm>
          <a:prstGeom prst="rect">
            <a:avLst/>
          </a:prstGeom>
          <a:noFill/>
          <a:ln/>
        </p:spPr>
        <p:txBody>
          <a:bodyPr wrap="square" rtlCol="0" anchor="ctr"/>
          <a:lstStyle/>
          <a:p>
            <a:pPr algn="ctr" indent="0" marL="0">
              <a:buNone/>
            </a:pPr>
            <a:r>
              <a:rPr lang="en-US" sz="950" b="1" dirty="0">
                <a:solidFill>
                  <a:srgbClr val="16202E"/>
                </a:solidFill>
                <a:latin typeface="Segoe UI" pitchFamily="34" charset="0"/>
                <a:ea typeface="Segoe UI" pitchFamily="34" charset="-122"/>
                <a:cs typeface="Segoe UI" pitchFamily="34" charset="-120"/>
              </a:rPr>
              <a:t>1a route</a:t>
            </a:r>
            <a:endParaRPr lang="en-US" sz="950" dirty="0"/>
          </a:p>
        </p:txBody>
      </p:sp>
      <p:sp>
        <p:nvSpPr>
          <p:cNvPr id="14" name="Text 12"/>
          <p:cNvSpPr/>
          <p:nvPr/>
        </p:nvSpPr>
        <p:spPr>
          <a:xfrm>
            <a:off x="658368" y="3950208"/>
            <a:ext cx="1280160"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flow + path</a:t>
            </a:r>
            <a:endParaRPr lang="en-US" sz="800" dirty="0"/>
          </a:p>
        </p:txBody>
      </p:sp>
      <p:sp>
        <p:nvSpPr>
          <p:cNvPr id="15" name="Shape 13"/>
          <p:cNvSpPr/>
          <p:nvPr/>
        </p:nvSpPr>
        <p:spPr>
          <a:xfrm>
            <a:off x="1947672" y="3977640"/>
            <a:ext cx="109728" cy="0"/>
          </a:xfrm>
          <a:prstGeom prst="line">
            <a:avLst/>
          </a:prstGeom>
          <a:noFill/>
          <a:ln w="12700">
            <a:solidFill>
              <a:srgbClr val="7C8AA0"/>
            </a:solidFill>
            <a:prstDash val="solid"/>
            <a:tailEnd type="triangle"/>
          </a:ln>
        </p:spPr>
      </p:sp>
      <p:sp>
        <p:nvSpPr>
          <p:cNvPr id="16" name="Shape 14"/>
          <p:cNvSpPr/>
          <p:nvPr/>
        </p:nvSpPr>
        <p:spPr>
          <a:xfrm>
            <a:off x="2066544" y="3657600"/>
            <a:ext cx="1280160" cy="640080"/>
          </a:xfrm>
          <a:prstGeom prst="roundRect">
            <a:avLst>
              <a:gd name="adj" fmla="val 7143"/>
            </a:avLst>
          </a:prstGeom>
          <a:solidFill>
            <a:srgbClr val="FFFFFF"/>
          </a:solidFill>
          <a:ln w="9525">
            <a:solidFill>
              <a:srgbClr val="DBE3EC"/>
            </a:solidFill>
            <a:prstDash val="solid"/>
          </a:ln>
        </p:spPr>
      </p:sp>
      <p:sp>
        <p:nvSpPr>
          <p:cNvPr id="17" name="Text 15"/>
          <p:cNvSpPr/>
          <p:nvPr/>
        </p:nvSpPr>
        <p:spPr>
          <a:xfrm>
            <a:off x="2066544" y="3739896"/>
            <a:ext cx="1280160" cy="237744"/>
          </a:xfrm>
          <a:prstGeom prst="rect">
            <a:avLst/>
          </a:prstGeom>
          <a:noFill/>
          <a:ln/>
        </p:spPr>
        <p:txBody>
          <a:bodyPr wrap="square" rtlCol="0" anchor="ctr"/>
          <a:lstStyle/>
          <a:p>
            <a:pPr algn="ctr" indent="0" marL="0">
              <a:buNone/>
            </a:pPr>
            <a:r>
              <a:rPr lang="en-US" sz="950" b="1" dirty="0">
                <a:solidFill>
                  <a:srgbClr val="16202E"/>
                </a:solidFill>
                <a:latin typeface="Segoe UI" pitchFamily="34" charset="0"/>
                <a:ea typeface="Segoe UI" pitchFamily="34" charset="-122"/>
                <a:cs typeface="Segoe UI" pitchFamily="34" charset="-120"/>
              </a:rPr>
              <a:t>1b pre-flight</a:t>
            </a:r>
            <a:endParaRPr lang="en-US" sz="950" dirty="0"/>
          </a:p>
        </p:txBody>
      </p:sp>
      <p:sp>
        <p:nvSpPr>
          <p:cNvPr id="18" name="Text 16"/>
          <p:cNvSpPr/>
          <p:nvPr/>
        </p:nvSpPr>
        <p:spPr>
          <a:xfrm>
            <a:off x="2066544" y="3950208"/>
            <a:ext cx="1280160"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5 axes</a:t>
            </a:r>
            <a:endParaRPr lang="en-US" sz="800" dirty="0"/>
          </a:p>
        </p:txBody>
      </p:sp>
      <p:sp>
        <p:nvSpPr>
          <p:cNvPr id="19" name="Shape 17"/>
          <p:cNvSpPr/>
          <p:nvPr/>
        </p:nvSpPr>
        <p:spPr>
          <a:xfrm>
            <a:off x="3355848" y="3977640"/>
            <a:ext cx="109728" cy="0"/>
          </a:xfrm>
          <a:prstGeom prst="line">
            <a:avLst/>
          </a:prstGeom>
          <a:noFill/>
          <a:ln w="12700">
            <a:solidFill>
              <a:srgbClr val="7C8AA0"/>
            </a:solidFill>
            <a:prstDash val="solid"/>
            <a:tailEnd type="triangle"/>
          </a:ln>
        </p:spPr>
      </p:sp>
      <p:sp>
        <p:nvSpPr>
          <p:cNvPr id="20" name="Shape 18"/>
          <p:cNvSpPr/>
          <p:nvPr/>
        </p:nvSpPr>
        <p:spPr>
          <a:xfrm>
            <a:off x="3474720" y="3657600"/>
            <a:ext cx="1280160" cy="640080"/>
          </a:xfrm>
          <a:prstGeom prst="roundRect">
            <a:avLst>
              <a:gd name="adj" fmla="val 7143"/>
            </a:avLst>
          </a:prstGeom>
          <a:solidFill>
            <a:srgbClr val="E8EAFB"/>
          </a:solidFill>
          <a:ln w="11430">
            <a:solidFill>
              <a:srgbClr val="5566E0"/>
            </a:solidFill>
            <a:prstDash val="dash"/>
          </a:ln>
        </p:spPr>
      </p:sp>
      <p:sp>
        <p:nvSpPr>
          <p:cNvPr id="21" name="Text 19"/>
          <p:cNvSpPr/>
          <p:nvPr/>
        </p:nvSpPr>
        <p:spPr>
          <a:xfrm>
            <a:off x="3474720" y="3739896"/>
            <a:ext cx="1280160" cy="237744"/>
          </a:xfrm>
          <a:prstGeom prst="rect">
            <a:avLst/>
          </a:prstGeom>
          <a:noFill/>
          <a:ln/>
        </p:spPr>
        <p:txBody>
          <a:bodyPr wrap="square" rtlCol="0" anchor="ctr"/>
          <a:lstStyle/>
          <a:p>
            <a:pPr algn="ctr" indent="0" marL="0">
              <a:buNone/>
            </a:pPr>
            <a:r>
              <a:rPr lang="en-US" sz="950" b="1" dirty="0">
                <a:solidFill>
                  <a:srgbClr val="16202E"/>
                </a:solidFill>
                <a:latin typeface="Segoe UI" pitchFamily="34" charset="0"/>
                <a:ea typeface="Segoe UI" pitchFamily="34" charset="-122"/>
                <a:cs typeface="Segoe UI" pitchFamily="34" charset="-120"/>
              </a:rPr>
              <a:t>1c || 1d</a:t>
            </a:r>
            <a:endParaRPr lang="en-US" sz="950" dirty="0"/>
          </a:p>
        </p:txBody>
      </p:sp>
      <p:sp>
        <p:nvSpPr>
          <p:cNvPr id="22" name="Text 20"/>
          <p:cNvSpPr/>
          <p:nvPr/>
        </p:nvSpPr>
        <p:spPr>
          <a:xfrm>
            <a:off x="3474720" y="3950208"/>
            <a:ext cx="1280160"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analysis</a:t>
            </a:r>
            <a:endParaRPr lang="en-US" sz="800" dirty="0"/>
          </a:p>
        </p:txBody>
      </p:sp>
      <p:sp>
        <p:nvSpPr>
          <p:cNvPr id="23" name="Shape 21"/>
          <p:cNvSpPr/>
          <p:nvPr/>
        </p:nvSpPr>
        <p:spPr>
          <a:xfrm>
            <a:off x="4764024" y="3977640"/>
            <a:ext cx="109728" cy="0"/>
          </a:xfrm>
          <a:prstGeom prst="line">
            <a:avLst/>
          </a:prstGeom>
          <a:noFill/>
          <a:ln w="12700">
            <a:solidFill>
              <a:srgbClr val="7C8AA0"/>
            </a:solidFill>
            <a:prstDash val="solid"/>
            <a:tailEnd type="triangle"/>
          </a:ln>
        </p:spPr>
      </p:sp>
      <p:sp>
        <p:nvSpPr>
          <p:cNvPr id="24" name="Shape 22"/>
          <p:cNvSpPr/>
          <p:nvPr/>
        </p:nvSpPr>
        <p:spPr>
          <a:xfrm>
            <a:off x="4882896" y="3657600"/>
            <a:ext cx="1280160" cy="640080"/>
          </a:xfrm>
          <a:prstGeom prst="roundRect">
            <a:avLst>
              <a:gd name="adj" fmla="val 7143"/>
            </a:avLst>
          </a:prstGeom>
          <a:solidFill>
            <a:srgbClr val="E8EAFB"/>
          </a:solidFill>
          <a:ln w="11430">
            <a:solidFill>
              <a:srgbClr val="5566E0"/>
            </a:solidFill>
            <a:prstDash val="dash"/>
          </a:ln>
        </p:spPr>
      </p:sp>
      <p:sp>
        <p:nvSpPr>
          <p:cNvPr id="25" name="Text 23"/>
          <p:cNvSpPr/>
          <p:nvPr/>
        </p:nvSpPr>
        <p:spPr>
          <a:xfrm>
            <a:off x="4882896" y="3739896"/>
            <a:ext cx="1280160" cy="237744"/>
          </a:xfrm>
          <a:prstGeom prst="rect">
            <a:avLst/>
          </a:prstGeom>
          <a:noFill/>
          <a:ln/>
        </p:spPr>
        <p:txBody>
          <a:bodyPr wrap="square" rtlCol="0" anchor="ctr"/>
          <a:lstStyle/>
          <a:p>
            <a:pPr algn="ctr" indent="0" marL="0">
              <a:buNone/>
            </a:pPr>
            <a:r>
              <a:rPr lang="en-US" sz="950" b="1" dirty="0">
                <a:solidFill>
                  <a:srgbClr val="16202E"/>
                </a:solidFill>
                <a:latin typeface="Segoe UI" pitchFamily="34" charset="0"/>
                <a:ea typeface="Segoe UI" pitchFamily="34" charset="-122"/>
                <a:cs typeface="Segoe UI" pitchFamily="34" charset="-120"/>
              </a:rPr>
              <a:t>1e model</a:t>
            </a:r>
            <a:endParaRPr lang="en-US" sz="950" dirty="0"/>
          </a:p>
        </p:txBody>
      </p:sp>
      <p:sp>
        <p:nvSpPr>
          <p:cNvPr id="26" name="Text 24"/>
          <p:cNvSpPr/>
          <p:nvPr/>
        </p:nvSpPr>
        <p:spPr>
          <a:xfrm>
            <a:off x="4882896" y="3950208"/>
            <a:ext cx="1280160"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fault model</a:t>
            </a:r>
            <a:endParaRPr lang="en-US" sz="800" dirty="0"/>
          </a:p>
        </p:txBody>
      </p:sp>
      <p:sp>
        <p:nvSpPr>
          <p:cNvPr id="27" name="Shape 25"/>
          <p:cNvSpPr/>
          <p:nvPr/>
        </p:nvSpPr>
        <p:spPr>
          <a:xfrm>
            <a:off x="6172200" y="3977640"/>
            <a:ext cx="109728" cy="0"/>
          </a:xfrm>
          <a:prstGeom prst="line">
            <a:avLst/>
          </a:prstGeom>
          <a:noFill/>
          <a:ln w="12700">
            <a:solidFill>
              <a:srgbClr val="7C8AA0"/>
            </a:solidFill>
            <a:prstDash val="solid"/>
            <a:tailEnd type="triangle"/>
          </a:ln>
        </p:spPr>
      </p:sp>
      <p:sp>
        <p:nvSpPr>
          <p:cNvPr id="28" name="Shape 26"/>
          <p:cNvSpPr/>
          <p:nvPr/>
        </p:nvSpPr>
        <p:spPr>
          <a:xfrm>
            <a:off x="6291072" y="3657600"/>
            <a:ext cx="1280160" cy="640080"/>
          </a:xfrm>
          <a:prstGeom prst="roundRect">
            <a:avLst>
              <a:gd name="adj" fmla="val 7143"/>
            </a:avLst>
          </a:prstGeom>
          <a:solidFill>
            <a:srgbClr val="E8EAFB"/>
          </a:solidFill>
          <a:ln w="11430">
            <a:solidFill>
              <a:srgbClr val="5566E0"/>
            </a:solidFill>
            <a:prstDash val="dash"/>
          </a:ln>
        </p:spPr>
      </p:sp>
      <p:sp>
        <p:nvSpPr>
          <p:cNvPr id="29" name="Text 27"/>
          <p:cNvSpPr/>
          <p:nvPr/>
        </p:nvSpPr>
        <p:spPr>
          <a:xfrm>
            <a:off x="6291072" y="3739896"/>
            <a:ext cx="1280160" cy="237744"/>
          </a:xfrm>
          <a:prstGeom prst="rect">
            <a:avLst/>
          </a:prstGeom>
          <a:noFill/>
          <a:ln/>
        </p:spPr>
        <p:txBody>
          <a:bodyPr wrap="square" rtlCol="0" anchor="ctr"/>
          <a:lstStyle/>
          <a:p>
            <a:pPr algn="ctr" indent="0" marL="0">
              <a:buNone/>
            </a:pPr>
            <a:r>
              <a:rPr lang="en-US" sz="950" b="1" dirty="0">
                <a:solidFill>
                  <a:srgbClr val="16202E"/>
                </a:solidFill>
                <a:latin typeface="Segoe UI" pitchFamily="34" charset="0"/>
                <a:ea typeface="Segoe UI" pitchFamily="34" charset="-122"/>
                <a:cs typeface="Segoe UI" pitchFamily="34" charset="-120"/>
              </a:rPr>
              <a:t>3 · 3x</a:t>
            </a:r>
            <a:endParaRPr lang="en-US" sz="950" dirty="0"/>
          </a:p>
        </p:txBody>
      </p:sp>
      <p:sp>
        <p:nvSpPr>
          <p:cNvPr id="30" name="Text 28"/>
          <p:cNvSpPr/>
          <p:nvPr/>
        </p:nvSpPr>
        <p:spPr>
          <a:xfrm>
            <a:off x="6291072" y="3950208"/>
            <a:ext cx="1280160"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author + explore</a:t>
            </a:r>
            <a:endParaRPr lang="en-US" sz="800" dirty="0"/>
          </a:p>
        </p:txBody>
      </p:sp>
      <p:sp>
        <p:nvSpPr>
          <p:cNvPr id="31" name="Shape 29"/>
          <p:cNvSpPr/>
          <p:nvPr/>
        </p:nvSpPr>
        <p:spPr>
          <a:xfrm>
            <a:off x="7580376" y="3977640"/>
            <a:ext cx="109728" cy="0"/>
          </a:xfrm>
          <a:prstGeom prst="line">
            <a:avLst/>
          </a:prstGeom>
          <a:noFill/>
          <a:ln w="12700">
            <a:solidFill>
              <a:srgbClr val="7C8AA0"/>
            </a:solidFill>
            <a:prstDash val="solid"/>
            <a:tailEnd type="triangle"/>
          </a:ln>
        </p:spPr>
      </p:sp>
      <p:sp>
        <p:nvSpPr>
          <p:cNvPr id="32" name="Shape 30"/>
          <p:cNvSpPr/>
          <p:nvPr/>
        </p:nvSpPr>
        <p:spPr>
          <a:xfrm>
            <a:off x="7699248" y="3657600"/>
            <a:ext cx="1280160" cy="640080"/>
          </a:xfrm>
          <a:prstGeom prst="roundRect">
            <a:avLst>
              <a:gd name="adj" fmla="val 7143"/>
            </a:avLst>
          </a:prstGeom>
          <a:solidFill>
            <a:srgbClr val="FFFFFF"/>
          </a:solidFill>
          <a:ln w="9525">
            <a:solidFill>
              <a:srgbClr val="DBE3EC"/>
            </a:solidFill>
            <a:prstDash val="solid"/>
          </a:ln>
        </p:spPr>
      </p:sp>
      <p:sp>
        <p:nvSpPr>
          <p:cNvPr id="33" name="Text 31"/>
          <p:cNvSpPr/>
          <p:nvPr/>
        </p:nvSpPr>
        <p:spPr>
          <a:xfrm>
            <a:off x="7699248" y="3739896"/>
            <a:ext cx="1280160" cy="237744"/>
          </a:xfrm>
          <a:prstGeom prst="rect">
            <a:avLst/>
          </a:prstGeom>
          <a:noFill/>
          <a:ln/>
        </p:spPr>
        <p:txBody>
          <a:bodyPr wrap="square" rtlCol="0" anchor="ctr"/>
          <a:lstStyle/>
          <a:p>
            <a:pPr algn="ctr" indent="0" marL="0">
              <a:buNone/>
            </a:pPr>
            <a:r>
              <a:rPr lang="en-US" sz="950" b="1" dirty="0">
                <a:solidFill>
                  <a:srgbClr val="16202E"/>
                </a:solidFill>
                <a:latin typeface="Segoe UI" pitchFamily="34" charset="0"/>
                <a:ea typeface="Segoe UI" pitchFamily="34" charset="-122"/>
                <a:cs typeface="Segoe UI" pitchFamily="34" charset="-120"/>
              </a:rPr>
              <a:t>4 execute</a:t>
            </a:r>
            <a:endParaRPr lang="en-US" sz="950" dirty="0"/>
          </a:p>
        </p:txBody>
      </p:sp>
      <p:sp>
        <p:nvSpPr>
          <p:cNvPr id="34" name="Text 32"/>
          <p:cNvSpPr/>
          <p:nvPr/>
        </p:nvSpPr>
        <p:spPr>
          <a:xfrm>
            <a:off x="7699248" y="3950208"/>
            <a:ext cx="1280160"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 regression</a:t>
            </a:r>
            <a:endParaRPr lang="en-US" sz="800" dirty="0"/>
          </a:p>
        </p:txBody>
      </p:sp>
      <p:sp>
        <p:nvSpPr>
          <p:cNvPr id="35" name="Shape 33"/>
          <p:cNvSpPr/>
          <p:nvPr/>
        </p:nvSpPr>
        <p:spPr>
          <a:xfrm>
            <a:off x="8988552" y="3977640"/>
            <a:ext cx="109728" cy="0"/>
          </a:xfrm>
          <a:prstGeom prst="line">
            <a:avLst/>
          </a:prstGeom>
          <a:noFill/>
          <a:ln w="12700">
            <a:solidFill>
              <a:srgbClr val="7C8AA0"/>
            </a:solidFill>
            <a:prstDash val="solid"/>
            <a:tailEnd type="triangle"/>
          </a:ln>
        </p:spPr>
      </p:sp>
      <p:sp>
        <p:nvSpPr>
          <p:cNvPr id="36" name="Shape 34"/>
          <p:cNvSpPr/>
          <p:nvPr/>
        </p:nvSpPr>
        <p:spPr>
          <a:xfrm>
            <a:off x="9107424" y="3657600"/>
            <a:ext cx="1280160" cy="640080"/>
          </a:xfrm>
          <a:prstGeom prst="roundRect">
            <a:avLst>
              <a:gd name="adj" fmla="val 7143"/>
            </a:avLst>
          </a:prstGeom>
          <a:solidFill>
            <a:srgbClr val="FFFFFF"/>
          </a:solidFill>
          <a:ln w="9525">
            <a:solidFill>
              <a:srgbClr val="DBE3EC"/>
            </a:solidFill>
            <a:prstDash val="solid"/>
          </a:ln>
        </p:spPr>
      </p:sp>
      <p:sp>
        <p:nvSpPr>
          <p:cNvPr id="37" name="Text 35"/>
          <p:cNvSpPr/>
          <p:nvPr/>
        </p:nvSpPr>
        <p:spPr>
          <a:xfrm>
            <a:off x="9107424" y="3739896"/>
            <a:ext cx="1280160" cy="237744"/>
          </a:xfrm>
          <a:prstGeom prst="rect">
            <a:avLst/>
          </a:prstGeom>
          <a:noFill/>
          <a:ln/>
        </p:spPr>
        <p:txBody>
          <a:bodyPr wrap="square" rtlCol="0" anchor="ctr"/>
          <a:lstStyle/>
          <a:p>
            <a:pPr algn="ctr" indent="0" marL="0">
              <a:buNone/>
            </a:pPr>
            <a:r>
              <a:rPr lang="en-US" sz="950" b="1" dirty="0">
                <a:solidFill>
                  <a:srgbClr val="16202E"/>
                </a:solidFill>
                <a:latin typeface="Segoe UI" pitchFamily="34" charset="0"/>
                <a:ea typeface="Segoe UI" pitchFamily="34" charset="-122"/>
                <a:cs typeface="Segoe UI" pitchFamily="34" charset="-120"/>
              </a:rPr>
              <a:t>5 close-out</a:t>
            </a:r>
            <a:endParaRPr lang="en-US" sz="950" dirty="0"/>
          </a:p>
        </p:txBody>
      </p:sp>
      <p:sp>
        <p:nvSpPr>
          <p:cNvPr id="38" name="Text 36"/>
          <p:cNvSpPr/>
          <p:nvPr/>
        </p:nvSpPr>
        <p:spPr>
          <a:xfrm>
            <a:off x="9107424" y="3950208"/>
            <a:ext cx="1280160"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verdict + file</a:t>
            </a:r>
            <a:endParaRPr lang="en-US" sz="800" dirty="0"/>
          </a:p>
        </p:txBody>
      </p:sp>
      <p:sp>
        <p:nvSpPr>
          <p:cNvPr id="39" name="Shape 37"/>
          <p:cNvSpPr/>
          <p:nvPr/>
        </p:nvSpPr>
        <p:spPr>
          <a:xfrm>
            <a:off x="10396728" y="3977640"/>
            <a:ext cx="109728" cy="0"/>
          </a:xfrm>
          <a:prstGeom prst="line">
            <a:avLst/>
          </a:prstGeom>
          <a:noFill/>
          <a:ln w="12700">
            <a:solidFill>
              <a:srgbClr val="7C8AA0"/>
            </a:solidFill>
            <a:prstDash val="solid"/>
            <a:tailEnd type="triangle"/>
          </a:ln>
        </p:spPr>
      </p:sp>
      <p:sp>
        <p:nvSpPr>
          <p:cNvPr id="40" name="Shape 38"/>
          <p:cNvSpPr/>
          <p:nvPr/>
        </p:nvSpPr>
        <p:spPr>
          <a:xfrm>
            <a:off x="10515600" y="3657600"/>
            <a:ext cx="1280160" cy="640080"/>
          </a:xfrm>
          <a:prstGeom prst="roundRect">
            <a:avLst>
              <a:gd name="adj" fmla="val 7143"/>
            </a:avLst>
          </a:prstGeom>
          <a:solidFill>
            <a:srgbClr val="E8EAFB"/>
          </a:solidFill>
          <a:ln w="11430">
            <a:solidFill>
              <a:srgbClr val="5566E0"/>
            </a:solidFill>
            <a:prstDash val="dash"/>
          </a:ln>
        </p:spPr>
      </p:sp>
      <p:sp>
        <p:nvSpPr>
          <p:cNvPr id="41" name="Text 39"/>
          <p:cNvSpPr/>
          <p:nvPr/>
        </p:nvSpPr>
        <p:spPr>
          <a:xfrm>
            <a:off x="10515600" y="3739896"/>
            <a:ext cx="1280160" cy="237744"/>
          </a:xfrm>
          <a:prstGeom prst="rect">
            <a:avLst/>
          </a:prstGeom>
          <a:noFill/>
          <a:ln/>
        </p:spPr>
        <p:txBody>
          <a:bodyPr wrap="square" rtlCol="0" anchor="ctr"/>
          <a:lstStyle/>
          <a:p>
            <a:pPr algn="ctr" indent="0" marL="0">
              <a:buNone/>
            </a:pPr>
            <a:r>
              <a:rPr lang="en-US" sz="950" b="1" dirty="0">
                <a:solidFill>
                  <a:srgbClr val="16202E"/>
                </a:solidFill>
                <a:latin typeface="Segoe UI" pitchFamily="34" charset="0"/>
                <a:ea typeface="Segoe UI" pitchFamily="34" charset="-122"/>
                <a:cs typeface="Segoe UI" pitchFamily="34" charset="-120"/>
              </a:rPr>
              <a:t>5g promote</a:t>
            </a:r>
            <a:endParaRPr lang="en-US" sz="950" dirty="0"/>
          </a:p>
        </p:txBody>
      </p:sp>
      <p:sp>
        <p:nvSpPr>
          <p:cNvPr id="42" name="Text 40"/>
          <p:cNvSpPr/>
          <p:nvPr/>
        </p:nvSpPr>
        <p:spPr>
          <a:xfrm>
            <a:off x="10515600" y="3950208"/>
            <a:ext cx="1280160"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Draft → Automated</a:t>
            </a:r>
            <a:endParaRPr lang="en-US" sz="800" dirty="0"/>
          </a:p>
        </p:txBody>
      </p:sp>
      <p:sp>
        <p:nvSpPr>
          <p:cNvPr id="43" name="Shape 41"/>
          <p:cNvSpPr/>
          <p:nvPr/>
        </p:nvSpPr>
        <p:spPr>
          <a:xfrm>
            <a:off x="6830568" y="4370832"/>
            <a:ext cx="201168" cy="201168"/>
          </a:xfrm>
          <a:prstGeom prst="ellipse">
            <a:avLst/>
          </a:prstGeom>
          <a:solidFill>
            <a:srgbClr val="5566E0"/>
          </a:solidFill>
          <a:ln/>
        </p:spPr>
      </p:sp>
      <p:sp>
        <p:nvSpPr>
          <p:cNvPr id="44" name="Text 42"/>
          <p:cNvSpPr/>
          <p:nvPr/>
        </p:nvSpPr>
        <p:spPr>
          <a:xfrm>
            <a:off x="6830568" y="4370832"/>
            <a:ext cx="201168" cy="201168"/>
          </a:xfrm>
          <a:prstGeom prst="rect">
            <a:avLst/>
          </a:prstGeom>
          <a:noFill/>
          <a:ln/>
        </p:spPr>
        <p:txBody>
          <a:bodyPr wrap="square"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V</a:t>
            </a:r>
            <a:endParaRPr lang="en-US" sz="800" dirty="0"/>
          </a:p>
        </p:txBody>
      </p:sp>
      <p:sp>
        <p:nvSpPr>
          <p:cNvPr id="45" name="Shape 43"/>
          <p:cNvSpPr/>
          <p:nvPr/>
        </p:nvSpPr>
        <p:spPr>
          <a:xfrm>
            <a:off x="9646920" y="4370832"/>
            <a:ext cx="201168" cy="201168"/>
          </a:xfrm>
          <a:prstGeom prst="ellipse">
            <a:avLst/>
          </a:prstGeom>
          <a:solidFill>
            <a:srgbClr val="5566E0"/>
          </a:solidFill>
          <a:ln/>
        </p:spPr>
      </p:sp>
      <p:sp>
        <p:nvSpPr>
          <p:cNvPr id="46" name="Text 44"/>
          <p:cNvSpPr/>
          <p:nvPr/>
        </p:nvSpPr>
        <p:spPr>
          <a:xfrm>
            <a:off x="9646920" y="4370832"/>
            <a:ext cx="201168" cy="201168"/>
          </a:xfrm>
          <a:prstGeom prst="rect">
            <a:avLst/>
          </a:prstGeom>
          <a:noFill/>
          <a:ln/>
        </p:spPr>
        <p:txBody>
          <a:bodyPr wrap="square"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V</a:t>
            </a:r>
            <a:endParaRPr lang="en-US" sz="800" dirty="0"/>
          </a:p>
        </p:txBody>
      </p:sp>
      <p:sp>
        <p:nvSpPr>
          <p:cNvPr id="47" name="Shape 45"/>
          <p:cNvSpPr/>
          <p:nvPr/>
        </p:nvSpPr>
        <p:spPr>
          <a:xfrm>
            <a:off x="11055096" y="4370832"/>
            <a:ext cx="201168" cy="201168"/>
          </a:xfrm>
          <a:prstGeom prst="ellipse">
            <a:avLst/>
          </a:prstGeom>
          <a:solidFill>
            <a:srgbClr val="5566E0"/>
          </a:solidFill>
          <a:ln/>
        </p:spPr>
      </p:sp>
      <p:sp>
        <p:nvSpPr>
          <p:cNvPr id="48" name="Text 46"/>
          <p:cNvSpPr/>
          <p:nvPr/>
        </p:nvSpPr>
        <p:spPr>
          <a:xfrm>
            <a:off x="11055096" y="4370832"/>
            <a:ext cx="201168" cy="201168"/>
          </a:xfrm>
          <a:prstGeom prst="rect">
            <a:avLst/>
          </a:prstGeom>
          <a:noFill/>
          <a:ln/>
        </p:spPr>
        <p:txBody>
          <a:bodyPr wrap="square"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V</a:t>
            </a:r>
            <a:endParaRPr lang="en-US" sz="800" dirty="0"/>
          </a:p>
        </p:txBody>
      </p:sp>
      <p:sp>
        <p:nvSpPr>
          <p:cNvPr id="49" name="Text 47"/>
          <p:cNvSpPr/>
          <p:nvPr/>
        </p:nvSpPr>
        <p:spPr>
          <a:xfrm>
            <a:off x="658368" y="4626864"/>
            <a:ext cx="10872216" cy="201168"/>
          </a:xfrm>
          <a:prstGeom prst="rect">
            <a:avLst/>
          </a:prstGeom>
          <a:noFill/>
          <a:ln/>
        </p:spPr>
        <p:txBody>
          <a:bodyPr wrap="square" rtlCol="0" anchor="ctr"/>
          <a:lstStyle/>
          <a:p>
            <a:pPr algn="r" indent="0" marL="0">
              <a:buNone/>
            </a:pPr>
            <a:r>
              <a:rPr lang="en-US" sz="800" dirty="0">
                <a:solidFill>
                  <a:srgbClr val="7C8AA0"/>
                </a:solidFill>
                <a:latin typeface="Consolas" pitchFamily="34" charset="0"/>
                <a:ea typeface="Consolas" pitchFamily="34" charset="-122"/>
                <a:cs typeface="Consolas" pitchFamily="34" charset="-120"/>
              </a:rPr>
              <a:t>V = a fresh verifier instance, never the step's own doer · FULL only · one re-verify round, then STOP</a:t>
            </a:r>
            <a:endParaRPr lang="en-US" sz="800" dirty="0"/>
          </a:p>
        </p:txBody>
      </p:sp>
      <p:sp>
        <p:nvSpPr>
          <p:cNvPr id="50" name="Text 48"/>
          <p:cNvSpPr/>
          <p:nvPr/>
        </p:nvSpPr>
        <p:spPr>
          <a:xfrm>
            <a:off x="658368" y="4864608"/>
            <a:ext cx="10872216" cy="365760"/>
          </a:xfrm>
          <a:prstGeom prst="rect">
            <a:avLst/>
          </a:prstGeom>
          <a:noFill/>
          <a:ln/>
        </p:spPr>
        <p:txBody>
          <a:bodyPr wrap="square" rtlCol="0" anchor="t"/>
          <a:lstStyle/>
          <a:p>
            <a:pPr indent="0" marL="0">
              <a:lnSpc>
                <a:spcPct val="120000"/>
              </a:lnSpc>
              <a:buNone/>
            </a:pPr>
            <a:r>
              <a:rPr lang="en-US" sz="900" dirty="0">
                <a:solidFill>
                  <a:srgbClr val="7C8AA0"/>
                </a:solidFill>
                <a:latin typeface="Consolas" pitchFamily="34" charset="0"/>
                <a:ea typeface="Consolas" pitchFamily="34" charset="-122"/>
                <a:cs typeface="Consolas" pitchFamily="34" charset="-120"/>
              </a:rPr>
              <a:t>FAST keeps the four shared stages and a committed checklist. Everything dashed is FULL-only — and a FAST run therefore adds no regression coverage, which is why its checklist is now a file rather than terminal output.</a:t>
            </a:r>
            <a:endParaRPr lang="en-US" sz="900" dirty="0"/>
          </a:p>
        </p:txBody>
      </p:sp>
      <p:sp>
        <p:nvSpPr>
          <p:cNvPr id="51" name="Shape 49"/>
          <p:cNvSpPr/>
          <p:nvPr/>
        </p:nvSpPr>
        <p:spPr>
          <a:xfrm>
            <a:off x="658368" y="5349240"/>
            <a:ext cx="10872216" cy="914400"/>
          </a:xfrm>
          <a:prstGeom prst="roundRect">
            <a:avLst>
              <a:gd name="adj" fmla="val 5000"/>
            </a:avLst>
          </a:prstGeom>
          <a:solidFill>
            <a:srgbClr val="E2F4F1"/>
          </a:solidFill>
          <a:ln w="9525">
            <a:solidFill>
              <a:srgbClr val="0F9D8F"/>
            </a:solidFill>
            <a:prstDash val="dash"/>
          </a:ln>
        </p:spPr>
      </p:sp>
      <p:sp>
        <p:nvSpPr>
          <p:cNvPr id="52" name="Text 50"/>
          <p:cNvSpPr/>
          <p:nvPr/>
        </p:nvSpPr>
        <p:spPr>
          <a:xfrm>
            <a:off x="877824" y="5458968"/>
            <a:ext cx="10433304" cy="694944"/>
          </a:xfrm>
          <a:prstGeom prst="rect">
            <a:avLst/>
          </a:prstGeom>
          <a:noFill/>
          <a:ln/>
        </p:spPr>
        <p:txBody>
          <a:bodyPr wrap="square" rtlCol="0" anchor="ctr"/>
          <a:lstStyle/>
          <a:p>
            <a:pPr indent="0" marL="0">
              <a:lnSpc>
                <a:spcPct val="120000"/>
              </a:lnSpc>
              <a:buNone/>
            </a:pPr>
            <a:r>
              <a:rPr lang="en-US" sz="1050" dirty="0">
                <a:solidFill>
                  <a:srgbClr val="0A6E64"/>
                </a:solidFill>
                <a:latin typeface="Segoe UI" pitchFamily="34" charset="0"/>
                <a:ea typeface="Segoe UI" pitchFamily="34" charset="-122"/>
                <a:cs typeface="Segoe UI" pitchFamily="34" charset="-120"/>
              </a:rPr>
              <a:t>Three axes were made OPT-IN ON FAST for the same reason. Each had been made mandatory on a locally reasonable argument of identical shape, and together they had returned FAST to four-to-six agent dispatches. Measured across the recorded runs: the visual axis blocked 1, the contract axis 1, coverage triage 0. Arguments, not measurements — revisit at five.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5223837"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6 / 14</a:t>
            </a:r>
            <a:endParaRPr lang="en-US" sz="900" dirty="0"/>
          </a:p>
        </p:txBody>
      </p:sp>
      <p:sp>
        <p:nvSpPr>
          <p:cNvPr id="4" name="Shape 2"/>
          <p:cNvSpPr/>
          <p:nvPr/>
        </p:nvSpPr>
        <p:spPr>
          <a:xfrm>
            <a:off x="658368" y="566928"/>
            <a:ext cx="237744" cy="25603"/>
          </a:xfrm>
          <a:prstGeom prst="rect">
            <a:avLst/>
          </a:prstGeom>
          <a:solidFill>
            <a:srgbClr val="0F9D8F"/>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0A6E64"/>
                </a:solidFill>
                <a:latin typeface="Consolas" pitchFamily="34" charset="0"/>
                <a:ea typeface="Consolas" pitchFamily="34" charset="-122"/>
                <a:cs typeface="Consolas" pitchFamily="34" charset="-120"/>
              </a:rPr>
              <a:t>STEP 1B · PRE-FLIGHT</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600" b="1" dirty="0">
                <a:solidFill>
                  <a:srgbClr val="16202E"/>
                </a:solidFill>
                <a:latin typeface="Segoe UI" pitchFamily="34" charset="0"/>
                <a:ea typeface="Segoe UI" pitchFamily="34" charset="-122"/>
                <a:cs typeface="Segoe UI" pitchFamily="34" charset="-120"/>
              </a:rPr>
              <a:t>Five things the pipeline now derives about a change — none of them asked.</a:t>
            </a:r>
            <a:endParaRPr lang="en-US" sz="2600" dirty="0"/>
          </a:p>
        </p:txBody>
      </p:sp>
      <p:sp>
        <p:nvSpPr>
          <p:cNvPr id="7" name="Text 5"/>
          <p:cNvSpPr/>
          <p:nvPr/>
        </p:nvSpPr>
        <p:spPr>
          <a:xfrm>
            <a:off x="658368" y="1737360"/>
            <a:ext cx="10058400" cy="685800"/>
          </a:xfrm>
          <a:prstGeom prst="rect">
            <a:avLst/>
          </a:prstGeom>
          <a:noFill/>
          <a:ln/>
        </p:spPr>
        <p:txBody>
          <a:bodyPr wrap="square" rtlCol="0" anchor="t"/>
          <a:lstStyle/>
          <a:p>
            <a:pPr indent="0" marL="0">
              <a:lnSpc>
                <a:spcPct val="125000"/>
              </a:lnSpc>
              <a:buNone/>
            </a:pPr>
            <a:r>
              <a:rPr lang="en-US" sz="1300" dirty="0">
                <a:solidFill>
                  <a:srgbClr val="4D5C70"/>
                </a:solidFill>
                <a:latin typeface="Segoe UI" pitchFamily="34" charset="0"/>
                <a:ea typeface="Segoe UI" pitchFamily="34" charset="-122"/>
                <a:cs typeface="Segoe UI" pitchFamily="34" charset="-120"/>
              </a:rPr>
              <a:t>Each was added the same way: a token, a gate, a record, a skill file. Generalising them into one contract exposed the difference the shared boilerplate had been hiding.</a:t>
            </a:r>
            <a:endParaRPr lang="en-US" sz="1300" dirty="0"/>
          </a:p>
        </p:txBody>
      </p:sp>
      <p:sp>
        <p:nvSpPr>
          <p:cNvPr id="8" name="Text 6"/>
          <p:cNvSpPr/>
          <p:nvPr/>
        </p:nvSpPr>
        <p:spPr>
          <a:xfrm>
            <a:off x="658368" y="2487168"/>
            <a:ext cx="2011680" cy="219456"/>
          </a:xfrm>
          <a:prstGeom prst="rect">
            <a:avLst/>
          </a:prstGeom>
          <a:noFill/>
          <a:ln/>
        </p:spPr>
        <p:txBody>
          <a:bodyPr wrap="square" rtlCol="0" anchor="ctr"/>
          <a:lstStyle/>
          <a:p>
            <a:pPr indent="0" marL="0">
              <a:buNone/>
            </a:pPr>
            <a:r>
              <a:rPr lang="en-US" sz="800" b="1" spc="160" kern="0" dirty="0">
                <a:solidFill>
                  <a:srgbClr val="7C8AA0"/>
                </a:solidFill>
                <a:latin typeface="Consolas" pitchFamily="34" charset="0"/>
                <a:ea typeface="Consolas" pitchFamily="34" charset="-122"/>
                <a:cs typeface="Consolas" pitchFamily="34" charset="-120"/>
              </a:rPr>
              <a:t>AXIS</a:t>
            </a:r>
            <a:endParaRPr lang="en-US" sz="800" dirty="0"/>
          </a:p>
        </p:txBody>
      </p:sp>
      <p:sp>
        <p:nvSpPr>
          <p:cNvPr id="9" name="Text 7"/>
          <p:cNvSpPr/>
          <p:nvPr/>
        </p:nvSpPr>
        <p:spPr>
          <a:xfrm>
            <a:off x="2852928" y="2487168"/>
            <a:ext cx="6949440" cy="219456"/>
          </a:xfrm>
          <a:prstGeom prst="rect">
            <a:avLst/>
          </a:prstGeom>
          <a:noFill/>
          <a:ln/>
        </p:spPr>
        <p:txBody>
          <a:bodyPr wrap="square" rtlCol="0" anchor="ctr"/>
          <a:lstStyle/>
          <a:p>
            <a:pPr indent="0" marL="0">
              <a:buNone/>
            </a:pPr>
            <a:r>
              <a:rPr lang="en-US" sz="800" b="1" spc="160" kern="0" dirty="0">
                <a:solidFill>
                  <a:srgbClr val="7C8AA0"/>
                </a:solidFill>
                <a:latin typeface="Consolas" pitchFamily="34" charset="0"/>
                <a:ea typeface="Consolas" pitchFamily="34" charset="-122"/>
                <a:cs typeface="Consolas" pitchFamily="34" charset="-120"/>
              </a:rPr>
              <a:t>THE QUESTION IT ANSWERS</a:t>
            </a:r>
            <a:endParaRPr lang="en-US" sz="800" dirty="0"/>
          </a:p>
        </p:txBody>
      </p:sp>
      <p:sp>
        <p:nvSpPr>
          <p:cNvPr id="10" name="Text 8"/>
          <p:cNvSpPr/>
          <p:nvPr/>
        </p:nvSpPr>
        <p:spPr>
          <a:xfrm>
            <a:off x="9985248" y="2487168"/>
            <a:ext cx="1554480" cy="219456"/>
          </a:xfrm>
          <a:prstGeom prst="rect">
            <a:avLst/>
          </a:prstGeom>
          <a:noFill/>
          <a:ln/>
        </p:spPr>
        <p:txBody>
          <a:bodyPr wrap="square" rtlCol="0" anchor="ctr"/>
          <a:lstStyle/>
          <a:p>
            <a:pPr indent="0" marL="0">
              <a:buNone/>
            </a:pPr>
            <a:r>
              <a:rPr lang="en-US" sz="800" b="1" spc="160" kern="0" dirty="0">
                <a:solidFill>
                  <a:srgbClr val="7C8AA0"/>
                </a:solidFill>
                <a:latin typeface="Consolas" pitchFamily="34" charset="0"/>
                <a:ea typeface="Consolas" pitchFamily="34" charset="-122"/>
                <a:cs typeface="Consolas" pitchFamily="34" charset="-120"/>
              </a:rPr>
              <a:t>ON DOUBT</a:t>
            </a:r>
            <a:endParaRPr lang="en-US" sz="800" dirty="0"/>
          </a:p>
        </p:txBody>
      </p:sp>
      <p:sp>
        <p:nvSpPr>
          <p:cNvPr id="11" name="Shape 9"/>
          <p:cNvSpPr/>
          <p:nvPr/>
        </p:nvSpPr>
        <p:spPr>
          <a:xfrm>
            <a:off x="658368" y="2743200"/>
            <a:ext cx="10872216" cy="0"/>
          </a:xfrm>
          <a:prstGeom prst="line">
            <a:avLst/>
          </a:prstGeom>
          <a:noFill/>
          <a:ln w="9525">
            <a:solidFill>
              <a:srgbClr val="DBE3EC"/>
            </a:solidFill>
            <a:prstDash val="solid"/>
          </a:ln>
        </p:spPr>
      </p:sp>
      <p:sp>
        <p:nvSpPr>
          <p:cNvPr id="12" name="Text 10"/>
          <p:cNvSpPr/>
          <p:nvPr/>
        </p:nvSpPr>
        <p:spPr>
          <a:xfrm>
            <a:off x="658368" y="2834640"/>
            <a:ext cx="2011680" cy="219456"/>
          </a:xfrm>
          <a:prstGeom prst="rect">
            <a:avLst/>
          </a:prstGeom>
          <a:noFill/>
          <a:ln/>
        </p:spPr>
        <p:txBody>
          <a:bodyPr wrap="square" rtlCol="0" anchor="t"/>
          <a:lstStyle/>
          <a:p>
            <a:pPr indent="0" marL="0">
              <a:buNone/>
            </a:pPr>
            <a:r>
              <a:rPr lang="en-US" sz="1000" b="1" dirty="0">
                <a:solidFill>
                  <a:srgbClr val="16202E"/>
                </a:solidFill>
                <a:latin typeface="Consolas" pitchFamily="34" charset="0"/>
                <a:ea typeface="Consolas" pitchFamily="34" charset="-122"/>
                <a:cs typeface="Consolas" pitchFamily="34" charset="-120"/>
              </a:rPr>
              <a:t>layer</a:t>
            </a:r>
            <a:endParaRPr lang="en-US" sz="1000" dirty="0"/>
          </a:p>
        </p:txBody>
      </p:sp>
      <p:sp>
        <p:nvSpPr>
          <p:cNvPr id="13" name="Text 11"/>
          <p:cNvSpPr/>
          <p:nvPr/>
        </p:nvSpPr>
        <p:spPr>
          <a:xfrm>
            <a:off x="658368" y="3035808"/>
            <a:ext cx="2011680" cy="182880"/>
          </a:xfrm>
          <a:prstGeom prst="rect">
            <a:avLst/>
          </a:prstGeom>
          <a:noFill/>
          <a:ln/>
        </p:spPr>
        <p:txBody>
          <a:bodyPr wrap="square" rtlCol="0" anchor="t"/>
          <a:lstStyle/>
          <a:p>
            <a:pPr indent="0" marL="0">
              <a:buNone/>
            </a:pPr>
            <a:r>
              <a:rPr lang="en-US" sz="800" b="1" dirty="0">
                <a:solidFill>
                  <a:srgbClr val="7C8AA0"/>
                </a:solidFill>
                <a:latin typeface="Segoe UI" pitchFamily="34" charset="0"/>
                <a:ea typeface="Segoe UI" pitchFamily="34" charset="-122"/>
                <a:cs typeface="Segoe UI" pitchFamily="34" charset="-120"/>
              </a:rPr>
              <a:t>2b</a:t>
            </a:r>
            <a:endParaRPr lang="en-US" sz="800" dirty="0"/>
          </a:p>
        </p:txBody>
      </p:sp>
      <p:sp>
        <p:nvSpPr>
          <p:cNvPr id="14" name="Text 12"/>
          <p:cNvSpPr/>
          <p:nvPr/>
        </p:nvSpPr>
        <p:spPr>
          <a:xfrm>
            <a:off x="2852928" y="2834640"/>
            <a:ext cx="6949440" cy="512064"/>
          </a:xfrm>
          <a:prstGeom prst="rect">
            <a:avLst/>
          </a:prstGeom>
          <a:noFill/>
          <a:ln/>
        </p:spPr>
        <p:txBody>
          <a:bodyPr wrap="square" rtlCol="0" anchor="t"/>
          <a:lstStyle/>
          <a:p>
            <a:pPr indent="0" marL="0">
              <a:lnSpc>
                <a:spcPct val="115000"/>
              </a:lnSpc>
              <a:buNone/>
            </a:pPr>
            <a:r>
              <a:rPr lang="en-US" sz="950" dirty="0">
                <a:solidFill>
                  <a:srgbClr val="4D5C70"/>
                </a:solidFill>
                <a:latin typeface="Segoe UI" pitchFamily="34" charset="0"/>
                <a:ea typeface="Segoe UI" pitchFamily="34" charset="-122"/>
                <a:cs typeface="Segoe UI" pitchFamily="34" charset="-120"/>
              </a:rPr>
              <a:t>Which surface did this ticket move? It routes the release note and the documentation audience — a wrong answer reaches the wrong readers.</a:t>
            </a:r>
            <a:endParaRPr lang="en-US" sz="950" dirty="0"/>
          </a:p>
        </p:txBody>
      </p:sp>
      <p:sp>
        <p:nvSpPr>
          <p:cNvPr id="15" name="Text 13"/>
          <p:cNvSpPr/>
          <p:nvPr/>
        </p:nvSpPr>
        <p:spPr>
          <a:xfrm>
            <a:off x="9985248" y="2834640"/>
            <a:ext cx="1554480" cy="219456"/>
          </a:xfrm>
          <a:prstGeom prst="rect">
            <a:avLst/>
          </a:prstGeom>
          <a:noFill/>
          <a:ln/>
        </p:spPr>
        <p:txBody>
          <a:bodyPr wrap="square" rtlCol="0" anchor="t"/>
          <a:lstStyle/>
          <a:p>
            <a:pPr indent="0" marL="0">
              <a:buNone/>
            </a:pPr>
            <a:r>
              <a:rPr lang="en-US" sz="900" b="1" dirty="0">
                <a:solidFill>
                  <a:srgbClr val="D1495B"/>
                </a:solidFill>
                <a:latin typeface="Consolas" pitchFamily="34" charset="0"/>
                <a:ea typeface="Consolas" pitchFamily="34" charset="-122"/>
                <a:cs typeface="Consolas" pitchFamily="34" charset="-120"/>
              </a:rPr>
              <a:t>fails CLOSED</a:t>
            </a:r>
            <a:endParaRPr lang="en-US" sz="900" dirty="0"/>
          </a:p>
        </p:txBody>
      </p:sp>
      <p:sp>
        <p:nvSpPr>
          <p:cNvPr id="16" name="Shape 14"/>
          <p:cNvSpPr/>
          <p:nvPr/>
        </p:nvSpPr>
        <p:spPr>
          <a:xfrm>
            <a:off x="658368" y="3364992"/>
            <a:ext cx="10872216" cy="0"/>
          </a:xfrm>
          <a:prstGeom prst="line">
            <a:avLst/>
          </a:prstGeom>
          <a:noFill/>
          <a:ln w="6350">
            <a:solidFill>
              <a:srgbClr val="DBE3EC"/>
            </a:solidFill>
            <a:prstDash val="solid"/>
          </a:ln>
        </p:spPr>
      </p:sp>
      <p:sp>
        <p:nvSpPr>
          <p:cNvPr id="17" name="Text 15"/>
          <p:cNvSpPr/>
          <p:nvPr/>
        </p:nvSpPr>
        <p:spPr>
          <a:xfrm>
            <a:off x="658368" y="3438144"/>
            <a:ext cx="2011680" cy="219456"/>
          </a:xfrm>
          <a:prstGeom prst="rect">
            <a:avLst/>
          </a:prstGeom>
          <a:noFill/>
          <a:ln/>
        </p:spPr>
        <p:txBody>
          <a:bodyPr wrap="square" rtlCol="0" anchor="t"/>
          <a:lstStyle/>
          <a:p>
            <a:pPr indent="0" marL="0">
              <a:buNone/>
            </a:pPr>
            <a:r>
              <a:rPr lang="en-US" sz="1000" b="1" dirty="0">
                <a:solidFill>
                  <a:srgbClr val="16202E"/>
                </a:solidFill>
                <a:latin typeface="Consolas" pitchFamily="34" charset="0"/>
                <a:ea typeface="Consolas" pitchFamily="34" charset="-122"/>
                <a:cs typeface="Consolas" pitchFamily="34" charset="-120"/>
              </a:rPr>
              <a:t>visual_surface</a:t>
            </a:r>
            <a:endParaRPr lang="en-US" sz="1000" dirty="0"/>
          </a:p>
        </p:txBody>
      </p:sp>
      <p:sp>
        <p:nvSpPr>
          <p:cNvPr id="18" name="Text 16"/>
          <p:cNvSpPr/>
          <p:nvPr/>
        </p:nvSpPr>
        <p:spPr>
          <a:xfrm>
            <a:off x="658368" y="3639312"/>
            <a:ext cx="2011680" cy="182880"/>
          </a:xfrm>
          <a:prstGeom prst="rect">
            <a:avLst/>
          </a:prstGeom>
          <a:noFill/>
          <a:ln/>
        </p:spPr>
        <p:txBody>
          <a:bodyPr wrap="square" rtlCol="0" anchor="t"/>
          <a:lstStyle/>
          <a:p>
            <a:pPr indent="0" marL="0">
              <a:buNone/>
            </a:pPr>
            <a:r>
              <a:rPr lang="en-US" sz="800" b="1" dirty="0">
                <a:solidFill>
                  <a:srgbClr val="7C8AA0"/>
                </a:solidFill>
                <a:latin typeface="Segoe UI" pitchFamily="34" charset="0"/>
                <a:ea typeface="Segoe UI" pitchFamily="34" charset="-122"/>
                <a:cs typeface="Segoe UI" pitchFamily="34" charset="-120"/>
              </a:rPr>
              <a:t>2c</a:t>
            </a:r>
            <a:endParaRPr lang="en-US" sz="800" dirty="0"/>
          </a:p>
        </p:txBody>
      </p:sp>
      <p:sp>
        <p:nvSpPr>
          <p:cNvPr id="19" name="Text 17"/>
          <p:cNvSpPr/>
          <p:nvPr/>
        </p:nvSpPr>
        <p:spPr>
          <a:xfrm>
            <a:off x="2852928" y="3438144"/>
            <a:ext cx="6949440" cy="512064"/>
          </a:xfrm>
          <a:prstGeom prst="rect">
            <a:avLst/>
          </a:prstGeom>
          <a:noFill/>
          <a:ln/>
        </p:spPr>
        <p:txBody>
          <a:bodyPr wrap="square" rtlCol="0" anchor="t"/>
          <a:lstStyle/>
          <a:p>
            <a:pPr indent="0" marL="0">
              <a:lnSpc>
                <a:spcPct val="115000"/>
              </a:lnSpc>
              <a:buNone/>
            </a:pPr>
            <a:r>
              <a:rPr lang="en-US" sz="950" dirty="0">
                <a:solidFill>
                  <a:srgbClr val="4D5C70"/>
                </a:solidFill>
                <a:latin typeface="Segoe UI" pitchFamily="34" charset="0"/>
                <a:ea typeface="Segoe UI" pitchFamily="34" charset="-122"/>
                <a:cs typeface="Segoe UI" pitchFamily="34" charset="-120"/>
              </a:rPr>
              <a:t>Does this change something a human LOOKS AT? Dispatches a design and accessibility pass the pipeline previously did not have at all.</a:t>
            </a:r>
            <a:endParaRPr lang="en-US" sz="950" dirty="0"/>
          </a:p>
        </p:txBody>
      </p:sp>
      <p:sp>
        <p:nvSpPr>
          <p:cNvPr id="20" name="Text 18"/>
          <p:cNvSpPr/>
          <p:nvPr/>
        </p:nvSpPr>
        <p:spPr>
          <a:xfrm>
            <a:off x="9985248" y="3438144"/>
            <a:ext cx="1554480" cy="219456"/>
          </a:xfrm>
          <a:prstGeom prst="rect">
            <a:avLst/>
          </a:prstGeom>
          <a:noFill/>
          <a:ln/>
        </p:spPr>
        <p:txBody>
          <a:bodyPr wrap="square" rtlCol="0" anchor="t"/>
          <a:lstStyle/>
          <a:p>
            <a:pPr indent="0" marL="0">
              <a:buNone/>
            </a:pPr>
            <a:r>
              <a:rPr lang="en-US" sz="900" b="1" dirty="0">
                <a:solidFill>
                  <a:srgbClr val="1F9D57"/>
                </a:solidFill>
                <a:latin typeface="Consolas" pitchFamily="34" charset="0"/>
                <a:ea typeface="Consolas" pitchFamily="34" charset="-122"/>
                <a:cs typeface="Consolas" pitchFamily="34" charset="-120"/>
              </a:rPr>
              <a:t>fails open</a:t>
            </a:r>
            <a:endParaRPr lang="en-US" sz="900" dirty="0"/>
          </a:p>
        </p:txBody>
      </p:sp>
      <p:sp>
        <p:nvSpPr>
          <p:cNvPr id="21" name="Shape 19"/>
          <p:cNvSpPr/>
          <p:nvPr/>
        </p:nvSpPr>
        <p:spPr>
          <a:xfrm>
            <a:off x="658368" y="3968496"/>
            <a:ext cx="10872216" cy="0"/>
          </a:xfrm>
          <a:prstGeom prst="line">
            <a:avLst/>
          </a:prstGeom>
          <a:noFill/>
          <a:ln w="6350">
            <a:solidFill>
              <a:srgbClr val="DBE3EC"/>
            </a:solidFill>
            <a:prstDash val="solid"/>
          </a:ln>
        </p:spPr>
      </p:sp>
      <p:sp>
        <p:nvSpPr>
          <p:cNvPr id="22" name="Text 20"/>
          <p:cNvSpPr/>
          <p:nvPr/>
        </p:nvSpPr>
        <p:spPr>
          <a:xfrm>
            <a:off x="658368" y="4041648"/>
            <a:ext cx="2011680" cy="219456"/>
          </a:xfrm>
          <a:prstGeom prst="rect">
            <a:avLst/>
          </a:prstGeom>
          <a:noFill/>
          <a:ln/>
        </p:spPr>
        <p:txBody>
          <a:bodyPr wrap="square" rtlCol="0" anchor="t"/>
          <a:lstStyle/>
          <a:p>
            <a:pPr indent="0" marL="0">
              <a:buNone/>
            </a:pPr>
            <a:r>
              <a:rPr lang="en-US" sz="1000" b="1" dirty="0">
                <a:solidFill>
                  <a:srgbClr val="16202E"/>
                </a:solidFill>
                <a:latin typeface="Consolas" pitchFamily="34" charset="0"/>
                <a:ea typeface="Consolas" pitchFamily="34" charset="-122"/>
                <a:cs typeface="Consolas" pitchFamily="34" charset="-120"/>
              </a:rPr>
              <a:t>contract_surface</a:t>
            </a:r>
            <a:endParaRPr lang="en-US" sz="1000" dirty="0"/>
          </a:p>
        </p:txBody>
      </p:sp>
      <p:sp>
        <p:nvSpPr>
          <p:cNvPr id="23" name="Text 21"/>
          <p:cNvSpPr/>
          <p:nvPr/>
        </p:nvSpPr>
        <p:spPr>
          <a:xfrm>
            <a:off x="658368" y="4242816"/>
            <a:ext cx="2011680" cy="182880"/>
          </a:xfrm>
          <a:prstGeom prst="rect">
            <a:avLst/>
          </a:prstGeom>
          <a:noFill/>
          <a:ln/>
        </p:spPr>
        <p:txBody>
          <a:bodyPr wrap="square" rtlCol="0" anchor="t"/>
          <a:lstStyle/>
          <a:p>
            <a:pPr indent="0" marL="0">
              <a:buNone/>
            </a:pPr>
            <a:r>
              <a:rPr lang="en-US" sz="800" b="1" dirty="0">
                <a:solidFill>
                  <a:srgbClr val="7C8AA0"/>
                </a:solidFill>
                <a:latin typeface="Segoe UI" pitchFamily="34" charset="0"/>
                <a:ea typeface="Segoe UI" pitchFamily="34" charset="-122"/>
                <a:cs typeface="Segoe UI" pitchFamily="34" charset="-120"/>
              </a:rPr>
              <a:t>2d</a:t>
            </a:r>
            <a:endParaRPr lang="en-US" sz="800" dirty="0"/>
          </a:p>
        </p:txBody>
      </p:sp>
      <p:sp>
        <p:nvSpPr>
          <p:cNvPr id="24" name="Text 22"/>
          <p:cNvSpPr/>
          <p:nvPr/>
        </p:nvSpPr>
        <p:spPr>
          <a:xfrm>
            <a:off x="2852928" y="4041648"/>
            <a:ext cx="6949440" cy="512064"/>
          </a:xfrm>
          <a:prstGeom prst="rect">
            <a:avLst/>
          </a:prstGeom>
          <a:noFill/>
          <a:ln/>
        </p:spPr>
        <p:txBody>
          <a:bodyPr wrap="square" rtlCol="0" anchor="t"/>
          <a:lstStyle/>
          <a:p>
            <a:pPr indent="0" marL="0">
              <a:lnSpc>
                <a:spcPct val="115000"/>
              </a:lnSpc>
              <a:buNone/>
            </a:pPr>
            <a:r>
              <a:rPr lang="en-US" sz="950" dirty="0">
                <a:solidFill>
                  <a:srgbClr val="4D5C70"/>
                </a:solidFill>
                <a:latin typeface="Segoe UI" pitchFamily="34" charset="0"/>
                <a:ea typeface="Segoe UI" pitchFamily="34" charset="-122"/>
                <a:cs typeface="Segoe UI" pitchFamily="34" charset="-120"/>
              </a:rPr>
              <a:t>Is the API contract we are about to read still current? It was read at four points and refreshed at none, and the fixture gate passes clean against any age of cache.</a:t>
            </a:r>
            <a:endParaRPr lang="en-US" sz="950" dirty="0"/>
          </a:p>
        </p:txBody>
      </p:sp>
      <p:sp>
        <p:nvSpPr>
          <p:cNvPr id="25" name="Text 23"/>
          <p:cNvSpPr/>
          <p:nvPr/>
        </p:nvSpPr>
        <p:spPr>
          <a:xfrm>
            <a:off x="9985248" y="4041648"/>
            <a:ext cx="1554480" cy="219456"/>
          </a:xfrm>
          <a:prstGeom prst="rect">
            <a:avLst/>
          </a:prstGeom>
          <a:noFill/>
          <a:ln/>
        </p:spPr>
        <p:txBody>
          <a:bodyPr wrap="square" rtlCol="0" anchor="t"/>
          <a:lstStyle/>
          <a:p>
            <a:pPr indent="0" marL="0">
              <a:buNone/>
            </a:pPr>
            <a:r>
              <a:rPr lang="en-US" sz="900" b="1" dirty="0">
                <a:solidFill>
                  <a:srgbClr val="1F9D57"/>
                </a:solidFill>
                <a:latin typeface="Consolas" pitchFamily="34" charset="0"/>
                <a:ea typeface="Consolas" pitchFamily="34" charset="-122"/>
                <a:cs typeface="Consolas" pitchFamily="34" charset="-120"/>
              </a:rPr>
              <a:t>fails open</a:t>
            </a:r>
            <a:endParaRPr lang="en-US" sz="900" dirty="0"/>
          </a:p>
        </p:txBody>
      </p:sp>
      <p:sp>
        <p:nvSpPr>
          <p:cNvPr id="26" name="Shape 24"/>
          <p:cNvSpPr/>
          <p:nvPr/>
        </p:nvSpPr>
        <p:spPr>
          <a:xfrm>
            <a:off x="658368" y="4572000"/>
            <a:ext cx="10872216" cy="0"/>
          </a:xfrm>
          <a:prstGeom prst="line">
            <a:avLst/>
          </a:prstGeom>
          <a:noFill/>
          <a:ln w="6350">
            <a:solidFill>
              <a:srgbClr val="DBE3EC"/>
            </a:solidFill>
            <a:prstDash val="solid"/>
          </a:ln>
        </p:spPr>
      </p:sp>
      <p:sp>
        <p:nvSpPr>
          <p:cNvPr id="27" name="Text 25"/>
          <p:cNvSpPr/>
          <p:nvPr/>
        </p:nvSpPr>
        <p:spPr>
          <a:xfrm>
            <a:off x="658368" y="4645152"/>
            <a:ext cx="2011680" cy="219456"/>
          </a:xfrm>
          <a:prstGeom prst="rect">
            <a:avLst/>
          </a:prstGeom>
          <a:noFill/>
          <a:ln/>
        </p:spPr>
        <p:txBody>
          <a:bodyPr wrap="square" rtlCol="0" anchor="t"/>
          <a:lstStyle/>
          <a:p>
            <a:pPr indent="0" marL="0">
              <a:buNone/>
            </a:pPr>
            <a:r>
              <a:rPr lang="en-US" sz="1000" b="1" dirty="0">
                <a:solidFill>
                  <a:srgbClr val="16202E"/>
                </a:solidFill>
                <a:latin typeface="Consolas" pitchFamily="34" charset="0"/>
                <a:ea typeface="Consolas" pitchFamily="34" charset="-122"/>
                <a:cs typeface="Consolas" pitchFamily="34" charset="-120"/>
              </a:rPr>
              <a:t>coverage_surface</a:t>
            </a:r>
            <a:endParaRPr lang="en-US" sz="1000" dirty="0"/>
          </a:p>
        </p:txBody>
      </p:sp>
      <p:sp>
        <p:nvSpPr>
          <p:cNvPr id="28" name="Text 26"/>
          <p:cNvSpPr/>
          <p:nvPr/>
        </p:nvSpPr>
        <p:spPr>
          <a:xfrm>
            <a:off x="658368" y="4846320"/>
            <a:ext cx="2011680" cy="182880"/>
          </a:xfrm>
          <a:prstGeom prst="rect">
            <a:avLst/>
          </a:prstGeom>
          <a:noFill/>
          <a:ln/>
        </p:spPr>
        <p:txBody>
          <a:bodyPr wrap="square" rtlCol="0" anchor="t"/>
          <a:lstStyle/>
          <a:p>
            <a:pPr indent="0" marL="0">
              <a:buNone/>
            </a:pPr>
            <a:r>
              <a:rPr lang="en-US" sz="800" b="1" dirty="0">
                <a:solidFill>
                  <a:srgbClr val="7C8AA0"/>
                </a:solidFill>
                <a:latin typeface="Segoe UI" pitchFamily="34" charset="0"/>
                <a:ea typeface="Segoe UI" pitchFamily="34" charset="-122"/>
                <a:cs typeface="Segoe UI" pitchFamily="34" charset="-120"/>
              </a:rPr>
              <a:t>2e</a:t>
            </a:r>
            <a:endParaRPr lang="en-US" sz="800" dirty="0"/>
          </a:p>
        </p:txBody>
      </p:sp>
      <p:sp>
        <p:nvSpPr>
          <p:cNvPr id="29" name="Text 27"/>
          <p:cNvSpPr/>
          <p:nvPr/>
        </p:nvSpPr>
        <p:spPr>
          <a:xfrm>
            <a:off x="2852928" y="4645152"/>
            <a:ext cx="6949440" cy="512064"/>
          </a:xfrm>
          <a:prstGeom prst="rect">
            <a:avLst/>
          </a:prstGeom>
          <a:noFill/>
          <a:ln/>
        </p:spPr>
        <p:txBody>
          <a:bodyPr wrap="square" rtlCol="0" anchor="t"/>
          <a:lstStyle/>
          <a:p>
            <a:pPr indent="0" marL="0">
              <a:lnSpc>
                <a:spcPct val="115000"/>
              </a:lnSpc>
              <a:buNone/>
            </a:pPr>
            <a:r>
              <a:rPr lang="en-US" sz="950" dirty="0">
                <a:solidFill>
                  <a:srgbClr val="4D5C70"/>
                </a:solidFill>
                <a:latin typeface="Segoe UI" pitchFamily="34" charset="0"/>
                <a:ea typeface="Segoe UI" pitchFamily="34" charset="-122"/>
                <a:cs typeface="Segoe UI" pitchFamily="34" charset="-120"/>
              </a:rPr>
              <a:t>Which EXISTING rows does this change make wrong? The corpus had only ever been read for what it already covers.</a:t>
            </a:r>
            <a:endParaRPr lang="en-US" sz="950" dirty="0"/>
          </a:p>
        </p:txBody>
      </p:sp>
      <p:sp>
        <p:nvSpPr>
          <p:cNvPr id="30" name="Text 28"/>
          <p:cNvSpPr/>
          <p:nvPr/>
        </p:nvSpPr>
        <p:spPr>
          <a:xfrm>
            <a:off x="9985248" y="4645152"/>
            <a:ext cx="1554480" cy="219456"/>
          </a:xfrm>
          <a:prstGeom prst="rect">
            <a:avLst/>
          </a:prstGeom>
          <a:noFill/>
          <a:ln/>
        </p:spPr>
        <p:txBody>
          <a:bodyPr wrap="square" rtlCol="0" anchor="t"/>
          <a:lstStyle/>
          <a:p>
            <a:pPr indent="0" marL="0">
              <a:buNone/>
            </a:pPr>
            <a:r>
              <a:rPr lang="en-US" sz="900" b="1" dirty="0">
                <a:solidFill>
                  <a:srgbClr val="1F9D57"/>
                </a:solidFill>
                <a:latin typeface="Consolas" pitchFamily="34" charset="0"/>
                <a:ea typeface="Consolas" pitchFamily="34" charset="-122"/>
                <a:cs typeface="Consolas" pitchFamily="34" charset="-120"/>
              </a:rPr>
              <a:t>fails open</a:t>
            </a:r>
            <a:endParaRPr lang="en-US" sz="900" dirty="0"/>
          </a:p>
        </p:txBody>
      </p:sp>
      <p:sp>
        <p:nvSpPr>
          <p:cNvPr id="31" name="Shape 29"/>
          <p:cNvSpPr/>
          <p:nvPr/>
        </p:nvSpPr>
        <p:spPr>
          <a:xfrm>
            <a:off x="658368" y="5175504"/>
            <a:ext cx="10872216" cy="0"/>
          </a:xfrm>
          <a:prstGeom prst="line">
            <a:avLst/>
          </a:prstGeom>
          <a:noFill/>
          <a:ln w="6350">
            <a:solidFill>
              <a:srgbClr val="DBE3EC"/>
            </a:solidFill>
            <a:prstDash val="solid"/>
          </a:ln>
        </p:spPr>
      </p:sp>
      <p:sp>
        <p:nvSpPr>
          <p:cNvPr id="32" name="Text 30"/>
          <p:cNvSpPr/>
          <p:nvPr/>
        </p:nvSpPr>
        <p:spPr>
          <a:xfrm>
            <a:off x="658368" y="5248656"/>
            <a:ext cx="2011680" cy="219456"/>
          </a:xfrm>
          <a:prstGeom prst="rect">
            <a:avLst/>
          </a:prstGeom>
          <a:noFill/>
          <a:ln/>
        </p:spPr>
        <p:txBody>
          <a:bodyPr wrap="square" rtlCol="0" anchor="t"/>
          <a:lstStyle/>
          <a:p>
            <a:pPr indent="0" marL="0">
              <a:buNone/>
            </a:pPr>
            <a:r>
              <a:rPr lang="en-US" sz="1000" b="1" dirty="0">
                <a:solidFill>
                  <a:srgbClr val="16202E"/>
                </a:solidFill>
                <a:latin typeface="Consolas" pitchFamily="34" charset="0"/>
                <a:ea typeface="Consolas" pitchFamily="34" charset="-122"/>
                <a:cs typeface="Consolas" pitchFamily="34" charset="-120"/>
              </a:rPr>
              <a:t>data_surface</a:t>
            </a:r>
            <a:endParaRPr lang="en-US" sz="1000" dirty="0"/>
          </a:p>
        </p:txBody>
      </p:sp>
      <p:sp>
        <p:nvSpPr>
          <p:cNvPr id="33" name="Text 31"/>
          <p:cNvSpPr/>
          <p:nvPr/>
        </p:nvSpPr>
        <p:spPr>
          <a:xfrm>
            <a:off x="658368" y="5449824"/>
            <a:ext cx="2011680" cy="182880"/>
          </a:xfrm>
          <a:prstGeom prst="rect">
            <a:avLst/>
          </a:prstGeom>
          <a:noFill/>
          <a:ln/>
        </p:spPr>
        <p:txBody>
          <a:bodyPr wrap="square" rtlCol="0" anchor="t"/>
          <a:lstStyle/>
          <a:p>
            <a:pPr indent="0" marL="0">
              <a:buNone/>
            </a:pPr>
            <a:r>
              <a:rPr lang="en-US" sz="800" b="1" dirty="0">
                <a:solidFill>
                  <a:srgbClr val="7C8AA0"/>
                </a:solidFill>
                <a:latin typeface="Segoe UI" pitchFamily="34" charset="0"/>
                <a:ea typeface="Segoe UI" pitchFamily="34" charset="-122"/>
                <a:cs typeface="Segoe UI" pitchFamily="34" charset="-120"/>
              </a:rPr>
              <a:t>2f</a:t>
            </a:r>
            <a:endParaRPr lang="en-US" sz="800" dirty="0"/>
          </a:p>
        </p:txBody>
      </p:sp>
      <p:sp>
        <p:nvSpPr>
          <p:cNvPr id="34" name="Text 32"/>
          <p:cNvSpPr/>
          <p:nvPr/>
        </p:nvSpPr>
        <p:spPr>
          <a:xfrm>
            <a:off x="2852928" y="5248656"/>
            <a:ext cx="6949440" cy="512064"/>
          </a:xfrm>
          <a:prstGeom prst="rect">
            <a:avLst/>
          </a:prstGeom>
          <a:noFill/>
          <a:ln/>
        </p:spPr>
        <p:txBody>
          <a:bodyPr wrap="square" rtlCol="0" anchor="t"/>
          <a:lstStyle/>
          <a:p>
            <a:pPr indent="0" marL="0">
              <a:lnSpc>
                <a:spcPct val="115000"/>
              </a:lnSpc>
              <a:buNone/>
            </a:pPr>
            <a:r>
              <a:rPr lang="en-US" sz="950" dirty="0">
                <a:solidFill>
                  <a:srgbClr val="4D5C70"/>
                </a:solidFill>
                <a:latin typeface="Segoe UI" pitchFamily="34" charset="0"/>
                <a:ea typeface="Segoe UI" pitchFamily="34" charset="-122"/>
                <a:cs typeface="Segoe UI" pitchFamily="34" charset="-120"/>
              </a:rPr>
              <a:t>Does this ticket need data that does not exist yet? The only axis that can REMOVE work rather than add it.</a:t>
            </a:r>
            <a:endParaRPr lang="en-US" sz="950" dirty="0"/>
          </a:p>
        </p:txBody>
      </p:sp>
      <p:sp>
        <p:nvSpPr>
          <p:cNvPr id="35" name="Text 33"/>
          <p:cNvSpPr/>
          <p:nvPr/>
        </p:nvSpPr>
        <p:spPr>
          <a:xfrm>
            <a:off x="9985248" y="5248656"/>
            <a:ext cx="1554480" cy="219456"/>
          </a:xfrm>
          <a:prstGeom prst="rect">
            <a:avLst/>
          </a:prstGeom>
          <a:noFill/>
          <a:ln/>
        </p:spPr>
        <p:txBody>
          <a:bodyPr wrap="square" rtlCol="0" anchor="t"/>
          <a:lstStyle/>
          <a:p>
            <a:pPr indent="0" marL="0">
              <a:buNone/>
            </a:pPr>
            <a:r>
              <a:rPr lang="en-US" sz="900" b="1" dirty="0">
                <a:solidFill>
                  <a:srgbClr val="5566E0"/>
                </a:solidFill>
                <a:latin typeface="Consolas" pitchFamily="34" charset="0"/>
                <a:ea typeface="Consolas" pitchFamily="34" charset="-122"/>
                <a:cs typeface="Consolas" pitchFamily="34" charset="-120"/>
              </a:rPr>
              <a:t>subtracts only</a:t>
            </a:r>
            <a:endParaRPr lang="en-US" sz="900" dirty="0"/>
          </a:p>
        </p:txBody>
      </p:sp>
      <p:sp>
        <p:nvSpPr>
          <p:cNvPr id="36" name="Shape 34"/>
          <p:cNvSpPr/>
          <p:nvPr/>
        </p:nvSpPr>
        <p:spPr>
          <a:xfrm>
            <a:off x="658368" y="5779008"/>
            <a:ext cx="10872216" cy="0"/>
          </a:xfrm>
          <a:prstGeom prst="line">
            <a:avLst/>
          </a:prstGeom>
          <a:noFill/>
          <a:ln w="6350">
            <a:solidFill>
              <a:srgbClr val="DBE3EC"/>
            </a:solidFill>
            <a:prstDash val="solid"/>
          </a:ln>
        </p:spPr>
      </p:sp>
      <p:sp>
        <p:nvSpPr>
          <p:cNvPr id="37" name="Shape 35"/>
          <p:cNvSpPr/>
          <p:nvPr/>
        </p:nvSpPr>
        <p:spPr>
          <a:xfrm>
            <a:off x="658368" y="5907024"/>
            <a:ext cx="10872216" cy="658368"/>
          </a:xfrm>
          <a:prstGeom prst="roundRect">
            <a:avLst>
              <a:gd name="adj" fmla="val 6944"/>
            </a:avLst>
          </a:prstGeom>
          <a:solidFill>
            <a:srgbClr val="E8EAFB"/>
          </a:solidFill>
          <a:ln w="9525">
            <a:solidFill>
              <a:srgbClr val="5566E0"/>
            </a:solidFill>
            <a:prstDash val="dash"/>
          </a:ln>
        </p:spPr>
      </p:sp>
      <p:sp>
        <p:nvSpPr>
          <p:cNvPr id="38" name="Text 36"/>
          <p:cNvSpPr/>
          <p:nvPr/>
        </p:nvSpPr>
        <p:spPr>
          <a:xfrm>
            <a:off x="877824" y="6016752"/>
            <a:ext cx="10433304" cy="438912"/>
          </a:xfrm>
          <a:prstGeom prst="rect">
            <a:avLst/>
          </a:prstGeom>
          <a:noFill/>
          <a:ln/>
        </p:spPr>
        <p:txBody>
          <a:bodyPr wrap="square" rtlCol="0" anchor="ctr"/>
          <a:lstStyle/>
          <a:p>
            <a:pPr indent="0" marL="0">
              <a:lnSpc>
                <a:spcPct val="120000"/>
              </a:lnSpc>
              <a:buNone/>
            </a:pPr>
            <a:r>
              <a:rPr lang="en-US" sz="1050" dirty="0">
                <a:solidFill>
                  <a:srgbClr val="5566E0"/>
                </a:solidFill>
                <a:latin typeface="Segoe UI" pitchFamily="34" charset="0"/>
                <a:ea typeface="Segoe UI" pitchFamily="34" charset="-122"/>
                <a:cs typeface="Segoe UI" pitchFamily="34" charset="-120"/>
              </a:rPr>
              <a:t>The shared rule: derived, never asked, never defaulted — and always recorded with its sources, because a null means the source was never consulted, which is a gap and not a zero.</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6094476"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7 / 14</a:t>
            </a:r>
            <a:endParaRPr lang="en-US" sz="900" dirty="0"/>
          </a:p>
        </p:txBody>
      </p:sp>
      <p:sp>
        <p:nvSpPr>
          <p:cNvPr id="4" name="Shape 2"/>
          <p:cNvSpPr/>
          <p:nvPr/>
        </p:nvSpPr>
        <p:spPr>
          <a:xfrm>
            <a:off x="658368" y="566928"/>
            <a:ext cx="237744" cy="25603"/>
          </a:xfrm>
          <a:prstGeom prst="rect">
            <a:avLst/>
          </a:prstGeom>
          <a:solidFill>
            <a:srgbClr val="0F9D8F"/>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0A6E64"/>
                </a:solidFill>
                <a:latin typeface="Consolas" pitchFamily="34" charset="0"/>
                <a:ea typeface="Consolas" pitchFamily="34" charset="-122"/>
                <a:cs typeface="Consolas" pitchFamily="34" charset="-120"/>
              </a:rPr>
              <a:t>AXIS 2E · WORKED EXAMPLE</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600" b="1" dirty="0">
                <a:solidFill>
                  <a:srgbClr val="16202E"/>
                </a:solidFill>
                <a:latin typeface="Segoe UI" pitchFamily="34" charset="0"/>
                <a:ea typeface="Segoe UI" pitchFamily="34" charset="-122"/>
                <a:cs typeface="Segoe UI" pitchFamily="34" charset="-120"/>
              </a:rPr>
              <a:t>A stale test case had exactly one way to be found:</a:t>
            </a:r>
            <a:endParaRPr lang="en-US" sz="2600" dirty="0"/>
          </a:p>
          <a:p>
            <a:pPr indent="0" marL="0">
              <a:buNone/>
            </a:pPr>
            <a:r>
              <a:rPr lang="en-US" sz="2600" b="1" dirty="0">
                <a:solidFill>
                  <a:srgbClr val="16202E"/>
                </a:solidFill>
                <a:latin typeface="Segoe UI" pitchFamily="34" charset="0"/>
                <a:ea typeface="Segoe UI" pitchFamily="34" charset="-122"/>
                <a:cs typeface="Segoe UI" pitchFamily="34" charset="-120"/>
              </a:rPr>
              <a:t>fail, and get triaged afterwards.</a:t>
            </a:r>
            <a:endParaRPr lang="en-US" sz="2600" dirty="0"/>
          </a:p>
        </p:txBody>
      </p:sp>
      <p:sp>
        <p:nvSpPr>
          <p:cNvPr id="7" name="Text 5"/>
          <p:cNvSpPr/>
          <p:nvPr/>
        </p:nvSpPr>
        <p:spPr>
          <a:xfrm>
            <a:off x="658368" y="2057400"/>
            <a:ext cx="5120640" cy="256032"/>
          </a:xfrm>
          <a:prstGeom prst="rect">
            <a:avLst/>
          </a:prstGeom>
          <a:noFill/>
          <a:ln/>
        </p:spPr>
        <p:txBody>
          <a:bodyPr wrap="square" rtlCol="0" anchor="ctr"/>
          <a:lstStyle/>
          <a:p>
            <a:pPr indent="0" marL="0">
              <a:buNone/>
            </a:pPr>
            <a:r>
              <a:rPr lang="en-US" sz="1250" dirty="0">
                <a:solidFill>
                  <a:srgbClr val="4D5C70"/>
                </a:solidFill>
                <a:latin typeface="Segoe UI" pitchFamily="34" charset="0"/>
                <a:ea typeface="Segoe UI" pitchFamily="34" charset="-122"/>
                <a:cs typeface="Segoe UI" pitchFamily="34" charset="-120"/>
              </a:rPr>
              <a:t>Three things compound so that it never even fails.</a:t>
            </a:r>
            <a:endParaRPr lang="en-US" sz="1250" dirty="0"/>
          </a:p>
        </p:txBody>
      </p:sp>
      <p:sp>
        <p:nvSpPr>
          <p:cNvPr id="8" name="Text 6"/>
          <p:cNvSpPr/>
          <p:nvPr/>
        </p:nvSpPr>
        <p:spPr>
          <a:xfrm>
            <a:off x="658368" y="2450592"/>
            <a:ext cx="237744" cy="219456"/>
          </a:xfrm>
          <a:prstGeom prst="rect">
            <a:avLst/>
          </a:prstGeom>
          <a:noFill/>
          <a:ln/>
        </p:spPr>
        <p:txBody>
          <a:bodyPr wrap="square" rtlCol="0" anchor="t"/>
          <a:lstStyle/>
          <a:p>
            <a:pPr indent="0" marL="0">
              <a:buNone/>
            </a:pPr>
            <a:r>
              <a:rPr lang="en-US" sz="1000" b="1" dirty="0">
                <a:solidFill>
                  <a:srgbClr val="D1495B"/>
                </a:solidFill>
                <a:latin typeface="Consolas" pitchFamily="34" charset="0"/>
                <a:ea typeface="Consolas" pitchFamily="34" charset="-122"/>
                <a:cs typeface="Consolas" pitchFamily="34" charset="-120"/>
              </a:rPr>
              <a:t>1</a:t>
            </a:r>
            <a:endParaRPr lang="en-US" sz="1000" dirty="0"/>
          </a:p>
        </p:txBody>
      </p:sp>
      <p:sp>
        <p:nvSpPr>
          <p:cNvPr id="9" name="Text 7"/>
          <p:cNvSpPr/>
          <p:nvPr/>
        </p:nvSpPr>
        <p:spPr>
          <a:xfrm>
            <a:off x="932688" y="2450592"/>
            <a:ext cx="4846320" cy="603504"/>
          </a:xfrm>
          <a:prstGeom prst="rect">
            <a:avLst/>
          </a:prstGeom>
          <a:noFill/>
          <a:ln/>
        </p:spPr>
        <p:txBody>
          <a:bodyPr wrap="square" rtlCol="0" anchor="t"/>
          <a:lstStyle/>
          <a:p>
            <a:pPr indent="0" marL="0">
              <a:lnSpc>
                <a:spcPct val="120000"/>
              </a:lnSpc>
              <a:buNone/>
            </a:pPr>
            <a:r>
              <a:rPr lang="en-US" sz="1000" dirty="0">
                <a:solidFill>
                  <a:srgbClr val="16202E"/>
                </a:solidFill>
                <a:latin typeface="Segoe UI" pitchFamily="34" charset="0"/>
                <a:ea typeface="Segoe UI" pitchFamily="34" charset="-122"/>
                <a:cs typeface="Segoe UI" pitchFamily="34" charset="-120"/>
              </a:rPr>
              <a:t>Suite selection maps changed PATHS, and the mapping misses — it excluded the three suites the ticket was entirely about, then reported itself fully mapped.</a:t>
            </a:r>
            <a:endParaRPr lang="en-US" sz="1000" dirty="0"/>
          </a:p>
        </p:txBody>
      </p:sp>
      <p:sp>
        <p:nvSpPr>
          <p:cNvPr id="10" name="Text 8"/>
          <p:cNvSpPr/>
          <p:nvPr/>
        </p:nvSpPr>
        <p:spPr>
          <a:xfrm>
            <a:off x="658368" y="3108960"/>
            <a:ext cx="237744" cy="219456"/>
          </a:xfrm>
          <a:prstGeom prst="rect">
            <a:avLst/>
          </a:prstGeom>
          <a:noFill/>
          <a:ln/>
        </p:spPr>
        <p:txBody>
          <a:bodyPr wrap="square" rtlCol="0" anchor="t"/>
          <a:lstStyle/>
          <a:p>
            <a:pPr indent="0" marL="0">
              <a:buNone/>
            </a:pPr>
            <a:r>
              <a:rPr lang="en-US" sz="1000" b="1" dirty="0">
                <a:solidFill>
                  <a:srgbClr val="D1495B"/>
                </a:solidFill>
                <a:latin typeface="Consolas" pitchFamily="34" charset="0"/>
                <a:ea typeface="Consolas" pitchFamily="34" charset="-122"/>
                <a:cs typeface="Consolas" pitchFamily="34" charset="-120"/>
              </a:rPr>
              <a:t>2</a:t>
            </a:r>
            <a:endParaRPr lang="en-US" sz="1000" dirty="0"/>
          </a:p>
        </p:txBody>
      </p:sp>
      <p:sp>
        <p:nvSpPr>
          <p:cNvPr id="11" name="Text 9"/>
          <p:cNvSpPr/>
          <p:nvPr/>
        </p:nvSpPr>
        <p:spPr>
          <a:xfrm>
            <a:off x="932688" y="3108960"/>
            <a:ext cx="4846320" cy="603504"/>
          </a:xfrm>
          <a:prstGeom prst="rect">
            <a:avLst/>
          </a:prstGeom>
          <a:noFill/>
          <a:ln/>
        </p:spPr>
        <p:txBody>
          <a:bodyPr wrap="square" rtlCol="0" anchor="t"/>
          <a:lstStyle/>
          <a:p>
            <a:pPr indent="0" marL="0">
              <a:lnSpc>
                <a:spcPct val="120000"/>
              </a:lnSpc>
              <a:buNone/>
            </a:pPr>
            <a:r>
              <a:rPr lang="en-US" sz="1000" dirty="0">
                <a:solidFill>
                  <a:srgbClr val="16202E"/>
                </a:solidFill>
                <a:latin typeface="Segoe UI" pitchFamily="34" charset="0"/>
                <a:ea typeface="Segoe UI" pitchFamily="34" charset="-122"/>
                <a:cs typeface="Segoe UI" pitchFamily="34" charset="-120"/>
              </a:rPr>
              <a:t>The change-scoped run then keeps only the critical tier, dropping the rows where most label and route assertions live.</a:t>
            </a:r>
            <a:endParaRPr lang="en-US" sz="1000" dirty="0"/>
          </a:p>
        </p:txBody>
      </p:sp>
      <p:sp>
        <p:nvSpPr>
          <p:cNvPr id="12" name="Text 10"/>
          <p:cNvSpPr/>
          <p:nvPr/>
        </p:nvSpPr>
        <p:spPr>
          <a:xfrm>
            <a:off x="658368" y="3767328"/>
            <a:ext cx="237744" cy="219456"/>
          </a:xfrm>
          <a:prstGeom prst="rect">
            <a:avLst/>
          </a:prstGeom>
          <a:noFill/>
          <a:ln/>
        </p:spPr>
        <p:txBody>
          <a:bodyPr wrap="square" rtlCol="0" anchor="t"/>
          <a:lstStyle/>
          <a:p>
            <a:pPr indent="0" marL="0">
              <a:buNone/>
            </a:pPr>
            <a:r>
              <a:rPr lang="en-US" sz="1000" b="1" dirty="0">
                <a:solidFill>
                  <a:srgbClr val="D1495B"/>
                </a:solidFill>
                <a:latin typeface="Consolas" pitchFamily="34" charset="0"/>
                <a:ea typeface="Consolas" pitchFamily="34" charset="-122"/>
                <a:cs typeface="Consolas" pitchFamily="34" charset="-120"/>
              </a:rPr>
              <a:t>3</a:t>
            </a:r>
            <a:endParaRPr lang="en-US" sz="1000" dirty="0"/>
          </a:p>
        </p:txBody>
      </p:sp>
      <p:sp>
        <p:nvSpPr>
          <p:cNvPr id="13" name="Text 11"/>
          <p:cNvSpPr/>
          <p:nvPr/>
        </p:nvSpPr>
        <p:spPr>
          <a:xfrm>
            <a:off x="932688" y="3767328"/>
            <a:ext cx="4846320" cy="603504"/>
          </a:xfrm>
          <a:prstGeom prst="rect">
            <a:avLst/>
          </a:prstGeom>
          <a:noFill/>
          <a:ln/>
        </p:spPr>
        <p:txBody>
          <a:bodyPr wrap="square" rtlCol="0" anchor="t"/>
          <a:lstStyle/>
          <a:p>
            <a:pPr indent="0" marL="0">
              <a:lnSpc>
                <a:spcPct val="120000"/>
              </a:lnSpc>
              <a:buNone/>
            </a:pPr>
            <a:r>
              <a:rPr lang="en-US" sz="1000" dirty="0">
                <a:solidFill>
                  <a:srgbClr val="16202E"/>
                </a:solidFill>
                <a:latin typeface="Segoe UI" pitchFamily="34" charset="0"/>
                <a:ea typeface="Segoe UI" pitchFamily="34" charset="-122"/>
                <a:cs typeface="Segoe UI" pitchFamily="34" charset="-120"/>
              </a:rPr>
              <a:t>A row that never executes is never triaged. Silently, with no error anywhere.</a:t>
            </a:r>
            <a:endParaRPr lang="en-US" sz="1000" dirty="0"/>
          </a:p>
        </p:txBody>
      </p:sp>
      <p:sp>
        <p:nvSpPr>
          <p:cNvPr id="14" name="Shape 12"/>
          <p:cNvSpPr/>
          <p:nvPr/>
        </p:nvSpPr>
        <p:spPr>
          <a:xfrm>
            <a:off x="658368" y="4517136"/>
            <a:ext cx="5120640" cy="841248"/>
          </a:xfrm>
          <a:prstGeom prst="roundRect">
            <a:avLst>
              <a:gd name="adj" fmla="val 5435"/>
            </a:avLst>
          </a:prstGeom>
          <a:solidFill>
            <a:srgbClr val="E2F4F1"/>
          </a:solidFill>
          <a:ln w="9525">
            <a:solidFill>
              <a:srgbClr val="0F9D8F"/>
            </a:solidFill>
            <a:prstDash val="dash"/>
          </a:ln>
        </p:spPr>
      </p:sp>
      <p:sp>
        <p:nvSpPr>
          <p:cNvPr id="15" name="Text 13"/>
          <p:cNvSpPr/>
          <p:nvPr/>
        </p:nvSpPr>
        <p:spPr>
          <a:xfrm>
            <a:off x="877824" y="4626864"/>
            <a:ext cx="4681728" cy="621792"/>
          </a:xfrm>
          <a:prstGeom prst="rect">
            <a:avLst/>
          </a:prstGeom>
          <a:noFill/>
          <a:ln/>
        </p:spPr>
        <p:txBody>
          <a:bodyPr wrap="square" rtlCol="0" anchor="ctr"/>
          <a:lstStyle/>
          <a:p>
            <a:pPr indent="0" marL="0">
              <a:lnSpc>
                <a:spcPct val="120000"/>
              </a:lnSpc>
              <a:buNone/>
            </a:pPr>
            <a:r>
              <a:rPr lang="en-US" sz="1050" dirty="0">
                <a:solidFill>
                  <a:srgbClr val="0A6E64"/>
                </a:solidFill>
                <a:latin typeface="Segoe UI" pitchFamily="34" charset="0"/>
                <a:ea typeface="Segoe UI" pitchFamily="34" charset="-122"/>
                <a:cs typeface="Segoe UI" pitchFamily="34" charset="-120"/>
              </a:rPr>
              <a:t>One PR renamed a hub widget across thirteen locales. The existing suites assert the OLD label 62 times — in suites where not one row carries an audit stamp.</a:t>
            </a:r>
            <a:endParaRPr lang="en-US" sz="1050" dirty="0"/>
          </a:p>
        </p:txBody>
      </p:sp>
      <p:sp>
        <p:nvSpPr>
          <p:cNvPr id="16" name="Text 14"/>
          <p:cNvSpPr/>
          <p:nvPr/>
        </p:nvSpPr>
        <p:spPr>
          <a:xfrm>
            <a:off x="6236208" y="2057400"/>
            <a:ext cx="5294376" cy="219456"/>
          </a:xfrm>
          <a:prstGeom prst="rect">
            <a:avLst/>
          </a:prstGeom>
          <a:noFill/>
          <a:ln/>
        </p:spPr>
        <p:txBody>
          <a:bodyPr wrap="square" rtlCol="0" anchor="ctr"/>
          <a:lstStyle/>
          <a:p>
            <a:pPr indent="0" marL="0">
              <a:buNone/>
            </a:pPr>
            <a:r>
              <a:rPr lang="en-US" sz="800" b="1" spc="160" kern="0" dirty="0">
                <a:solidFill>
                  <a:srgbClr val="7C8AA0"/>
                </a:solidFill>
                <a:latin typeface="Consolas" pitchFamily="34" charset="0"/>
                <a:ea typeface="Consolas" pitchFamily="34" charset="-122"/>
                <a:cs typeface="Consolas" pitchFamily="34" charset="-120"/>
              </a:rPr>
              <a:t>FOUR DISPOSITIONS, AND ONE OF THEM IS LOAD-BEARING</a:t>
            </a:r>
            <a:endParaRPr lang="en-US" sz="800" dirty="0"/>
          </a:p>
        </p:txBody>
      </p:sp>
      <p:sp>
        <p:nvSpPr>
          <p:cNvPr id="17" name="Shape 15"/>
          <p:cNvSpPr/>
          <p:nvPr/>
        </p:nvSpPr>
        <p:spPr>
          <a:xfrm>
            <a:off x="6236208" y="2395728"/>
            <a:ext cx="5294376" cy="420624"/>
          </a:xfrm>
          <a:prstGeom prst="roundRect">
            <a:avLst>
              <a:gd name="adj" fmla="val 10870"/>
            </a:avLst>
          </a:prstGeom>
          <a:solidFill>
            <a:srgbClr val="FFFFFF"/>
          </a:solidFill>
          <a:ln w="6350">
            <a:solidFill>
              <a:srgbClr val="DBE3EC"/>
            </a:solidFill>
            <a:prstDash val="solid"/>
          </a:ln>
        </p:spPr>
      </p:sp>
      <p:sp>
        <p:nvSpPr>
          <p:cNvPr id="18" name="Text 16"/>
          <p:cNvSpPr/>
          <p:nvPr/>
        </p:nvSpPr>
        <p:spPr>
          <a:xfrm>
            <a:off x="6419088" y="2505456"/>
            <a:ext cx="1005840" cy="201168"/>
          </a:xfrm>
          <a:prstGeom prst="rect">
            <a:avLst/>
          </a:prstGeom>
          <a:noFill/>
          <a:ln/>
        </p:spPr>
        <p:txBody>
          <a:bodyPr wrap="square" rtlCol="0" anchor="t"/>
          <a:lstStyle/>
          <a:p>
            <a:pPr indent="0" marL="0">
              <a:buNone/>
            </a:pPr>
            <a:r>
              <a:rPr lang="en-US" sz="900" b="1" dirty="0">
                <a:solidFill>
                  <a:srgbClr val="0A6E64"/>
                </a:solidFill>
                <a:latin typeface="Consolas" pitchFamily="34" charset="0"/>
                <a:ea typeface="Consolas" pitchFamily="34" charset="-122"/>
                <a:cs typeface="Consolas" pitchFamily="34" charset="-120"/>
              </a:rPr>
              <a:t>CONFIRMED</a:t>
            </a:r>
            <a:endParaRPr lang="en-US" sz="900" dirty="0"/>
          </a:p>
        </p:txBody>
      </p:sp>
      <p:sp>
        <p:nvSpPr>
          <p:cNvPr id="19" name="Text 17"/>
          <p:cNvSpPr/>
          <p:nvPr/>
        </p:nvSpPr>
        <p:spPr>
          <a:xfrm>
            <a:off x="7461504" y="2505456"/>
            <a:ext cx="3886200" cy="201168"/>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still correct, leave it.</a:t>
            </a:r>
            <a:endParaRPr lang="en-US" sz="950" dirty="0"/>
          </a:p>
        </p:txBody>
      </p:sp>
      <p:sp>
        <p:nvSpPr>
          <p:cNvPr id="20" name="Shape 18"/>
          <p:cNvSpPr/>
          <p:nvPr/>
        </p:nvSpPr>
        <p:spPr>
          <a:xfrm>
            <a:off x="6236208" y="2944368"/>
            <a:ext cx="5294376" cy="768096"/>
          </a:xfrm>
          <a:prstGeom prst="roundRect">
            <a:avLst>
              <a:gd name="adj" fmla="val 5952"/>
            </a:avLst>
          </a:prstGeom>
          <a:solidFill>
            <a:srgbClr val="FFFFFF"/>
          </a:solidFill>
          <a:ln w="6350">
            <a:solidFill>
              <a:srgbClr val="DBE3EC"/>
            </a:solidFill>
            <a:prstDash val="solid"/>
          </a:ln>
        </p:spPr>
      </p:sp>
      <p:sp>
        <p:nvSpPr>
          <p:cNvPr id="21" name="Text 19"/>
          <p:cNvSpPr/>
          <p:nvPr/>
        </p:nvSpPr>
        <p:spPr>
          <a:xfrm>
            <a:off x="6419088" y="3054096"/>
            <a:ext cx="1005840" cy="201168"/>
          </a:xfrm>
          <a:prstGeom prst="rect">
            <a:avLst/>
          </a:prstGeom>
          <a:noFill/>
          <a:ln/>
        </p:spPr>
        <p:txBody>
          <a:bodyPr wrap="square" rtlCol="0" anchor="t"/>
          <a:lstStyle/>
          <a:p>
            <a:pPr indent="0" marL="0">
              <a:buNone/>
            </a:pPr>
            <a:r>
              <a:rPr lang="en-US" sz="900" b="1" dirty="0">
                <a:solidFill>
                  <a:srgbClr val="0A6E64"/>
                </a:solidFill>
                <a:latin typeface="Consolas" pitchFamily="34" charset="0"/>
                <a:ea typeface="Consolas" pitchFamily="34" charset="-122"/>
                <a:cs typeface="Consolas" pitchFamily="34" charset="-120"/>
              </a:rPr>
              <a:t>REPAIR</a:t>
            </a:r>
            <a:endParaRPr lang="en-US" sz="900" dirty="0"/>
          </a:p>
        </p:txBody>
      </p:sp>
      <p:sp>
        <p:nvSpPr>
          <p:cNvPr id="22" name="Text 20"/>
          <p:cNvSpPr/>
          <p:nvPr/>
        </p:nvSpPr>
        <p:spPr>
          <a:xfrm>
            <a:off x="7461504" y="3054096"/>
            <a:ext cx="3886200" cy="548640"/>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the mechanics went stale — renamed selector, moved route, dead alias. Fixed BEFORE the run: it cannot otherwise reach its own assertion.</a:t>
            </a:r>
            <a:endParaRPr lang="en-US" sz="950" dirty="0"/>
          </a:p>
        </p:txBody>
      </p:sp>
      <p:sp>
        <p:nvSpPr>
          <p:cNvPr id="23" name="Shape 21"/>
          <p:cNvSpPr/>
          <p:nvPr/>
        </p:nvSpPr>
        <p:spPr>
          <a:xfrm>
            <a:off x="6236208" y="3840480"/>
            <a:ext cx="5294376" cy="1133856"/>
          </a:xfrm>
          <a:prstGeom prst="roundRect">
            <a:avLst>
              <a:gd name="adj" fmla="val 4032"/>
            </a:avLst>
          </a:prstGeom>
          <a:solidFill>
            <a:srgbClr val="E8EAFB"/>
          </a:solidFill>
          <a:ln w="11430">
            <a:solidFill>
              <a:srgbClr val="5566E0"/>
            </a:solidFill>
            <a:prstDash val="solid"/>
          </a:ln>
        </p:spPr>
      </p:sp>
      <p:sp>
        <p:nvSpPr>
          <p:cNvPr id="24" name="Text 22"/>
          <p:cNvSpPr/>
          <p:nvPr/>
        </p:nvSpPr>
        <p:spPr>
          <a:xfrm>
            <a:off x="6419088" y="3950208"/>
            <a:ext cx="1005840" cy="201168"/>
          </a:xfrm>
          <a:prstGeom prst="rect">
            <a:avLst/>
          </a:prstGeom>
          <a:noFill/>
          <a:ln/>
        </p:spPr>
        <p:txBody>
          <a:bodyPr wrap="square" rtlCol="0" anchor="t"/>
          <a:lstStyle/>
          <a:p>
            <a:pPr indent="0" marL="0">
              <a:buNone/>
            </a:pPr>
            <a:r>
              <a:rPr lang="en-US" sz="900" b="1" dirty="0">
                <a:solidFill>
                  <a:srgbClr val="5566E0"/>
                </a:solidFill>
                <a:latin typeface="Consolas" pitchFamily="34" charset="0"/>
                <a:ea typeface="Consolas" pitchFamily="34" charset="-122"/>
                <a:cs typeface="Consolas" pitchFamily="34" charset="-120"/>
              </a:rPr>
              <a:t>RE-BASE</a:t>
            </a:r>
            <a:endParaRPr lang="en-US" sz="900" dirty="0"/>
          </a:p>
        </p:txBody>
      </p:sp>
      <p:sp>
        <p:nvSpPr>
          <p:cNvPr id="25" name="Text 23"/>
          <p:cNvSpPr/>
          <p:nvPr/>
        </p:nvSpPr>
        <p:spPr>
          <a:xfrm>
            <a:off x="7461504" y="3950208"/>
            <a:ext cx="3886200" cy="914400"/>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the expected value conflicts. Deliberately NOT rewritten first — the change is an unmerged PR, so rewriting the oracle to match it means the case can only pass. Carried into the run instead, and rewritten afterwards with the run's own evidence.</a:t>
            </a:r>
            <a:endParaRPr lang="en-US" sz="950" dirty="0"/>
          </a:p>
        </p:txBody>
      </p:sp>
      <p:sp>
        <p:nvSpPr>
          <p:cNvPr id="26" name="Shape 24"/>
          <p:cNvSpPr/>
          <p:nvPr/>
        </p:nvSpPr>
        <p:spPr>
          <a:xfrm>
            <a:off x="6236208" y="5102352"/>
            <a:ext cx="5294376" cy="548640"/>
          </a:xfrm>
          <a:prstGeom prst="roundRect">
            <a:avLst>
              <a:gd name="adj" fmla="val 8333"/>
            </a:avLst>
          </a:prstGeom>
          <a:solidFill>
            <a:srgbClr val="FFFFFF"/>
          </a:solidFill>
          <a:ln w="6350">
            <a:solidFill>
              <a:srgbClr val="DBE3EC"/>
            </a:solidFill>
            <a:prstDash val="solid"/>
          </a:ln>
        </p:spPr>
      </p:sp>
      <p:sp>
        <p:nvSpPr>
          <p:cNvPr id="27" name="Text 25"/>
          <p:cNvSpPr/>
          <p:nvPr/>
        </p:nvSpPr>
        <p:spPr>
          <a:xfrm>
            <a:off x="6419088" y="5212080"/>
            <a:ext cx="1005840" cy="201168"/>
          </a:xfrm>
          <a:prstGeom prst="rect">
            <a:avLst/>
          </a:prstGeom>
          <a:noFill/>
          <a:ln/>
        </p:spPr>
        <p:txBody>
          <a:bodyPr wrap="square" rtlCol="0" anchor="t"/>
          <a:lstStyle/>
          <a:p>
            <a:pPr indent="0" marL="0">
              <a:buNone/>
            </a:pPr>
            <a:r>
              <a:rPr lang="en-US" sz="900" b="1" dirty="0">
                <a:solidFill>
                  <a:srgbClr val="0A6E64"/>
                </a:solidFill>
                <a:latin typeface="Consolas" pitchFamily="34" charset="0"/>
                <a:ea typeface="Consolas" pitchFamily="34" charset="-122"/>
                <a:cs typeface="Consolas" pitchFamily="34" charset="-120"/>
              </a:rPr>
              <a:t>SUPERSEDED</a:t>
            </a:r>
            <a:endParaRPr lang="en-US" sz="900" dirty="0"/>
          </a:p>
        </p:txBody>
      </p:sp>
      <p:sp>
        <p:nvSpPr>
          <p:cNvPr id="28" name="Text 26"/>
          <p:cNvSpPr/>
          <p:nvPr/>
        </p:nvSpPr>
        <p:spPr>
          <a:xfrm>
            <a:off x="7461504" y="5212080"/>
            <a:ext cx="3886200" cy="329184"/>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the surface is gone — a proposal, never an edit. Retirement stays human.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6965115" cy="50292"/>
          </a:xfrm>
          <a:prstGeom prst="rect">
            <a:avLst/>
          </a:prstGeom>
          <a:solidFill>
            <a:srgbClr val="5566E0"/>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8 / 14</a:t>
            </a:r>
            <a:endParaRPr lang="en-US" sz="900" dirty="0"/>
          </a:p>
        </p:txBody>
      </p:sp>
      <p:sp>
        <p:nvSpPr>
          <p:cNvPr id="4" name="Shape 2"/>
          <p:cNvSpPr/>
          <p:nvPr/>
        </p:nvSpPr>
        <p:spPr>
          <a:xfrm>
            <a:off x="6949440" y="0"/>
            <a:ext cx="5239512" cy="3108960"/>
          </a:xfrm>
          <a:prstGeom prst="rect">
            <a:avLst/>
          </a:prstGeom>
          <a:solidFill>
            <a:srgbClr val="E8EAFB"/>
          </a:solidFill>
          <a:ln/>
        </p:spPr>
      </p:sp>
      <p:sp>
        <p:nvSpPr>
          <p:cNvPr id="5" name="Text 3"/>
          <p:cNvSpPr/>
          <p:nvPr/>
        </p:nvSpPr>
        <p:spPr>
          <a:xfrm>
            <a:off x="658368" y="1965960"/>
            <a:ext cx="10872216" cy="274320"/>
          </a:xfrm>
          <a:prstGeom prst="rect">
            <a:avLst/>
          </a:prstGeom>
          <a:noFill/>
          <a:ln/>
        </p:spPr>
        <p:txBody>
          <a:bodyPr wrap="square" rtlCol="0" anchor="ctr"/>
          <a:lstStyle/>
          <a:p>
            <a:pPr indent="0" marL="0">
              <a:buNone/>
            </a:pPr>
            <a:r>
              <a:rPr lang="en-US" sz="1000" b="1" spc="240" kern="0" dirty="0">
                <a:solidFill>
                  <a:srgbClr val="7C8AA0"/>
                </a:solidFill>
                <a:latin typeface="Consolas" pitchFamily="34" charset="0"/>
                <a:ea typeface="Consolas" pitchFamily="34" charset="-122"/>
                <a:cs typeface="Consolas" pitchFamily="34" charset="-120"/>
              </a:rPr>
              <a:t>SECTION TWO</a:t>
            </a:r>
            <a:endParaRPr lang="en-US" sz="1000" dirty="0"/>
          </a:p>
        </p:txBody>
      </p:sp>
      <p:sp>
        <p:nvSpPr>
          <p:cNvPr id="6" name="Text 4"/>
          <p:cNvSpPr/>
          <p:nvPr/>
        </p:nvSpPr>
        <p:spPr>
          <a:xfrm>
            <a:off x="658368" y="2286000"/>
            <a:ext cx="7863840" cy="914400"/>
          </a:xfrm>
          <a:prstGeom prst="rect">
            <a:avLst/>
          </a:prstGeom>
          <a:noFill/>
          <a:ln/>
        </p:spPr>
        <p:txBody>
          <a:bodyPr wrap="square" rtlCol="0" anchor="t"/>
          <a:lstStyle/>
          <a:p>
            <a:pPr indent="0" marL="0">
              <a:lnSpc>
                <a:spcPct val="102000"/>
              </a:lnSpc>
              <a:buNone/>
            </a:pPr>
            <a:r>
              <a:rPr lang="en-US" sz="4200" b="1" dirty="0">
                <a:solidFill>
                  <a:srgbClr val="16202E"/>
                </a:solidFill>
                <a:latin typeface="Segoe UI" pitchFamily="34" charset="0"/>
                <a:ea typeface="Segoe UI" pitchFamily="34" charset="-122"/>
                <a:cs typeface="Segoe UI" pitchFamily="34" charset="-120"/>
              </a:rPr>
              <a:t>The machinery underneath</a:t>
            </a:r>
            <a:endParaRPr lang="en-US" sz="4200" dirty="0"/>
          </a:p>
        </p:txBody>
      </p:sp>
      <p:sp>
        <p:nvSpPr>
          <p:cNvPr id="7" name="Text 5"/>
          <p:cNvSpPr/>
          <p:nvPr/>
        </p:nvSpPr>
        <p:spPr>
          <a:xfrm>
            <a:off x="658368" y="3520440"/>
            <a:ext cx="7498080" cy="731520"/>
          </a:xfrm>
          <a:prstGeom prst="rect">
            <a:avLst/>
          </a:prstGeom>
          <a:noFill/>
          <a:ln/>
        </p:spPr>
        <p:txBody>
          <a:bodyPr wrap="square" rtlCol="0" anchor="t"/>
          <a:lstStyle/>
          <a:p>
            <a:pPr indent="0" marL="0">
              <a:lnSpc>
                <a:spcPct val="125000"/>
              </a:lnSpc>
              <a:buNone/>
            </a:pPr>
            <a:r>
              <a:rPr lang="en-US" sz="1300" dirty="0">
                <a:solidFill>
                  <a:srgbClr val="4D5C70"/>
                </a:solidFill>
                <a:latin typeface="Segoe UI" pitchFamily="34" charset="0"/>
                <a:ea typeface="Segoe UI" pitchFamily="34" charset="-122"/>
                <a:cs typeface="Segoe UI" pitchFamily="34" charset="-120"/>
              </a:rPr>
              <a:t>A pipeline is only as good as what it runs on. Regression got faster and finer-grained, the oracles started maintaining themselves, and two knowledge surfaces appeared that simply did not exist before.</a:t>
            </a:r>
            <a:endParaRPr lang="en-US" sz="1300" dirty="0"/>
          </a:p>
        </p:txBody>
      </p:sp>
      <p:sp>
        <p:nvSpPr>
          <p:cNvPr id="8" name="Shape 6"/>
          <p:cNvSpPr/>
          <p:nvPr/>
        </p:nvSpPr>
        <p:spPr>
          <a:xfrm>
            <a:off x="658368" y="4663440"/>
            <a:ext cx="1565453" cy="310896"/>
          </a:xfrm>
          <a:prstGeom prst="roundRect">
            <a:avLst>
              <a:gd name="adj" fmla="val 14706"/>
            </a:avLst>
          </a:prstGeom>
          <a:solidFill>
            <a:srgbClr val="FFFFFF"/>
          </a:solidFill>
          <a:ln w="6350">
            <a:solidFill>
              <a:srgbClr val="DBE3EC"/>
            </a:solidFill>
            <a:prstDash val="solid"/>
          </a:ln>
        </p:spPr>
      </p:sp>
      <p:sp>
        <p:nvSpPr>
          <p:cNvPr id="9" name="Text 7"/>
          <p:cNvSpPr/>
          <p:nvPr/>
        </p:nvSpPr>
        <p:spPr>
          <a:xfrm>
            <a:off x="658368" y="4663440"/>
            <a:ext cx="1565453"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per-case lane routing</a:t>
            </a:r>
            <a:endParaRPr lang="en-US" sz="900" dirty="0"/>
          </a:p>
        </p:txBody>
      </p:sp>
      <p:sp>
        <p:nvSpPr>
          <p:cNvPr id="10" name="Shape 8"/>
          <p:cNvSpPr/>
          <p:nvPr/>
        </p:nvSpPr>
        <p:spPr>
          <a:xfrm>
            <a:off x="2333549" y="4663440"/>
            <a:ext cx="2092147" cy="310896"/>
          </a:xfrm>
          <a:prstGeom prst="roundRect">
            <a:avLst>
              <a:gd name="adj" fmla="val 14706"/>
            </a:avLst>
          </a:prstGeom>
          <a:solidFill>
            <a:srgbClr val="FFFFFF"/>
          </a:solidFill>
          <a:ln w="6350">
            <a:solidFill>
              <a:srgbClr val="DBE3EC"/>
            </a:solidFill>
            <a:prstDash val="solid"/>
          </a:ln>
        </p:spPr>
      </p:sp>
      <p:sp>
        <p:nvSpPr>
          <p:cNvPr id="11" name="Text 9"/>
          <p:cNvSpPr/>
          <p:nvPr/>
        </p:nvSpPr>
        <p:spPr>
          <a:xfrm>
            <a:off x="2333549" y="4663440"/>
            <a:ext cx="2092147"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dependency-closed suite split</a:t>
            </a:r>
            <a:endParaRPr lang="en-US" sz="900" dirty="0"/>
          </a:p>
        </p:txBody>
      </p:sp>
      <p:sp>
        <p:nvSpPr>
          <p:cNvPr id="12" name="Shape 10"/>
          <p:cNvSpPr/>
          <p:nvPr/>
        </p:nvSpPr>
        <p:spPr>
          <a:xfrm>
            <a:off x="4535424" y="4663440"/>
            <a:ext cx="1302106" cy="310896"/>
          </a:xfrm>
          <a:prstGeom prst="roundRect">
            <a:avLst>
              <a:gd name="adj" fmla="val 14706"/>
            </a:avLst>
          </a:prstGeom>
          <a:solidFill>
            <a:srgbClr val="FFFFFF"/>
          </a:solidFill>
          <a:ln w="6350">
            <a:solidFill>
              <a:srgbClr val="DBE3EC"/>
            </a:solidFill>
            <a:prstDash val="solid"/>
          </a:ln>
        </p:spPr>
      </p:sp>
      <p:sp>
        <p:nvSpPr>
          <p:cNvPr id="13" name="Text 11"/>
          <p:cNvSpPr/>
          <p:nvPr/>
        </p:nvSpPr>
        <p:spPr>
          <a:xfrm>
            <a:off x="4535424" y="4663440"/>
            <a:ext cx="1302106"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ECL citation gate</a:t>
            </a:r>
            <a:endParaRPr lang="en-US" sz="900" dirty="0"/>
          </a:p>
        </p:txBody>
      </p:sp>
      <p:sp>
        <p:nvSpPr>
          <p:cNvPr id="14" name="Shape 12"/>
          <p:cNvSpPr/>
          <p:nvPr/>
        </p:nvSpPr>
        <p:spPr>
          <a:xfrm>
            <a:off x="5947258" y="4663440"/>
            <a:ext cx="1697126" cy="310896"/>
          </a:xfrm>
          <a:prstGeom prst="roundRect">
            <a:avLst>
              <a:gd name="adj" fmla="val 14706"/>
            </a:avLst>
          </a:prstGeom>
          <a:solidFill>
            <a:srgbClr val="FFFFFF"/>
          </a:solidFill>
          <a:ln w="6350">
            <a:solidFill>
              <a:srgbClr val="DBE3EC"/>
            </a:solidFill>
            <a:prstDash val="solid"/>
          </a:ln>
        </p:spPr>
      </p:sp>
      <p:sp>
        <p:nvSpPr>
          <p:cNvPr id="15" name="Text 13"/>
          <p:cNvSpPr/>
          <p:nvPr/>
        </p:nvSpPr>
        <p:spPr>
          <a:xfrm>
            <a:off x="5947258" y="4663440"/>
            <a:ext cx="1697126"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value-ordered promotion</a:t>
            </a:r>
            <a:endParaRPr lang="en-US" sz="900" dirty="0"/>
          </a:p>
        </p:txBody>
      </p:sp>
      <p:sp>
        <p:nvSpPr>
          <p:cNvPr id="16" name="Shape 14"/>
          <p:cNvSpPr/>
          <p:nvPr/>
        </p:nvSpPr>
        <p:spPr>
          <a:xfrm>
            <a:off x="7754112" y="4663440"/>
            <a:ext cx="1104595" cy="310896"/>
          </a:xfrm>
          <a:prstGeom prst="roundRect">
            <a:avLst>
              <a:gd name="adj" fmla="val 14706"/>
            </a:avLst>
          </a:prstGeom>
          <a:solidFill>
            <a:srgbClr val="FFFFFF"/>
          </a:solidFill>
          <a:ln w="6350">
            <a:solidFill>
              <a:srgbClr val="DBE3EC"/>
            </a:solidFill>
            <a:prstDash val="solid"/>
          </a:ln>
        </p:spPr>
      </p:sp>
      <p:sp>
        <p:nvSpPr>
          <p:cNvPr id="17" name="Text 15"/>
          <p:cNvSpPr/>
          <p:nvPr/>
        </p:nvSpPr>
        <p:spPr>
          <a:xfrm>
            <a:off x="7754112" y="4663440"/>
            <a:ext cx="1104595"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release ledger</a:t>
            </a:r>
            <a:endParaRPr lang="en-US" sz="900" dirty="0"/>
          </a:p>
        </p:txBody>
      </p:sp>
      <p:sp>
        <p:nvSpPr>
          <p:cNvPr id="18" name="Shape 16"/>
          <p:cNvSpPr/>
          <p:nvPr/>
        </p:nvSpPr>
        <p:spPr>
          <a:xfrm>
            <a:off x="8968435" y="4663440"/>
            <a:ext cx="841248" cy="310896"/>
          </a:xfrm>
          <a:prstGeom prst="roundRect">
            <a:avLst>
              <a:gd name="adj" fmla="val 14706"/>
            </a:avLst>
          </a:prstGeom>
          <a:solidFill>
            <a:srgbClr val="FFFFFF"/>
          </a:solidFill>
          <a:ln w="6350">
            <a:solidFill>
              <a:srgbClr val="DBE3EC"/>
            </a:solidFill>
            <a:prstDash val="solid"/>
          </a:ln>
        </p:spPr>
      </p:sp>
      <p:sp>
        <p:nvSpPr>
          <p:cNvPr id="19" name="Text 17"/>
          <p:cNvSpPr/>
          <p:nvPr/>
        </p:nvSpPr>
        <p:spPr>
          <a:xfrm>
            <a:off x="8968435" y="4663440"/>
            <a:ext cx="841248"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vs. DESIGN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7835755"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9 / 14</a:t>
            </a:r>
            <a:endParaRPr lang="en-US" sz="900" dirty="0"/>
          </a:p>
        </p:txBody>
      </p:sp>
      <p:sp>
        <p:nvSpPr>
          <p:cNvPr id="4" name="Shape 2"/>
          <p:cNvSpPr/>
          <p:nvPr/>
        </p:nvSpPr>
        <p:spPr>
          <a:xfrm>
            <a:off x="658368" y="566928"/>
            <a:ext cx="237744" cy="25603"/>
          </a:xfrm>
          <a:prstGeom prst="rect">
            <a:avLst/>
          </a:prstGeom>
          <a:solidFill>
            <a:srgbClr val="0F9D8F"/>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0A6E64"/>
                </a:solidFill>
                <a:latin typeface="Consolas" pitchFamily="34" charset="0"/>
                <a:ea typeface="Consolas" pitchFamily="34" charset="-122"/>
                <a:cs typeface="Consolas" pitchFamily="34" charset="-120"/>
              </a:rPr>
              <a:t>REGRESSION</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800" b="1" dirty="0">
                <a:solidFill>
                  <a:srgbClr val="16202E"/>
                </a:solidFill>
                <a:latin typeface="Segoe UI" pitchFamily="34" charset="0"/>
                <a:ea typeface="Segoe UI" pitchFamily="34" charset="-122"/>
                <a:cs typeface="Segoe UI" pitchFamily="34" charset="-120"/>
              </a:rPr>
              <a:t>A suite stopped being the unit of execution.</a:t>
            </a:r>
            <a:endParaRPr lang="en-US" sz="2800" dirty="0"/>
          </a:p>
        </p:txBody>
      </p:sp>
      <p:sp>
        <p:nvSpPr>
          <p:cNvPr id="7" name="Text 5"/>
          <p:cNvSpPr/>
          <p:nvPr/>
        </p:nvSpPr>
        <p:spPr>
          <a:xfrm>
            <a:off x="658368" y="1737360"/>
            <a:ext cx="10241280" cy="685800"/>
          </a:xfrm>
          <a:prstGeom prst="rect">
            <a:avLst/>
          </a:prstGeom>
          <a:noFill/>
          <a:ln/>
        </p:spPr>
        <p:txBody>
          <a:bodyPr wrap="square" rtlCol="0" anchor="t"/>
          <a:lstStyle/>
          <a:p>
            <a:pPr indent="0" marL="0">
              <a:lnSpc>
                <a:spcPct val="125000"/>
              </a:lnSpc>
              <a:buNone/>
            </a:pPr>
            <a:r>
              <a:rPr lang="en-US" sz="1300" dirty="0">
                <a:solidFill>
                  <a:srgbClr val="4D5C70"/>
                </a:solidFill>
                <a:latin typeface="Segoe UI" pitchFamily="34" charset="0"/>
                <a:ea typeface="Segoe UI" pitchFamily="34" charset="-122"/>
                <a:cs typeface="Segoe UI" pitchFamily="34" charset="-120"/>
              </a:rPr>
              <a:t>Cases that a runner can execute deterministically were riding browser agents because a handful of their siblings are prose. The prize is not wall-clock — it is verdict quality: a case on a browser lane comes back BLOCKED for reasons about how it ran rather than about the product.</a:t>
            </a:r>
            <a:endParaRPr lang="en-US" sz="1300" dirty="0"/>
          </a:p>
        </p:txBody>
      </p:sp>
      <p:sp>
        <p:nvSpPr>
          <p:cNvPr id="8" name="Shape 6"/>
          <p:cNvSpPr/>
          <p:nvPr/>
        </p:nvSpPr>
        <p:spPr>
          <a:xfrm>
            <a:off x="658368" y="2953512"/>
            <a:ext cx="1554480" cy="676656"/>
          </a:xfrm>
          <a:prstGeom prst="roundRect">
            <a:avLst>
              <a:gd name="adj" fmla="val 6757"/>
            </a:avLst>
          </a:prstGeom>
          <a:solidFill>
            <a:srgbClr val="FFFFFF"/>
          </a:solidFill>
          <a:ln w="9525">
            <a:solidFill>
              <a:srgbClr val="DBE3EC"/>
            </a:solidFill>
            <a:prstDash val="solid"/>
          </a:ln>
        </p:spPr>
      </p:sp>
      <p:sp>
        <p:nvSpPr>
          <p:cNvPr id="9" name="Text 7"/>
          <p:cNvSpPr/>
          <p:nvPr/>
        </p:nvSpPr>
        <p:spPr>
          <a:xfrm>
            <a:off x="658368" y="3035808"/>
            <a:ext cx="1554480" cy="237744"/>
          </a:xfrm>
          <a:prstGeom prst="rect">
            <a:avLst/>
          </a:prstGeom>
          <a:noFill/>
          <a:ln/>
        </p:spPr>
        <p:txBody>
          <a:bodyPr wrap="square" rtlCol="0" anchor="ctr"/>
          <a:lstStyle/>
          <a:p>
            <a:pPr algn="ctr" indent="0" marL="0">
              <a:buNone/>
            </a:pPr>
            <a:r>
              <a:rPr lang="en-US" sz="1050" b="1" dirty="0">
                <a:solidFill>
                  <a:srgbClr val="16202E"/>
                </a:solidFill>
                <a:latin typeface="Segoe UI" pitchFamily="34" charset="0"/>
                <a:ea typeface="Segoe UI" pitchFamily="34" charset="-122"/>
                <a:cs typeface="Segoe UI" pitchFamily="34" charset="-120"/>
              </a:rPr>
              <a:t>One suite CSV</a:t>
            </a:r>
            <a:endParaRPr lang="en-US" sz="1050" dirty="0"/>
          </a:p>
        </p:txBody>
      </p:sp>
      <p:sp>
        <p:nvSpPr>
          <p:cNvPr id="10" name="Text 8"/>
          <p:cNvSpPr/>
          <p:nvPr/>
        </p:nvSpPr>
        <p:spPr>
          <a:xfrm>
            <a:off x="658368" y="3246120"/>
            <a:ext cx="1554480"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mixed cases</a:t>
            </a:r>
            <a:endParaRPr lang="en-US" sz="800" dirty="0"/>
          </a:p>
        </p:txBody>
      </p:sp>
      <p:sp>
        <p:nvSpPr>
          <p:cNvPr id="11" name="Shape 9"/>
          <p:cNvSpPr/>
          <p:nvPr/>
        </p:nvSpPr>
        <p:spPr>
          <a:xfrm>
            <a:off x="2258568" y="3291840"/>
            <a:ext cx="411480" cy="0"/>
          </a:xfrm>
          <a:prstGeom prst="line">
            <a:avLst/>
          </a:prstGeom>
          <a:noFill/>
          <a:ln w="12700">
            <a:solidFill>
              <a:srgbClr val="7C8AA0"/>
            </a:solidFill>
            <a:prstDash val="solid"/>
            <a:tailEnd type="triangle"/>
          </a:ln>
        </p:spPr>
      </p:sp>
      <p:sp>
        <p:nvSpPr>
          <p:cNvPr id="12" name="Text 10"/>
          <p:cNvSpPr/>
          <p:nvPr/>
        </p:nvSpPr>
        <p:spPr>
          <a:xfrm>
            <a:off x="2212848" y="3054096"/>
            <a:ext cx="502920" cy="164592"/>
          </a:xfrm>
          <a:prstGeom prst="rect">
            <a:avLst/>
          </a:prstGeom>
          <a:noFill/>
          <a:ln/>
        </p:spPr>
        <p:txBody>
          <a:bodyPr wrap="square" rtlCol="0" anchor="ctr"/>
          <a:lstStyle/>
          <a:p>
            <a:pPr algn="ctr" indent="0" marL="0">
              <a:buNone/>
            </a:pPr>
            <a:r>
              <a:rPr lang="en-US" sz="750" dirty="0">
                <a:solidFill>
                  <a:srgbClr val="7C8AA0"/>
                </a:solidFill>
                <a:latin typeface="Consolas" pitchFamily="34" charset="0"/>
                <a:ea typeface="Consolas" pitchFamily="34" charset="-122"/>
                <a:cs typeface="Consolas" pitchFamily="34" charset="-120"/>
              </a:rPr>
              <a:t>parse</a:t>
            </a:r>
            <a:endParaRPr lang="en-US" sz="750" dirty="0"/>
          </a:p>
        </p:txBody>
      </p:sp>
      <p:sp>
        <p:nvSpPr>
          <p:cNvPr id="13" name="Shape 11"/>
          <p:cNvSpPr/>
          <p:nvPr/>
        </p:nvSpPr>
        <p:spPr>
          <a:xfrm>
            <a:off x="2715768" y="2953512"/>
            <a:ext cx="1783080" cy="676656"/>
          </a:xfrm>
          <a:prstGeom prst="roundRect">
            <a:avLst>
              <a:gd name="adj" fmla="val 6757"/>
            </a:avLst>
          </a:prstGeom>
          <a:solidFill>
            <a:srgbClr val="E8EAFB"/>
          </a:solidFill>
          <a:ln w="9525">
            <a:solidFill>
              <a:srgbClr val="5566E0"/>
            </a:solidFill>
            <a:prstDash val="solid"/>
          </a:ln>
        </p:spPr>
      </p:sp>
      <p:sp>
        <p:nvSpPr>
          <p:cNvPr id="14" name="Text 12"/>
          <p:cNvSpPr/>
          <p:nvPr/>
        </p:nvSpPr>
        <p:spPr>
          <a:xfrm>
            <a:off x="2715768" y="3035808"/>
            <a:ext cx="1783080" cy="237744"/>
          </a:xfrm>
          <a:prstGeom prst="rect">
            <a:avLst/>
          </a:prstGeom>
          <a:noFill/>
          <a:ln/>
        </p:spPr>
        <p:txBody>
          <a:bodyPr wrap="square" rtlCol="0" anchor="ctr"/>
          <a:lstStyle/>
          <a:p>
            <a:pPr algn="ctr" indent="0" marL="0">
              <a:buNone/>
            </a:pPr>
            <a:r>
              <a:rPr lang="en-US" sz="1050" b="1" dirty="0">
                <a:solidFill>
                  <a:srgbClr val="16202E"/>
                </a:solidFill>
                <a:latin typeface="Segoe UI" pitchFamily="34" charset="0"/>
                <a:ea typeface="Segoe UI" pitchFamily="34" charset="-122"/>
                <a:cs typeface="Segoe UI" pitchFamily="34" charset="-120"/>
              </a:rPr>
              <a:t>Classifier</a:t>
            </a:r>
            <a:endParaRPr lang="en-US" sz="1050" dirty="0"/>
          </a:p>
        </p:txBody>
      </p:sp>
      <p:sp>
        <p:nvSpPr>
          <p:cNvPr id="15" name="Text 13"/>
          <p:cNvSpPr/>
          <p:nvPr/>
        </p:nvSpPr>
        <p:spPr>
          <a:xfrm>
            <a:off x="2715768" y="3246120"/>
            <a:ext cx="1783080"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per case, fail-closed</a:t>
            </a:r>
            <a:endParaRPr lang="en-US" sz="800" dirty="0"/>
          </a:p>
        </p:txBody>
      </p:sp>
      <p:sp>
        <p:nvSpPr>
          <p:cNvPr id="16" name="Shape 14"/>
          <p:cNvSpPr/>
          <p:nvPr/>
        </p:nvSpPr>
        <p:spPr>
          <a:xfrm>
            <a:off x="5230368" y="2487168"/>
            <a:ext cx="2103120" cy="548640"/>
          </a:xfrm>
          <a:prstGeom prst="roundRect">
            <a:avLst>
              <a:gd name="adj" fmla="val 8333"/>
            </a:avLst>
          </a:prstGeom>
          <a:solidFill>
            <a:srgbClr val="FFFFFF"/>
          </a:solidFill>
          <a:ln w="9525">
            <a:solidFill>
              <a:srgbClr val="DBE3EC"/>
            </a:solidFill>
            <a:prstDash val="solid"/>
          </a:ln>
        </p:spPr>
      </p:sp>
      <p:sp>
        <p:nvSpPr>
          <p:cNvPr id="17" name="Text 15"/>
          <p:cNvSpPr/>
          <p:nvPr/>
        </p:nvSpPr>
        <p:spPr>
          <a:xfrm>
            <a:off x="5230368" y="2569464"/>
            <a:ext cx="2103120" cy="237744"/>
          </a:xfrm>
          <a:prstGeom prst="rect">
            <a:avLst/>
          </a:prstGeom>
          <a:noFill/>
          <a:ln/>
        </p:spPr>
        <p:txBody>
          <a:bodyPr wrap="square" rtlCol="0" anchor="ctr"/>
          <a:lstStyle/>
          <a:p>
            <a:pPr algn="ctr" indent="0" marL="0">
              <a:buNone/>
            </a:pPr>
            <a:r>
              <a:rPr lang="en-US" sz="950" b="1" dirty="0">
                <a:solidFill>
                  <a:srgbClr val="16202E"/>
                </a:solidFill>
                <a:latin typeface="Segoe UI" pitchFamily="34" charset="0"/>
                <a:ea typeface="Segoe UI" pitchFamily="34" charset="-122"/>
                <a:cs typeface="Segoe UI" pitchFamily="34" charset="-120"/>
              </a:rPr>
              <a:t>machine lane</a:t>
            </a:r>
            <a:endParaRPr lang="en-US" sz="950" dirty="0"/>
          </a:p>
        </p:txBody>
      </p:sp>
      <p:sp>
        <p:nvSpPr>
          <p:cNvPr id="18" name="Text 16"/>
          <p:cNvSpPr/>
          <p:nvPr/>
        </p:nvSpPr>
        <p:spPr>
          <a:xfrm>
            <a:off x="5230368" y="2779776"/>
            <a:ext cx="2103120"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runner executes</a:t>
            </a:r>
            <a:endParaRPr lang="en-US" sz="800" dirty="0"/>
          </a:p>
        </p:txBody>
      </p:sp>
      <p:sp>
        <p:nvSpPr>
          <p:cNvPr id="19" name="Shape 17"/>
          <p:cNvSpPr/>
          <p:nvPr/>
        </p:nvSpPr>
        <p:spPr>
          <a:xfrm>
            <a:off x="4809744" y="2761488"/>
            <a:ext cx="384048" cy="0"/>
          </a:xfrm>
          <a:prstGeom prst="line">
            <a:avLst/>
          </a:prstGeom>
          <a:noFill/>
          <a:ln w="12700">
            <a:solidFill>
              <a:srgbClr val="7C8AA0"/>
            </a:solidFill>
            <a:prstDash val="solid"/>
            <a:tailEnd type="triangle"/>
          </a:ln>
        </p:spPr>
      </p:sp>
      <p:sp>
        <p:nvSpPr>
          <p:cNvPr id="20" name="Shape 18"/>
          <p:cNvSpPr/>
          <p:nvPr/>
        </p:nvSpPr>
        <p:spPr>
          <a:xfrm>
            <a:off x="5230368" y="3127248"/>
            <a:ext cx="2103120" cy="548640"/>
          </a:xfrm>
          <a:prstGeom prst="roundRect">
            <a:avLst>
              <a:gd name="adj" fmla="val 8333"/>
            </a:avLst>
          </a:prstGeom>
          <a:solidFill>
            <a:srgbClr val="FFFFFF"/>
          </a:solidFill>
          <a:ln w="9525">
            <a:solidFill>
              <a:srgbClr val="DBE3EC"/>
            </a:solidFill>
            <a:prstDash val="solid"/>
          </a:ln>
        </p:spPr>
      </p:sp>
      <p:sp>
        <p:nvSpPr>
          <p:cNvPr id="21" name="Text 19"/>
          <p:cNvSpPr/>
          <p:nvPr/>
        </p:nvSpPr>
        <p:spPr>
          <a:xfrm>
            <a:off x="5230368" y="3209544"/>
            <a:ext cx="2103120" cy="237744"/>
          </a:xfrm>
          <a:prstGeom prst="rect">
            <a:avLst/>
          </a:prstGeom>
          <a:noFill/>
          <a:ln/>
        </p:spPr>
        <p:txBody>
          <a:bodyPr wrap="square" rtlCol="0" anchor="ctr"/>
          <a:lstStyle/>
          <a:p>
            <a:pPr algn="ctr" indent="0" marL="0">
              <a:buNone/>
            </a:pPr>
            <a:r>
              <a:rPr lang="en-US" sz="950" b="1" dirty="0">
                <a:solidFill>
                  <a:srgbClr val="16202E"/>
                </a:solidFill>
                <a:latin typeface="Segoe UI" pitchFamily="34" charset="0"/>
                <a:ea typeface="Segoe UI" pitchFamily="34" charset="-122"/>
                <a:cs typeface="Segoe UI" pitchFamily="34" charset="-120"/>
              </a:rPr>
              <a:t>browser lane</a:t>
            </a:r>
            <a:endParaRPr lang="en-US" sz="950" dirty="0"/>
          </a:p>
        </p:txBody>
      </p:sp>
      <p:sp>
        <p:nvSpPr>
          <p:cNvPr id="22" name="Text 20"/>
          <p:cNvSpPr/>
          <p:nvPr/>
        </p:nvSpPr>
        <p:spPr>
          <a:xfrm>
            <a:off x="5230368" y="3419856"/>
            <a:ext cx="2103120"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agent executes</a:t>
            </a:r>
            <a:endParaRPr lang="en-US" sz="800" dirty="0"/>
          </a:p>
        </p:txBody>
      </p:sp>
      <p:sp>
        <p:nvSpPr>
          <p:cNvPr id="23" name="Shape 21"/>
          <p:cNvSpPr/>
          <p:nvPr/>
        </p:nvSpPr>
        <p:spPr>
          <a:xfrm>
            <a:off x="4809744" y="3401568"/>
            <a:ext cx="384048" cy="0"/>
          </a:xfrm>
          <a:prstGeom prst="line">
            <a:avLst/>
          </a:prstGeom>
          <a:noFill/>
          <a:ln w="12700">
            <a:solidFill>
              <a:srgbClr val="7C8AA0"/>
            </a:solidFill>
            <a:prstDash val="solid"/>
            <a:tailEnd type="triangle"/>
          </a:ln>
        </p:spPr>
      </p:sp>
      <p:sp>
        <p:nvSpPr>
          <p:cNvPr id="24" name="Shape 22"/>
          <p:cNvSpPr/>
          <p:nvPr/>
        </p:nvSpPr>
        <p:spPr>
          <a:xfrm>
            <a:off x="5230368" y="3767328"/>
            <a:ext cx="2103120" cy="548640"/>
          </a:xfrm>
          <a:prstGeom prst="roundRect">
            <a:avLst>
              <a:gd name="adj" fmla="val 8333"/>
            </a:avLst>
          </a:prstGeom>
          <a:solidFill>
            <a:srgbClr val="FFFFFF"/>
          </a:solidFill>
          <a:ln w="11430">
            <a:solidFill>
              <a:srgbClr val="DBE3EC"/>
            </a:solidFill>
            <a:prstDash val="dash"/>
          </a:ln>
        </p:spPr>
      </p:sp>
      <p:sp>
        <p:nvSpPr>
          <p:cNvPr id="25" name="Text 23"/>
          <p:cNvSpPr/>
          <p:nvPr/>
        </p:nvSpPr>
        <p:spPr>
          <a:xfrm>
            <a:off x="5230368" y="3849624"/>
            <a:ext cx="2103120" cy="237744"/>
          </a:xfrm>
          <a:prstGeom prst="rect">
            <a:avLst/>
          </a:prstGeom>
          <a:noFill/>
          <a:ln/>
        </p:spPr>
        <p:txBody>
          <a:bodyPr wrap="square" rtlCol="0" anchor="ctr"/>
          <a:lstStyle/>
          <a:p>
            <a:pPr algn="ctr" indent="0" marL="0">
              <a:buNone/>
            </a:pPr>
            <a:r>
              <a:rPr lang="en-US" sz="950" b="1" dirty="0">
                <a:solidFill>
                  <a:srgbClr val="16202E"/>
                </a:solidFill>
                <a:latin typeface="Segoe UI" pitchFamily="34" charset="0"/>
                <a:ea typeface="Segoe UI" pitchFamily="34" charset="-122"/>
                <a:cs typeface="Segoe UI" pitchFamily="34" charset="-120"/>
              </a:rPr>
              <a:t>manual lane</a:t>
            </a:r>
            <a:endParaRPr lang="en-US" sz="950" dirty="0"/>
          </a:p>
        </p:txBody>
      </p:sp>
      <p:sp>
        <p:nvSpPr>
          <p:cNvPr id="26" name="Text 24"/>
          <p:cNvSpPr/>
          <p:nvPr/>
        </p:nvSpPr>
        <p:spPr>
          <a:xfrm>
            <a:off x="5230368" y="4059936"/>
            <a:ext cx="2103120"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a person runs this</a:t>
            </a:r>
            <a:endParaRPr lang="en-US" sz="800" dirty="0"/>
          </a:p>
        </p:txBody>
      </p:sp>
      <p:sp>
        <p:nvSpPr>
          <p:cNvPr id="27" name="Shape 25"/>
          <p:cNvSpPr/>
          <p:nvPr/>
        </p:nvSpPr>
        <p:spPr>
          <a:xfrm>
            <a:off x="4809744" y="4041648"/>
            <a:ext cx="384048" cy="0"/>
          </a:xfrm>
          <a:prstGeom prst="line">
            <a:avLst/>
          </a:prstGeom>
          <a:noFill/>
          <a:ln w="12700">
            <a:solidFill>
              <a:srgbClr val="7C8AA0"/>
            </a:solidFill>
            <a:prstDash val="dash"/>
            <a:tailEnd type="triangle"/>
          </a:ln>
        </p:spPr>
      </p:sp>
      <p:sp>
        <p:nvSpPr>
          <p:cNvPr id="28" name="Shape 26"/>
          <p:cNvSpPr/>
          <p:nvPr/>
        </p:nvSpPr>
        <p:spPr>
          <a:xfrm>
            <a:off x="5230368" y="4407408"/>
            <a:ext cx="2103120" cy="548640"/>
          </a:xfrm>
          <a:prstGeom prst="roundRect">
            <a:avLst>
              <a:gd name="adj" fmla="val 8333"/>
            </a:avLst>
          </a:prstGeom>
          <a:solidFill>
            <a:srgbClr val="FFFFFF"/>
          </a:solidFill>
          <a:ln w="11430">
            <a:solidFill>
              <a:srgbClr val="DBE3EC"/>
            </a:solidFill>
            <a:prstDash val="dash"/>
          </a:ln>
        </p:spPr>
      </p:sp>
      <p:sp>
        <p:nvSpPr>
          <p:cNvPr id="29" name="Text 27"/>
          <p:cNvSpPr/>
          <p:nvPr/>
        </p:nvSpPr>
        <p:spPr>
          <a:xfrm>
            <a:off x="5230368" y="4489704"/>
            <a:ext cx="2103120" cy="237744"/>
          </a:xfrm>
          <a:prstGeom prst="rect">
            <a:avLst/>
          </a:prstGeom>
          <a:noFill/>
          <a:ln/>
        </p:spPr>
        <p:txBody>
          <a:bodyPr wrap="square" rtlCol="0" anchor="ctr"/>
          <a:lstStyle/>
          <a:p>
            <a:pPr algn="ctr" indent="0" marL="0">
              <a:buNone/>
            </a:pPr>
            <a:r>
              <a:rPr lang="en-US" sz="950" b="1" dirty="0">
                <a:solidFill>
                  <a:srgbClr val="16202E"/>
                </a:solidFill>
                <a:latin typeface="Segoe UI" pitchFamily="34" charset="0"/>
                <a:ea typeface="Segoe UI" pitchFamily="34" charset="-122"/>
                <a:cs typeface="Segoe UI" pitchFamily="34" charset="-120"/>
              </a:rPr>
              <a:t>deprecated lane</a:t>
            </a:r>
            <a:endParaRPr lang="en-US" sz="950" dirty="0"/>
          </a:p>
        </p:txBody>
      </p:sp>
      <p:sp>
        <p:nvSpPr>
          <p:cNvPr id="30" name="Text 28"/>
          <p:cNvSpPr/>
          <p:nvPr/>
        </p:nvSpPr>
        <p:spPr>
          <a:xfrm>
            <a:off x="5230368" y="4700016"/>
            <a:ext cx="2103120"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nobody does</a:t>
            </a:r>
            <a:endParaRPr lang="en-US" sz="800" dirty="0"/>
          </a:p>
        </p:txBody>
      </p:sp>
      <p:sp>
        <p:nvSpPr>
          <p:cNvPr id="31" name="Shape 29"/>
          <p:cNvSpPr/>
          <p:nvPr/>
        </p:nvSpPr>
        <p:spPr>
          <a:xfrm>
            <a:off x="4809744" y="4681728"/>
            <a:ext cx="384048" cy="0"/>
          </a:xfrm>
          <a:prstGeom prst="line">
            <a:avLst/>
          </a:prstGeom>
          <a:noFill/>
          <a:ln w="12700">
            <a:solidFill>
              <a:srgbClr val="7C8AA0"/>
            </a:solidFill>
            <a:prstDash val="dash"/>
            <a:tailEnd type="triangle"/>
          </a:ln>
        </p:spPr>
      </p:sp>
      <p:sp>
        <p:nvSpPr>
          <p:cNvPr id="32" name="Shape 30"/>
          <p:cNvSpPr/>
          <p:nvPr/>
        </p:nvSpPr>
        <p:spPr>
          <a:xfrm>
            <a:off x="4498848" y="3291840"/>
            <a:ext cx="310896" cy="0"/>
          </a:xfrm>
          <a:prstGeom prst="line">
            <a:avLst/>
          </a:prstGeom>
          <a:noFill/>
          <a:ln w="12700">
            <a:solidFill>
              <a:srgbClr val="7C8AA0"/>
            </a:solidFill>
            <a:prstDash val="solid"/>
          </a:ln>
        </p:spPr>
      </p:sp>
      <p:sp>
        <p:nvSpPr>
          <p:cNvPr id="33" name="Shape 31"/>
          <p:cNvSpPr/>
          <p:nvPr/>
        </p:nvSpPr>
        <p:spPr>
          <a:xfrm>
            <a:off x="4809744" y="2761488"/>
            <a:ext cx="0" cy="1920240"/>
          </a:xfrm>
          <a:prstGeom prst="line">
            <a:avLst/>
          </a:prstGeom>
          <a:noFill/>
          <a:ln w="12700">
            <a:solidFill>
              <a:srgbClr val="7C8AA0"/>
            </a:solidFill>
            <a:prstDash val="solid"/>
          </a:ln>
        </p:spPr>
      </p:sp>
      <p:sp>
        <p:nvSpPr>
          <p:cNvPr id="34" name="Shape 32"/>
          <p:cNvSpPr/>
          <p:nvPr/>
        </p:nvSpPr>
        <p:spPr>
          <a:xfrm>
            <a:off x="7333488" y="2761488"/>
            <a:ext cx="310896" cy="0"/>
          </a:xfrm>
          <a:prstGeom prst="line">
            <a:avLst/>
          </a:prstGeom>
          <a:noFill/>
          <a:ln w="12700">
            <a:solidFill>
              <a:srgbClr val="7C8AA0"/>
            </a:solidFill>
            <a:prstDash val="solid"/>
          </a:ln>
        </p:spPr>
      </p:sp>
      <p:sp>
        <p:nvSpPr>
          <p:cNvPr id="35" name="Shape 33"/>
          <p:cNvSpPr/>
          <p:nvPr/>
        </p:nvSpPr>
        <p:spPr>
          <a:xfrm>
            <a:off x="7333488" y="3401568"/>
            <a:ext cx="310896" cy="0"/>
          </a:xfrm>
          <a:prstGeom prst="line">
            <a:avLst/>
          </a:prstGeom>
          <a:noFill/>
          <a:ln w="12700">
            <a:solidFill>
              <a:srgbClr val="7C8AA0"/>
            </a:solidFill>
            <a:prstDash val="solid"/>
          </a:ln>
        </p:spPr>
      </p:sp>
      <p:sp>
        <p:nvSpPr>
          <p:cNvPr id="36" name="Shape 34"/>
          <p:cNvSpPr/>
          <p:nvPr/>
        </p:nvSpPr>
        <p:spPr>
          <a:xfrm>
            <a:off x="7333488" y="4041648"/>
            <a:ext cx="310896" cy="0"/>
          </a:xfrm>
          <a:prstGeom prst="line">
            <a:avLst/>
          </a:prstGeom>
          <a:noFill/>
          <a:ln w="12700">
            <a:solidFill>
              <a:srgbClr val="7C8AA0"/>
            </a:solidFill>
            <a:prstDash val="dash"/>
          </a:ln>
        </p:spPr>
      </p:sp>
      <p:sp>
        <p:nvSpPr>
          <p:cNvPr id="37" name="Shape 35"/>
          <p:cNvSpPr/>
          <p:nvPr/>
        </p:nvSpPr>
        <p:spPr>
          <a:xfrm>
            <a:off x="7333488" y="4681728"/>
            <a:ext cx="310896" cy="0"/>
          </a:xfrm>
          <a:prstGeom prst="line">
            <a:avLst/>
          </a:prstGeom>
          <a:noFill/>
          <a:ln w="12700">
            <a:solidFill>
              <a:srgbClr val="7C8AA0"/>
            </a:solidFill>
            <a:prstDash val="dash"/>
          </a:ln>
        </p:spPr>
      </p:sp>
      <p:sp>
        <p:nvSpPr>
          <p:cNvPr id="38" name="Shape 36"/>
          <p:cNvSpPr/>
          <p:nvPr/>
        </p:nvSpPr>
        <p:spPr>
          <a:xfrm>
            <a:off x="7644384" y="2761488"/>
            <a:ext cx="0" cy="1920240"/>
          </a:xfrm>
          <a:prstGeom prst="line">
            <a:avLst/>
          </a:prstGeom>
          <a:noFill/>
          <a:ln w="12700">
            <a:solidFill>
              <a:srgbClr val="7C8AA0"/>
            </a:solidFill>
            <a:prstDash val="solid"/>
          </a:ln>
        </p:spPr>
      </p:sp>
      <p:sp>
        <p:nvSpPr>
          <p:cNvPr id="39" name="Shape 37"/>
          <p:cNvSpPr/>
          <p:nvPr/>
        </p:nvSpPr>
        <p:spPr>
          <a:xfrm>
            <a:off x="7644384" y="3291840"/>
            <a:ext cx="612648" cy="0"/>
          </a:xfrm>
          <a:prstGeom prst="line">
            <a:avLst/>
          </a:prstGeom>
          <a:noFill/>
          <a:ln w="12700">
            <a:solidFill>
              <a:srgbClr val="7C8AA0"/>
            </a:solidFill>
            <a:prstDash val="solid"/>
            <a:tailEnd type="triangle"/>
          </a:ln>
        </p:spPr>
      </p:sp>
      <p:sp>
        <p:nvSpPr>
          <p:cNvPr id="40" name="Text 38"/>
          <p:cNvSpPr/>
          <p:nvPr/>
        </p:nvSpPr>
        <p:spPr>
          <a:xfrm>
            <a:off x="7699248" y="2286000"/>
            <a:ext cx="1371600" cy="164592"/>
          </a:xfrm>
          <a:prstGeom prst="rect">
            <a:avLst/>
          </a:prstGeom>
          <a:noFill/>
          <a:ln/>
        </p:spPr>
        <p:txBody>
          <a:bodyPr wrap="square" rtlCol="0" anchor="ctr"/>
          <a:lstStyle/>
          <a:p>
            <a:pPr indent="0" marL="0">
              <a:buNone/>
            </a:pPr>
            <a:r>
              <a:rPr lang="en-US" sz="750" dirty="0">
                <a:solidFill>
                  <a:srgbClr val="7C8AA0"/>
                </a:solidFill>
                <a:latin typeface="Consolas" pitchFamily="34" charset="0"/>
                <a:ea typeface="Consolas" pitchFamily="34" charset="-122"/>
                <a:cs typeface="Consolas" pitchFamily="34" charset="-120"/>
              </a:rPr>
              <a:t>writes a fragment</a:t>
            </a:r>
            <a:endParaRPr lang="en-US" sz="750" dirty="0"/>
          </a:p>
        </p:txBody>
      </p:sp>
      <p:sp>
        <p:nvSpPr>
          <p:cNvPr id="41" name="Text 39"/>
          <p:cNvSpPr/>
          <p:nvPr/>
        </p:nvSpPr>
        <p:spPr>
          <a:xfrm>
            <a:off x="7699248" y="4590288"/>
            <a:ext cx="1554480" cy="164592"/>
          </a:xfrm>
          <a:prstGeom prst="rect">
            <a:avLst/>
          </a:prstGeom>
          <a:noFill/>
          <a:ln/>
        </p:spPr>
        <p:txBody>
          <a:bodyPr wrap="square" rtlCol="0" anchor="ctr"/>
          <a:lstStyle/>
          <a:p>
            <a:pPr indent="0" marL="0">
              <a:buNone/>
            </a:pPr>
            <a:r>
              <a:rPr lang="en-US" sz="750" dirty="0">
                <a:solidFill>
                  <a:srgbClr val="7C8AA0"/>
                </a:solidFill>
                <a:latin typeface="Consolas" pitchFamily="34" charset="0"/>
                <a:ea typeface="Consolas" pitchFamily="34" charset="-122"/>
                <a:cs typeface="Consolas" pitchFamily="34" charset="-120"/>
              </a:rPr>
              <a:t>never dispatched —</a:t>
            </a:r>
            <a:endParaRPr lang="en-US" sz="750" dirty="0"/>
          </a:p>
        </p:txBody>
      </p:sp>
      <p:sp>
        <p:nvSpPr>
          <p:cNvPr id="42" name="Text 40"/>
          <p:cNvSpPr/>
          <p:nvPr/>
        </p:nvSpPr>
        <p:spPr>
          <a:xfrm>
            <a:off x="7699248" y="4754880"/>
            <a:ext cx="1737360" cy="164592"/>
          </a:xfrm>
          <a:prstGeom prst="rect">
            <a:avLst/>
          </a:prstGeom>
          <a:noFill/>
          <a:ln/>
        </p:spPr>
        <p:txBody>
          <a:bodyPr wrap="square" rtlCol="0" anchor="ctr"/>
          <a:lstStyle/>
          <a:p>
            <a:pPr indent="0" marL="0">
              <a:buNone/>
            </a:pPr>
            <a:r>
              <a:rPr lang="en-US" sz="750" dirty="0">
                <a:solidFill>
                  <a:srgbClr val="7C8AA0"/>
                </a:solidFill>
                <a:latin typeface="Consolas" pitchFamily="34" charset="0"/>
                <a:ea typeface="Consolas" pitchFamily="34" charset="-122"/>
                <a:cs typeface="Consolas" pitchFamily="34" charset="-120"/>
              </a:rPr>
              <a:t>materialised as SKIPPED</a:t>
            </a:r>
            <a:endParaRPr lang="en-US" sz="750" dirty="0"/>
          </a:p>
        </p:txBody>
      </p:sp>
      <p:sp>
        <p:nvSpPr>
          <p:cNvPr id="43" name="Shape 41"/>
          <p:cNvSpPr/>
          <p:nvPr/>
        </p:nvSpPr>
        <p:spPr>
          <a:xfrm>
            <a:off x="8293608" y="2953512"/>
            <a:ext cx="1691640" cy="676656"/>
          </a:xfrm>
          <a:prstGeom prst="roundRect">
            <a:avLst>
              <a:gd name="adj" fmla="val 6757"/>
            </a:avLst>
          </a:prstGeom>
          <a:solidFill>
            <a:srgbClr val="E8EAFB"/>
          </a:solidFill>
          <a:ln w="9525">
            <a:solidFill>
              <a:srgbClr val="5566E0"/>
            </a:solidFill>
            <a:prstDash val="solid"/>
          </a:ln>
        </p:spPr>
      </p:sp>
      <p:sp>
        <p:nvSpPr>
          <p:cNvPr id="44" name="Text 42"/>
          <p:cNvSpPr/>
          <p:nvPr/>
        </p:nvSpPr>
        <p:spPr>
          <a:xfrm>
            <a:off x="8293608" y="3035808"/>
            <a:ext cx="1691640" cy="237744"/>
          </a:xfrm>
          <a:prstGeom prst="rect">
            <a:avLst/>
          </a:prstGeom>
          <a:noFill/>
          <a:ln/>
        </p:spPr>
        <p:txBody>
          <a:bodyPr wrap="square" rtlCol="0" anchor="ctr"/>
          <a:lstStyle/>
          <a:p>
            <a:pPr algn="ctr" indent="0" marL="0">
              <a:buNone/>
            </a:pPr>
            <a:r>
              <a:rPr lang="en-US" sz="1050" b="1" dirty="0">
                <a:solidFill>
                  <a:srgbClr val="16202E"/>
                </a:solidFill>
                <a:latin typeface="Segoe UI" pitchFamily="34" charset="0"/>
                <a:ea typeface="Segoe UI" pitchFamily="34" charset="-122"/>
                <a:cs typeface="Segoe UI" pitchFamily="34" charset="-120"/>
              </a:rPr>
              <a:t>Merger</a:t>
            </a:r>
            <a:endParaRPr lang="en-US" sz="1050" dirty="0"/>
          </a:p>
        </p:txBody>
      </p:sp>
      <p:sp>
        <p:nvSpPr>
          <p:cNvPr id="45" name="Text 43"/>
          <p:cNvSpPr/>
          <p:nvPr/>
        </p:nvSpPr>
        <p:spPr>
          <a:xfrm>
            <a:off x="8293608" y="3246120"/>
            <a:ext cx="1691640"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deterministic</a:t>
            </a:r>
            <a:endParaRPr lang="en-US" sz="800" dirty="0"/>
          </a:p>
        </p:txBody>
      </p:sp>
      <p:sp>
        <p:nvSpPr>
          <p:cNvPr id="46" name="Shape 44"/>
          <p:cNvSpPr/>
          <p:nvPr/>
        </p:nvSpPr>
        <p:spPr>
          <a:xfrm>
            <a:off x="10030968" y="3291840"/>
            <a:ext cx="274320" cy="0"/>
          </a:xfrm>
          <a:prstGeom prst="line">
            <a:avLst/>
          </a:prstGeom>
          <a:noFill/>
          <a:ln w="12700">
            <a:solidFill>
              <a:srgbClr val="7C8AA0"/>
            </a:solidFill>
            <a:prstDash val="solid"/>
            <a:tailEnd type="triangle"/>
          </a:ln>
        </p:spPr>
      </p:sp>
      <p:sp>
        <p:nvSpPr>
          <p:cNvPr id="47" name="Shape 45"/>
          <p:cNvSpPr/>
          <p:nvPr/>
        </p:nvSpPr>
        <p:spPr>
          <a:xfrm>
            <a:off x="10305288" y="2953512"/>
            <a:ext cx="1463040" cy="676656"/>
          </a:xfrm>
          <a:prstGeom prst="roundRect">
            <a:avLst>
              <a:gd name="adj" fmla="val 6757"/>
            </a:avLst>
          </a:prstGeom>
          <a:solidFill>
            <a:srgbClr val="E2F4F1"/>
          </a:solidFill>
          <a:ln w="9525">
            <a:solidFill>
              <a:srgbClr val="0F9D8F"/>
            </a:solidFill>
            <a:prstDash val="solid"/>
          </a:ln>
        </p:spPr>
      </p:sp>
      <p:sp>
        <p:nvSpPr>
          <p:cNvPr id="48" name="Text 46"/>
          <p:cNvSpPr/>
          <p:nvPr/>
        </p:nvSpPr>
        <p:spPr>
          <a:xfrm>
            <a:off x="10305288" y="3035808"/>
            <a:ext cx="1463040" cy="237744"/>
          </a:xfrm>
          <a:prstGeom prst="rect">
            <a:avLst/>
          </a:prstGeom>
          <a:noFill/>
          <a:ln/>
        </p:spPr>
        <p:txBody>
          <a:bodyPr wrap="square" rtlCol="0" anchor="ctr"/>
          <a:lstStyle/>
          <a:p>
            <a:pPr algn="ctr" indent="0" marL="0">
              <a:buNone/>
            </a:pPr>
            <a:r>
              <a:rPr lang="en-US" sz="950" b="1" dirty="0">
                <a:solidFill>
                  <a:srgbClr val="16202E"/>
                </a:solidFill>
                <a:latin typeface="Segoe UI" pitchFamily="34" charset="0"/>
                <a:ea typeface="Segoe UI" pitchFamily="34" charset="-122"/>
                <a:cs typeface="Segoe UI" pitchFamily="34" charset="-120"/>
              </a:rPr>
              <a:t>One envelope</a:t>
            </a:r>
            <a:endParaRPr lang="en-US" sz="950" dirty="0"/>
          </a:p>
        </p:txBody>
      </p:sp>
      <p:sp>
        <p:nvSpPr>
          <p:cNvPr id="49" name="Text 47"/>
          <p:cNvSpPr/>
          <p:nvPr/>
        </p:nvSpPr>
        <p:spPr>
          <a:xfrm>
            <a:off x="10305288" y="3246120"/>
            <a:ext cx="1463040" cy="201168"/>
          </a:xfrm>
          <a:prstGeom prst="rect">
            <a:avLst/>
          </a:prstGeom>
          <a:noFill/>
          <a:ln/>
        </p:spPr>
        <p:txBody>
          <a:bodyPr wrap="square" rtlCol="0" anchor="ctr"/>
          <a:lstStyle/>
          <a:p>
            <a:pPr algn="ctr" indent="0" marL="0">
              <a:buNone/>
            </a:pPr>
            <a:r>
              <a:rPr lang="en-US" sz="800" dirty="0">
                <a:solidFill>
                  <a:srgbClr val="7C8AA0"/>
                </a:solidFill>
                <a:latin typeface="Consolas" pitchFamily="34" charset="0"/>
                <a:ea typeface="Consolas" pitchFamily="34" charset="-122"/>
                <a:cs typeface="Consolas" pitchFamily="34" charset="-120"/>
              </a:rPr>
              <a:t>counts from rows</a:t>
            </a:r>
            <a:endParaRPr lang="en-US" sz="800" dirty="0"/>
          </a:p>
        </p:txBody>
      </p:sp>
      <p:sp>
        <p:nvSpPr>
          <p:cNvPr id="50" name="Text 48"/>
          <p:cNvSpPr/>
          <p:nvPr/>
        </p:nvSpPr>
        <p:spPr>
          <a:xfrm>
            <a:off x="658368" y="3913632"/>
            <a:ext cx="2194560" cy="1005840"/>
          </a:xfrm>
          <a:prstGeom prst="rect">
            <a:avLst/>
          </a:prstGeom>
          <a:noFill/>
          <a:ln/>
        </p:spPr>
        <p:txBody>
          <a:bodyPr wrap="square" rtlCol="0" anchor="t"/>
          <a:lstStyle/>
          <a:p>
            <a:pPr indent="0" marL="0">
              <a:lnSpc>
                <a:spcPct val="122000"/>
              </a:lnSpc>
              <a:buNone/>
            </a:pPr>
            <a:r>
              <a:rPr lang="en-US" sz="850" dirty="0">
                <a:solidFill>
                  <a:srgbClr val="7C8AA0"/>
                </a:solidFill>
                <a:latin typeface="Consolas" pitchFamily="34" charset="0"/>
                <a:ea typeface="Consolas" pitchFamily="34" charset="-122"/>
                <a:cs typeface="Consolas" pitchFamily="34" charset="-120"/>
              </a:rPr>
              <a:t>Invariants:</a:t>
            </a:r>
            <a:endParaRPr lang="en-US" sz="850" dirty="0"/>
          </a:p>
          <a:p>
            <a:pPr indent="0" marL="0">
              <a:lnSpc>
                <a:spcPct val="122000"/>
              </a:lnSpc>
              <a:buNone/>
            </a:pPr>
            <a:r>
              <a:rPr lang="en-US" sz="850" dirty="0">
                <a:solidFill>
                  <a:srgbClr val="7C8AA0"/>
                </a:solidFill>
                <a:latin typeface="Consolas" pitchFamily="34" charset="0"/>
                <a:ea typeface="Consolas" pitchFamily="34" charset="-122"/>
                <a:cs typeface="Consolas" pitchFamily="34" charset="-120"/>
              </a:rPr>
              <a:t>no case lost</a:t>
            </a:r>
            <a:endParaRPr lang="en-US" sz="850" dirty="0"/>
          </a:p>
          <a:p>
            <a:pPr indent="0" marL="0">
              <a:lnSpc>
                <a:spcPct val="122000"/>
              </a:lnSpc>
              <a:buNone/>
            </a:pPr>
            <a:r>
              <a:rPr lang="en-US" sz="850" dirty="0">
                <a:solidFill>
                  <a:srgbClr val="7C8AA0"/>
                </a:solidFill>
                <a:latin typeface="Consolas" pitchFamily="34" charset="0"/>
                <a:ea typeface="Consolas" pitchFamily="34" charset="-122"/>
                <a:cs typeface="Consolas" pitchFamily="34" charset="-120"/>
              </a:rPr>
              <a:t>no case counted twice</a:t>
            </a:r>
            <a:endParaRPr lang="en-US" sz="850" dirty="0"/>
          </a:p>
          <a:p>
            <a:pPr indent="0" marL="0">
              <a:lnSpc>
                <a:spcPct val="122000"/>
              </a:lnSpc>
              <a:buNone/>
            </a:pPr>
            <a:r>
              <a:rPr lang="en-US" sz="850" dirty="0">
                <a:solidFill>
                  <a:srgbClr val="7C8AA0"/>
                </a:solidFill>
                <a:latin typeface="Consolas" pitchFamily="34" charset="0"/>
                <a:ea typeface="Consolas" pitchFamily="34" charset="-122"/>
                <a:cs typeface="Consolas" pitchFamily="34" charset="-120"/>
              </a:rPr>
              <a:t>every row carries its lane</a:t>
            </a:r>
            <a:endParaRPr lang="en-US" sz="850" dirty="0"/>
          </a:p>
          <a:p>
            <a:pPr indent="0" marL="0">
              <a:lnSpc>
                <a:spcPct val="122000"/>
              </a:lnSpc>
              <a:buNone/>
            </a:pPr>
            <a:r>
              <a:rPr lang="en-US" sz="850" dirty="0">
                <a:solidFill>
                  <a:srgbClr val="7C8AA0"/>
                </a:solidFill>
                <a:latin typeface="Consolas" pitchFamily="34" charset="0"/>
                <a:ea typeface="Consolas" pitchFamily="34" charset="-122"/>
                <a:cs typeface="Consolas" pitchFamily="34" charset="-120"/>
              </a:rPr>
              <a:t>idempotent re-merge</a:t>
            </a:r>
            <a:endParaRPr lang="en-US" sz="850" dirty="0"/>
          </a:p>
        </p:txBody>
      </p:sp>
      <p:sp>
        <p:nvSpPr>
          <p:cNvPr id="51" name="Text 49"/>
          <p:cNvSpPr/>
          <p:nvPr/>
        </p:nvSpPr>
        <p:spPr>
          <a:xfrm>
            <a:off x="658368" y="5138928"/>
            <a:ext cx="10872216" cy="365760"/>
          </a:xfrm>
          <a:prstGeom prst="rect">
            <a:avLst/>
          </a:prstGeom>
          <a:noFill/>
          <a:ln/>
        </p:spPr>
        <p:txBody>
          <a:bodyPr wrap="square" rtlCol="0" anchor="t"/>
          <a:lstStyle/>
          <a:p>
            <a:pPr indent="0" marL="0">
              <a:lnSpc>
                <a:spcPct val="120000"/>
              </a:lnSpc>
              <a:buNone/>
            </a:pPr>
            <a:r>
              <a:rPr lang="en-US" sz="900" dirty="0">
                <a:solidFill>
                  <a:srgbClr val="7C8AA0"/>
                </a:solidFill>
                <a:latin typeface="Consolas" pitchFamily="34" charset="0"/>
                <a:ea typeface="Consolas" pitchFamily="34" charset="-122"/>
                <a:cs typeface="Consolas" pitchFamily="34" charset="-120"/>
              </a:rPr>
              <a:t>The planned set comes from the classifier, not from the fragments — so a lane that dies before writing surfaces as BLOCKED, rather than producing a smaller, greener, faster-looking suite.</a:t>
            </a:r>
            <a:endParaRPr lang="en-US" sz="900" dirty="0"/>
          </a:p>
        </p:txBody>
      </p:sp>
      <p:sp>
        <p:nvSpPr>
          <p:cNvPr id="52" name="Shape 50"/>
          <p:cNvSpPr/>
          <p:nvPr/>
        </p:nvSpPr>
        <p:spPr>
          <a:xfrm>
            <a:off x="658368" y="5669280"/>
            <a:ext cx="3540557" cy="310896"/>
          </a:xfrm>
          <a:prstGeom prst="roundRect">
            <a:avLst>
              <a:gd name="adj" fmla="val 14706"/>
            </a:avLst>
          </a:prstGeom>
          <a:solidFill>
            <a:srgbClr val="FFFFFF"/>
          </a:solidFill>
          <a:ln w="6350">
            <a:solidFill>
              <a:srgbClr val="DBE3EC"/>
            </a:solidFill>
            <a:prstDash val="solid"/>
          </a:ln>
        </p:spPr>
      </p:sp>
      <p:sp>
        <p:nvSpPr>
          <p:cNvPr id="53" name="Text 51"/>
          <p:cNvSpPr/>
          <p:nvPr/>
        </p:nvSpPr>
        <p:spPr>
          <a:xfrm>
            <a:off x="658368" y="5669280"/>
            <a:ext cx="3540557"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115-case smoke suite → 4 dependency-closed siblings</a:t>
            </a:r>
            <a:endParaRPr lang="en-US" sz="900" dirty="0"/>
          </a:p>
        </p:txBody>
      </p:sp>
      <p:sp>
        <p:nvSpPr>
          <p:cNvPr id="54" name="Shape 52"/>
          <p:cNvSpPr/>
          <p:nvPr/>
        </p:nvSpPr>
        <p:spPr>
          <a:xfrm>
            <a:off x="4308653" y="5669280"/>
            <a:ext cx="1302106" cy="310896"/>
          </a:xfrm>
          <a:prstGeom prst="roundRect">
            <a:avLst>
              <a:gd name="adj" fmla="val 14706"/>
            </a:avLst>
          </a:prstGeom>
          <a:solidFill>
            <a:srgbClr val="FFFFFF"/>
          </a:solidFill>
          <a:ln w="6350">
            <a:solidFill>
              <a:srgbClr val="DBE3EC"/>
            </a:solidFill>
            <a:prstDash val="solid"/>
          </a:ln>
        </p:spPr>
      </p:sp>
      <p:sp>
        <p:nvSpPr>
          <p:cNvPr id="55" name="Text 53"/>
          <p:cNvSpPr/>
          <p:nvPr/>
        </p:nvSpPr>
        <p:spPr>
          <a:xfrm>
            <a:off x="4308653" y="5669280"/>
            <a:ext cx="1302106"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smoke 83 min → 39</a:t>
            </a:r>
            <a:endParaRPr lang="en-US" sz="900" dirty="0"/>
          </a:p>
        </p:txBody>
      </p:sp>
      <p:sp>
        <p:nvSpPr>
          <p:cNvPr id="56" name="Shape 54"/>
          <p:cNvSpPr/>
          <p:nvPr/>
        </p:nvSpPr>
        <p:spPr>
          <a:xfrm>
            <a:off x="5720486" y="5669280"/>
            <a:ext cx="3277210" cy="310896"/>
          </a:xfrm>
          <a:prstGeom prst="roundRect">
            <a:avLst>
              <a:gd name="adj" fmla="val 14706"/>
            </a:avLst>
          </a:prstGeom>
          <a:solidFill>
            <a:srgbClr val="FFFFFF"/>
          </a:solidFill>
          <a:ln w="6350">
            <a:solidFill>
              <a:srgbClr val="DBE3EC"/>
            </a:solidFill>
            <a:prstDash val="solid"/>
          </a:ln>
        </p:spPr>
      </p:sp>
      <p:sp>
        <p:nvSpPr>
          <p:cNvPr id="57" name="Text 55"/>
          <p:cNvSpPr/>
          <p:nvPr/>
        </p:nvSpPr>
        <p:spPr>
          <a:xfrm>
            <a:off x="5720486" y="5669280"/>
            <a:ext cx="3277210" cy="310896"/>
          </a:xfrm>
          <a:prstGeom prst="rect">
            <a:avLst/>
          </a:prstGeom>
          <a:noFill/>
          <a:ln/>
        </p:spPr>
        <p:txBody>
          <a:bodyPr wrap="square" rtlCol="0" anchor="ctr"/>
          <a:lstStyle/>
          <a:p>
            <a:pPr algn="ctr" indent="0" marL="0">
              <a:buNone/>
            </a:pPr>
            <a:r>
              <a:rPr lang="en-US" sz="900" dirty="0">
                <a:solidFill>
                  <a:srgbClr val="4D5C70"/>
                </a:solidFill>
                <a:latin typeface="Consolas" pitchFamily="34" charset="0"/>
                <a:ea typeface="Consolas" pitchFamily="34" charset="-122"/>
                <a:cs typeface="Consolas" pitchFamily="34" charset="-120"/>
              </a:rPr>
              <a:t>BLOCKED rate: 13.5% at ≤15 cases · 28.6% at 81+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8706394"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10 / 14</a:t>
            </a:r>
            <a:endParaRPr lang="en-US" sz="900" dirty="0"/>
          </a:p>
        </p:txBody>
      </p:sp>
      <p:sp>
        <p:nvSpPr>
          <p:cNvPr id="4" name="Shape 2"/>
          <p:cNvSpPr/>
          <p:nvPr/>
        </p:nvSpPr>
        <p:spPr>
          <a:xfrm>
            <a:off x="658368" y="566928"/>
            <a:ext cx="237744" cy="25603"/>
          </a:xfrm>
          <a:prstGeom prst="rect">
            <a:avLst/>
          </a:prstGeom>
          <a:solidFill>
            <a:srgbClr val="0F9D8F"/>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0A6E64"/>
                </a:solidFill>
                <a:latin typeface="Consolas" pitchFamily="34" charset="0"/>
                <a:ea typeface="Consolas" pitchFamily="34" charset="-122"/>
                <a:cs typeface="Consolas" pitchFamily="34" charset="-120"/>
              </a:rPr>
              <a:t>THE ORACLES</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800" b="1" dirty="0">
                <a:solidFill>
                  <a:srgbClr val="16202E"/>
                </a:solidFill>
                <a:latin typeface="Segoe UI" pitchFamily="34" charset="0"/>
                <a:ea typeface="Segoe UI" pitchFamily="34" charset="-122"/>
                <a:cs typeface="Segoe UI" pitchFamily="34" charset="-120"/>
              </a:rPr>
              <a:t>Truth and value are two gates, in that order.</a:t>
            </a:r>
            <a:endParaRPr lang="en-US" sz="2800" dirty="0"/>
          </a:p>
        </p:txBody>
      </p:sp>
      <p:sp>
        <p:nvSpPr>
          <p:cNvPr id="7" name="Text 5"/>
          <p:cNvSpPr/>
          <p:nvPr/>
        </p:nvSpPr>
        <p:spPr>
          <a:xfrm>
            <a:off x="658368" y="1783080"/>
            <a:ext cx="5161788" cy="219456"/>
          </a:xfrm>
          <a:prstGeom prst="rect">
            <a:avLst/>
          </a:prstGeom>
          <a:noFill/>
          <a:ln/>
        </p:spPr>
        <p:txBody>
          <a:bodyPr wrap="square" rtlCol="0" anchor="ctr"/>
          <a:lstStyle/>
          <a:p>
            <a:pPr indent="0" marL="0">
              <a:buNone/>
            </a:pPr>
            <a:r>
              <a:rPr lang="en-US" sz="800" b="1" spc="160" kern="0" dirty="0">
                <a:solidFill>
                  <a:srgbClr val="7C8AA0"/>
                </a:solidFill>
                <a:latin typeface="Consolas" pitchFamily="34" charset="0"/>
                <a:ea typeface="Consolas" pitchFamily="34" charset="-122"/>
                <a:cs typeface="Consolas" pitchFamily="34" charset="-120"/>
              </a:rPr>
              <a:t>THE EDGE-CASE LIBRARY HAD NO OWNER</a:t>
            </a:r>
            <a:endParaRPr lang="en-US" sz="800" dirty="0"/>
          </a:p>
        </p:txBody>
      </p:sp>
      <p:sp>
        <p:nvSpPr>
          <p:cNvPr id="8" name="Text 6"/>
          <p:cNvSpPr/>
          <p:nvPr/>
        </p:nvSpPr>
        <p:spPr>
          <a:xfrm>
            <a:off x="658368" y="2103120"/>
            <a:ext cx="5161788" cy="914400"/>
          </a:xfrm>
          <a:prstGeom prst="rect">
            <a:avLst/>
          </a:prstGeom>
          <a:noFill/>
          <a:ln/>
        </p:spPr>
        <p:txBody>
          <a:bodyPr wrap="square" rtlCol="0" anchor="t"/>
          <a:lstStyle/>
          <a:p>
            <a:pPr indent="0" marL="0">
              <a:lnSpc>
                <a:spcPct val="122000"/>
              </a:lnSpc>
              <a:buNone/>
            </a:pPr>
            <a:r>
              <a:rPr lang="en-US" sz="1100" dirty="0">
                <a:solidFill>
                  <a:srgbClr val="4D5C70"/>
                </a:solidFill>
                <a:latin typeface="Segoe UI" pitchFamily="34" charset="0"/>
                <a:ea typeface="Segoe UI" pitchFamily="34" charset="-122"/>
                <a:cs typeface="Segoe UI" pitchFamily="34" charset="-120"/>
              </a:rPr>
              <a:t>Test cases cite its sections, and nothing had ever checked those citations resolved — no declared writer, no gate of any kind. The first run found 20 dangling references cited by roughly 65 live cases across 7 suites, including one section that has never existed.</a:t>
            </a:r>
            <a:endParaRPr lang="en-US" sz="1100" dirty="0"/>
          </a:p>
        </p:txBody>
      </p:sp>
      <p:sp>
        <p:nvSpPr>
          <p:cNvPr id="9" name="Text 7"/>
          <p:cNvSpPr/>
          <p:nvPr/>
        </p:nvSpPr>
        <p:spPr>
          <a:xfrm>
            <a:off x="658368" y="3127248"/>
            <a:ext cx="5161788" cy="777240"/>
          </a:xfrm>
          <a:prstGeom prst="rect">
            <a:avLst/>
          </a:prstGeom>
          <a:noFill/>
          <a:ln/>
        </p:spPr>
        <p:txBody>
          <a:bodyPr wrap="square" rtlCol="0" anchor="t"/>
          <a:lstStyle/>
          <a:p>
            <a:pPr indent="0" marL="0">
              <a:lnSpc>
                <a:spcPct val="122000"/>
              </a:lnSpc>
              <a:buNone/>
            </a:pPr>
            <a:r>
              <a:rPr lang="en-US" sz="1100" dirty="0">
                <a:solidFill>
                  <a:srgbClr val="4D5C70"/>
                </a:solidFill>
                <a:latin typeface="Segoe UI" pitchFamily="34" charset="0"/>
                <a:ea typeface="Segoe UI" pitchFamily="34" charset="-122"/>
                <a:cs typeface="Segoe UI" pitchFamily="34" charset="-120"/>
              </a:rPr>
              <a:t>Most of those turned out to be the library MISSING content the authors expected rather than authors mis-citing — so the sections were written at the numbers already in use. The gate went from 20 findings to zero.</a:t>
            </a:r>
            <a:endParaRPr lang="en-US" sz="1100" dirty="0"/>
          </a:p>
        </p:txBody>
      </p:sp>
      <p:sp>
        <p:nvSpPr>
          <p:cNvPr id="10" name="Shape 8"/>
          <p:cNvSpPr/>
          <p:nvPr/>
        </p:nvSpPr>
        <p:spPr>
          <a:xfrm>
            <a:off x="658368" y="4041648"/>
            <a:ext cx="5161788" cy="1051560"/>
          </a:xfrm>
          <a:prstGeom prst="roundRect">
            <a:avLst>
              <a:gd name="adj" fmla="val 4348"/>
            </a:avLst>
          </a:prstGeom>
          <a:solidFill>
            <a:srgbClr val="E2F4F1"/>
          </a:solidFill>
          <a:ln w="9525">
            <a:solidFill>
              <a:srgbClr val="0F9D8F"/>
            </a:solidFill>
            <a:prstDash val="dash"/>
          </a:ln>
        </p:spPr>
      </p:sp>
      <p:sp>
        <p:nvSpPr>
          <p:cNvPr id="11" name="Text 9"/>
          <p:cNvSpPr/>
          <p:nvPr/>
        </p:nvSpPr>
        <p:spPr>
          <a:xfrm>
            <a:off x="877824" y="4151376"/>
            <a:ext cx="4722876" cy="832104"/>
          </a:xfrm>
          <a:prstGeom prst="rect">
            <a:avLst/>
          </a:prstGeom>
          <a:noFill/>
          <a:ln/>
        </p:spPr>
        <p:txBody>
          <a:bodyPr wrap="square" rtlCol="0" anchor="ctr"/>
          <a:lstStyle/>
          <a:p>
            <a:pPr indent="0" marL="0">
              <a:lnSpc>
                <a:spcPct val="120000"/>
              </a:lnSpc>
              <a:buNone/>
            </a:pPr>
            <a:r>
              <a:rPr lang="en-US" sz="1050" dirty="0">
                <a:solidFill>
                  <a:srgbClr val="0A6E64"/>
                </a:solidFill>
                <a:latin typeface="Segoe UI" pitchFamily="34" charset="0"/>
                <a:ea typeface="Segoe UI" pitchFamily="34" charset="-122"/>
                <a:cs typeface="Segoe UI" pitchFamily="34" charset="-120"/>
              </a:rPr>
              <a:t>The gate proves a reference EXISTS. It cannot prove it is the RIGHT one — nine cases cited “Subscription &amp; Recurring Billing” meaning “Loyalty &amp; Points” and no gate could object. That call stays with the review skill.</a:t>
            </a:r>
            <a:endParaRPr lang="en-US" sz="1050" dirty="0"/>
          </a:p>
        </p:txBody>
      </p:sp>
      <p:sp>
        <p:nvSpPr>
          <p:cNvPr id="12" name="Text 10"/>
          <p:cNvSpPr/>
          <p:nvPr/>
        </p:nvSpPr>
        <p:spPr>
          <a:xfrm>
            <a:off x="6368796" y="1783080"/>
            <a:ext cx="5161788" cy="219456"/>
          </a:xfrm>
          <a:prstGeom prst="rect">
            <a:avLst/>
          </a:prstGeom>
          <a:noFill/>
          <a:ln/>
        </p:spPr>
        <p:txBody>
          <a:bodyPr wrap="square" rtlCol="0" anchor="ctr"/>
          <a:lstStyle/>
          <a:p>
            <a:pPr indent="0" marL="0">
              <a:buNone/>
            </a:pPr>
            <a:r>
              <a:rPr lang="en-US" sz="800" b="1" spc="160" kern="0" dirty="0">
                <a:solidFill>
                  <a:srgbClr val="7C8AA0"/>
                </a:solidFill>
                <a:latin typeface="Consolas" pitchFamily="34" charset="0"/>
                <a:ea typeface="Consolas" pitchFamily="34" charset="-122"/>
                <a:cs typeface="Consolas" pitchFamily="34" charset="-120"/>
              </a:rPr>
              <a:t>AND A SECOND GATE ON WHAT GETS CARRIED</a:t>
            </a:r>
            <a:endParaRPr lang="en-US" sz="800" dirty="0"/>
          </a:p>
        </p:txBody>
      </p:sp>
      <p:sp>
        <p:nvSpPr>
          <p:cNvPr id="13" name="Text 11"/>
          <p:cNvSpPr/>
          <p:nvPr/>
        </p:nvSpPr>
        <p:spPr>
          <a:xfrm>
            <a:off x="6368796" y="2103120"/>
            <a:ext cx="5161788" cy="731520"/>
          </a:xfrm>
          <a:prstGeom prst="rect">
            <a:avLst/>
          </a:prstGeom>
          <a:noFill/>
          <a:ln/>
        </p:spPr>
        <p:txBody>
          <a:bodyPr wrap="square" rtlCol="0" anchor="t"/>
          <a:lstStyle/>
          <a:p>
            <a:pPr indent="0" marL="0">
              <a:lnSpc>
                <a:spcPct val="122000"/>
              </a:lnSpc>
              <a:buNone/>
            </a:pPr>
            <a:r>
              <a:rPr lang="en-US" sz="1100" dirty="0">
                <a:solidFill>
                  <a:srgbClr val="4D5C70"/>
                </a:solidFill>
                <a:latin typeface="Segoe UI" pitchFamily="34" charset="0"/>
                <a:ea typeface="Segoe UI" pitchFamily="34" charset="-122"/>
                <a:cs typeface="Segoe UI" pitchFamily="34" charset="-120"/>
              </a:rPr>
              <a:t>The evidence bar only ever asked IS THIS TRUE. Both oracles then grew under it alone, and the value spread out unevenly — of 211 invariants, 70 are low value and 22 are cited by no test case at all.</a:t>
            </a:r>
            <a:endParaRPr lang="en-US" sz="1100" dirty="0"/>
          </a:p>
        </p:txBody>
      </p:sp>
      <p:sp>
        <p:nvSpPr>
          <p:cNvPr id="14" name="Shape 12"/>
          <p:cNvSpPr/>
          <p:nvPr/>
        </p:nvSpPr>
        <p:spPr>
          <a:xfrm>
            <a:off x="6368796" y="2944368"/>
            <a:ext cx="5161788" cy="713232"/>
          </a:xfrm>
          <a:prstGeom prst="roundRect">
            <a:avLst>
              <a:gd name="adj" fmla="val 6410"/>
            </a:avLst>
          </a:prstGeom>
          <a:solidFill>
            <a:srgbClr val="FFFFFF"/>
          </a:solidFill>
          <a:ln w="6350">
            <a:solidFill>
              <a:srgbClr val="DBE3EC"/>
            </a:solidFill>
            <a:prstDash val="solid"/>
          </a:ln>
        </p:spPr>
      </p:sp>
      <p:sp>
        <p:nvSpPr>
          <p:cNvPr id="15" name="Text 13"/>
          <p:cNvSpPr/>
          <p:nvPr/>
        </p:nvSpPr>
        <p:spPr>
          <a:xfrm>
            <a:off x="6569964" y="3035808"/>
            <a:ext cx="4759452" cy="201168"/>
          </a:xfrm>
          <a:prstGeom prst="rect">
            <a:avLst/>
          </a:prstGeom>
          <a:noFill/>
          <a:ln/>
        </p:spPr>
        <p:txBody>
          <a:bodyPr wrap="square" rtlCol="0" anchor="t"/>
          <a:lstStyle/>
          <a:p>
            <a:pPr indent="0" marL="0">
              <a:buNone/>
            </a:pPr>
            <a:r>
              <a:rPr lang="en-US" sz="1050" b="1" dirty="0">
                <a:solidFill>
                  <a:srgbClr val="5566E0"/>
                </a:solidFill>
                <a:latin typeface="Consolas" pitchFamily="34" charset="0"/>
                <a:ea typeface="Consolas" pitchFamily="34" charset="-122"/>
                <a:cs typeface="Consolas" pitchFamily="34" charset="-120"/>
              </a:rPr>
              <a:t>business × product</a:t>
            </a:r>
            <a:endParaRPr lang="en-US" sz="1050" dirty="0"/>
          </a:p>
        </p:txBody>
      </p:sp>
      <p:sp>
        <p:nvSpPr>
          <p:cNvPr id="16" name="Text 14"/>
          <p:cNvSpPr/>
          <p:nvPr/>
        </p:nvSpPr>
        <p:spPr>
          <a:xfrm>
            <a:off x="6569964" y="3255264"/>
            <a:ext cx="4759452" cy="365760"/>
          </a:xfrm>
          <a:prstGeom prst="rect">
            <a:avLst/>
          </a:prstGeom>
          <a:noFill/>
          <a:ln/>
        </p:spPr>
        <p:txBody>
          <a:bodyPr wrap="square" rtlCol="0" anchor="t"/>
          <a:lstStyle/>
          <a:p>
            <a:pPr indent="0" marL="0">
              <a:lnSpc>
                <a:spcPct val="114000"/>
              </a:lnSpc>
              <a:buNone/>
            </a:pPr>
            <a:r>
              <a:rPr lang="en-US" sz="850" dirty="0">
                <a:solidFill>
                  <a:srgbClr val="4D5C70"/>
                </a:solidFill>
                <a:latin typeface="Segoe UI" pitchFamily="34" charset="0"/>
                <a:ea typeface="Segoe UI" pitchFamily="34" charset="-122"/>
                <a:cs typeface="Segoe UI" pitchFamily="34" charset="-120"/>
              </a:rPr>
              <a:t>Scored separately and combined by CONJUNCTION, never a sum — so thirty citations cannot carry a cosmetic rule into a file whose job is judging pass or fail.</a:t>
            </a:r>
            <a:endParaRPr lang="en-US" sz="850" dirty="0"/>
          </a:p>
        </p:txBody>
      </p:sp>
      <p:sp>
        <p:nvSpPr>
          <p:cNvPr id="17" name="Shape 15"/>
          <p:cNvSpPr/>
          <p:nvPr/>
        </p:nvSpPr>
        <p:spPr>
          <a:xfrm>
            <a:off x="6368796" y="3767328"/>
            <a:ext cx="5161788" cy="713232"/>
          </a:xfrm>
          <a:prstGeom prst="roundRect">
            <a:avLst>
              <a:gd name="adj" fmla="val 6410"/>
            </a:avLst>
          </a:prstGeom>
          <a:solidFill>
            <a:srgbClr val="FFFFFF"/>
          </a:solidFill>
          <a:ln w="6350">
            <a:solidFill>
              <a:srgbClr val="DBE3EC"/>
            </a:solidFill>
            <a:prstDash val="solid"/>
          </a:ln>
        </p:spPr>
      </p:sp>
      <p:sp>
        <p:nvSpPr>
          <p:cNvPr id="18" name="Text 16"/>
          <p:cNvSpPr/>
          <p:nvPr/>
        </p:nvSpPr>
        <p:spPr>
          <a:xfrm>
            <a:off x="6569964" y="3858768"/>
            <a:ext cx="4759452" cy="201168"/>
          </a:xfrm>
          <a:prstGeom prst="rect">
            <a:avLst/>
          </a:prstGeom>
          <a:noFill/>
          <a:ln/>
        </p:spPr>
        <p:txBody>
          <a:bodyPr wrap="square" rtlCol="0" anchor="t"/>
          <a:lstStyle/>
          <a:p>
            <a:pPr indent="0" marL="0">
              <a:buNone/>
            </a:pPr>
            <a:r>
              <a:rPr lang="en-US" sz="1050" b="1" dirty="0">
                <a:solidFill>
                  <a:srgbClr val="1F9D57"/>
                </a:solidFill>
                <a:latin typeface="Consolas" pitchFamily="34" charset="0"/>
                <a:ea typeface="Consolas" pitchFamily="34" charset="-122"/>
                <a:cs typeface="Consolas" pitchFamily="34" charset="-120"/>
              </a:rPr>
              <a:t>growth only</a:t>
            </a:r>
            <a:endParaRPr lang="en-US" sz="1050" dirty="0"/>
          </a:p>
        </p:txBody>
      </p:sp>
      <p:sp>
        <p:nvSpPr>
          <p:cNvPr id="19" name="Text 17"/>
          <p:cNvSpPr/>
          <p:nvPr/>
        </p:nvSpPr>
        <p:spPr>
          <a:xfrm>
            <a:off x="6569964" y="4078224"/>
            <a:ext cx="4759452" cy="365760"/>
          </a:xfrm>
          <a:prstGeom prst="rect">
            <a:avLst/>
          </a:prstGeom>
          <a:noFill/>
          <a:ln/>
        </p:spPr>
        <p:txBody>
          <a:bodyPr wrap="square" rtlCol="0" anchor="t"/>
          <a:lstStyle/>
          <a:p>
            <a:pPr indent="0" marL="0">
              <a:lnSpc>
                <a:spcPct val="114000"/>
              </a:lnSpc>
              <a:buNone/>
            </a:pPr>
            <a:r>
              <a:rPr lang="en-US" sz="850" dirty="0">
                <a:solidFill>
                  <a:srgbClr val="4D5C70"/>
                </a:solidFill>
                <a:latin typeface="Segoe UI" pitchFamily="34" charset="0"/>
                <a:ea typeface="Segoe UI" pitchFamily="34" charset="-122"/>
                <a:cs typeface="Segoe UI" pitchFamily="34" charset="-120"/>
              </a:rPr>
              <a:t>A CORRECTION to an existing entry applies whatever its value. Holding one back would leave a known-false rule in a file other skills judge against.</a:t>
            </a:r>
            <a:endParaRPr lang="en-US" sz="850" dirty="0"/>
          </a:p>
        </p:txBody>
      </p:sp>
      <p:sp>
        <p:nvSpPr>
          <p:cNvPr id="20" name="Shape 18"/>
          <p:cNvSpPr/>
          <p:nvPr/>
        </p:nvSpPr>
        <p:spPr>
          <a:xfrm>
            <a:off x="6368796" y="4590288"/>
            <a:ext cx="5161788" cy="713232"/>
          </a:xfrm>
          <a:prstGeom prst="roundRect">
            <a:avLst>
              <a:gd name="adj" fmla="val 6410"/>
            </a:avLst>
          </a:prstGeom>
          <a:solidFill>
            <a:srgbClr val="FFFFFF"/>
          </a:solidFill>
          <a:ln w="6350">
            <a:solidFill>
              <a:srgbClr val="DBE3EC"/>
            </a:solidFill>
            <a:prstDash val="solid"/>
          </a:ln>
        </p:spPr>
      </p:sp>
      <p:sp>
        <p:nvSpPr>
          <p:cNvPr id="21" name="Text 19"/>
          <p:cNvSpPr/>
          <p:nvPr/>
        </p:nvSpPr>
        <p:spPr>
          <a:xfrm>
            <a:off x="6569964" y="4681728"/>
            <a:ext cx="4759452" cy="201168"/>
          </a:xfrm>
          <a:prstGeom prst="rect">
            <a:avLst/>
          </a:prstGeom>
          <a:noFill/>
          <a:ln/>
        </p:spPr>
        <p:txBody>
          <a:bodyPr wrap="square" rtlCol="0" anchor="t"/>
          <a:lstStyle/>
          <a:p>
            <a:pPr indent="0" marL="0">
              <a:buNone/>
            </a:pPr>
            <a:r>
              <a:rPr lang="en-US" sz="1050" b="1" dirty="0">
                <a:solidFill>
                  <a:srgbClr val="D1495B"/>
                </a:solidFill>
                <a:latin typeface="Consolas" pitchFamily="34" charset="0"/>
                <a:ea typeface="Consolas" pitchFamily="34" charset="-122"/>
                <a:cs typeface="Consolas" pitchFamily="34" charset="-120"/>
              </a:rPr>
              <a:t>IDs are a contract</a:t>
            </a:r>
            <a:endParaRPr lang="en-US" sz="1050" dirty="0"/>
          </a:p>
        </p:txBody>
      </p:sp>
      <p:sp>
        <p:nvSpPr>
          <p:cNvPr id="22" name="Text 20"/>
          <p:cNvSpPr/>
          <p:nvPr/>
        </p:nvSpPr>
        <p:spPr>
          <a:xfrm>
            <a:off x="6569964" y="4901184"/>
            <a:ext cx="4759452" cy="365760"/>
          </a:xfrm>
          <a:prstGeom prst="rect">
            <a:avLst/>
          </a:prstGeom>
          <a:noFill/>
          <a:ln/>
        </p:spPr>
        <p:txBody>
          <a:bodyPr wrap="square" rtlCol="0" anchor="t"/>
          <a:lstStyle/>
          <a:p>
            <a:pPr indent="0" marL="0">
              <a:lnSpc>
                <a:spcPct val="114000"/>
              </a:lnSpc>
              <a:buNone/>
            </a:pPr>
            <a:r>
              <a:rPr lang="en-US" sz="850" dirty="0">
                <a:solidFill>
                  <a:srgbClr val="4D5C70"/>
                </a:solidFill>
                <a:latin typeface="Segoe UI" pitchFamily="34" charset="0"/>
                <a:ea typeface="Segoe UI" pitchFamily="34" charset="-122"/>
                <a:cs typeface="Segoe UI" pitchFamily="34" charset="-120"/>
              </a:rPr>
              <a:t>Never renumber a surviving entry. It silently repoints every previously-correct citation, and no gate can detect that — so it is forbidden rather than checked.</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9577034"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11 / 14</a:t>
            </a:r>
            <a:endParaRPr lang="en-US" sz="900" dirty="0"/>
          </a:p>
        </p:txBody>
      </p:sp>
      <p:sp>
        <p:nvSpPr>
          <p:cNvPr id="4" name="Shape 2"/>
          <p:cNvSpPr/>
          <p:nvPr/>
        </p:nvSpPr>
        <p:spPr>
          <a:xfrm>
            <a:off x="658368" y="566928"/>
            <a:ext cx="237744" cy="25603"/>
          </a:xfrm>
          <a:prstGeom prst="rect">
            <a:avLst/>
          </a:prstGeom>
          <a:solidFill>
            <a:srgbClr val="0F9D8F"/>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0A6E64"/>
                </a:solidFill>
                <a:latin typeface="Consolas" pitchFamily="34" charset="0"/>
                <a:ea typeface="Consolas" pitchFamily="34" charset="-122"/>
                <a:cs typeface="Consolas" pitchFamily="34" charset="-120"/>
              </a:rPr>
              <a:t>NEW THIS SPRINT</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600" b="1" dirty="0">
                <a:solidFill>
                  <a:srgbClr val="16202E"/>
                </a:solidFill>
                <a:latin typeface="Segoe UI" pitchFamily="34" charset="0"/>
                <a:ea typeface="Segoe UI" pitchFamily="34" charset="-122"/>
                <a:cs typeface="Segoe UI" pitchFamily="34" charset="-120"/>
              </a:rPr>
              <a:t>Three things the pipeline can now read that did not exist a fortnight ago.</a:t>
            </a:r>
            <a:endParaRPr lang="en-US" sz="2600" dirty="0"/>
          </a:p>
        </p:txBody>
      </p:sp>
      <p:sp>
        <p:nvSpPr>
          <p:cNvPr id="7" name="Shape 5"/>
          <p:cNvSpPr/>
          <p:nvPr/>
        </p:nvSpPr>
        <p:spPr>
          <a:xfrm>
            <a:off x="658368" y="1965960"/>
            <a:ext cx="3471672" cy="3794760"/>
          </a:xfrm>
          <a:prstGeom prst="roundRect">
            <a:avLst>
              <a:gd name="adj" fmla="val 1580"/>
            </a:avLst>
          </a:prstGeom>
          <a:solidFill>
            <a:srgbClr val="FFFFFF"/>
          </a:solidFill>
          <a:ln w="6350">
            <a:solidFill>
              <a:srgbClr val="DBE3EC"/>
            </a:solidFill>
            <a:prstDash val="solid"/>
          </a:ln>
        </p:spPr>
      </p:sp>
      <p:sp>
        <p:nvSpPr>
          <p:cNvPr id="8" name="Shape 6"/>
          <p:cNvSpPr/>
          <p:nvPr/>
        </p:nvSpPr>
        <p:spPr>
          <a:xfrm>
            <a:off x="658368" y="2011680"/>
            <a:ext cx="41148" cy="3703320"/>
          </a:xfrm>
          <a:prstGeom prst="rect">
            <a:avLst/>
          </a:prstGeom>
          <a:solidFill>
            <a:srgbClr val="0F9D8F"/>
          </a:solidFill>
          <a:ln/>
        </p:spPr>
      </p:sp>
      <p:sp>
        <p:nvSpPr>
          <p:cNvPr id="9" name="Text 7"/>
          <p:cNvSpPr/>
          <p:nvPr/>
        </p:nvSpPr>
        <p:spPr>
          <a:xfrm>
            <a:off x="914400" y="2148840"/>
            <a:ext cx="3014472"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GENERATED · RELEASE LEDGER</a:t>
            </a:r>
            <a:endParaRPr lang="en-US" sz="800" dirty="0"/>
          </a:p>
        </p:txBody>
      </p:sp>
      <p:sp>
        <p:nvSpPr>
          <p:cNvPr id="10" name="Text 8"/>
          <p:cNvSpPr/>
          <p:nvPr/>
        </p:nvSpPr>
        <p:spPr>
          <a:xfrm>
            <a:off x="914400" y="2386584"/>
            <a:ext cx="3014472"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What actually shipped upstream</a:t>
            </a:r>
            <a:endParaRPr lang="en-US" sz="1300" dirty="0"/>
          </a:p>
        </p:txBody>
      </p:sp>
      <p:sp>
        <p:nvSpPr>
          <p:cNvPr id="11" name="Text 9"/>
          <p:cNvSpPr/>
          <p:nvPr/>
        </p:nvSpPr>
        <p:spPr>
          <a:xfrm>
            <a:off x="914400" y="2770632"/>
            <a:ext cx="3014472" cy="2203704"/>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The documentation corpus stops at Platform 3.917.1 while production is past 3.1050 — roughly nine months of releases nothing in the toolchain could see.</a:t>
            </a:r>
            <a:endParaRPr lang="en-US" sz="950" dirty="0"/>
          </a:p>
        </p:txBody>
      </p:sp>
      <p:sp>
        <p:nvSpPr>
          <p:cNvPr id="12" name="Shape 10"/>
          <p:cNvSpPr/>
          <p:nvPr/>
        </p:nvSpPr>
        <p:spPr>
          <a:xfrm>
            <a:off x="914400" y="5047488"/>
            <a:ext cx="2959608" cy="0"/>
          </a:xfrm>
          <a:prstGeom prst="line">
            <a:avLst/>
          </a:prstGeom>
          <a:noFill/>
          <a:ln w="9525">
            <a:solidFill>
              <a:srgbClr val="DBE3EC"/>
            </a:solidFill>
            <a:prstDash val="dash"/>
          </a:ln>
        </p:spPr>
      </p:sp>
      <p:sp>
        <p:nvSpPr>
          <p:cNvPr id="13" name="Text 11"/>
          <p:cNvSpPr/>
          <p:nvPr/>
        </p:nvSpPr>
        <p:spPr>
          <a:xfrm>
            <a:off x="914400" y="5102352"/>
            <a:ext cx="3014472" cy="164592"/>
          </a:xfrm>
          <a:prstGeom prst="rect">
            <a:avLst/>
          </a:prstGeom>
          <a:noFill/>
          <a:ln/>
        </p:spPr>
        <p:txBody>
          <a:bodyPr wrap="square" rtlCol="0" anchor="ctr"/>
          <a:lstStyle/>
          <a:p>
            <a:pPr indent="0" marL="0">
              <a:buNone/>
            </a:pPr>
            <a:r>
              <a:rPr lang="en-US" sz="750" b="1" spc="120" kern="0" dirty="0">
                <a:solidFill>
                  <a:srgbClr val="7C8AA0"/>
                </a:solidFill>
                <a:latin typeface="Consolas" pitchFamily="34" charset="0"/>
                <a:ea typeface="Consolas" pitchFamily="34" charset="-122"/>
                <a:cs typeface="Consolas" pitchFamily="34" charset="-120"/>
              </a:rPr>
              <a:t>THREE RULES TRAVEL WITH IT</a:t>
            </a:r>
            <a:endParaRPr lang="en-US" sz="750" dirty="0"/>
          </a:p>
        </p:txBody>
      </p:sp>
      <p:sp>
        <p:nvSpPr>
          <p:cNvPr id="14" name="Text 12"/>
          <p:cNvSpPr/>
          <p:nvPr/>
        </p:nvSpPr>
        <p:spPr>
          <a:xfrm>
            <a:off x="914400" y="5285232"/>
            <a:ext cx="3014472" cy="457200"/>
          </a:xfrm>
          <a:prstGeom prst="rect">
            <a:avLst/>
          </a:prstGeom>
          <a:noFill/>
          <a:ln/>
        </p:spPr>
        <p:txBody>
          <a:bodyPr wrap="square" rtlCol="0" anchor="t"/>
          <a:lstStyle/>
          <a:p>
            <a:pPr indent="0" marL="0">
              <a:lnSpc>
                <a:spcPct val="112000"/>
              </a:lnSpc>
              <a:buNone/>
            </a:pPr>
            <a:r>
              <a:rPr lang="en-US" sz="850" dirty="0">
                <a:solidFill>
                  <a:srgbClr val="D1495B"/>
                </a:solidFill>
                <a:latin typeface="Consolas" pitchFamily="34" charset="0"/>
                <a:ea typeface="Consolas" pitchFamily="34" charset="-122"/>
                <a:cs typeface="Consolas" pitchFamily="34" charset="-120"/>
              </a:rPr>
              <a:t>Released upstream is not deployed here · it declares itself non-exhaustive · it carries no behaviour, so it can raise a hypothesis and never settle a verdict.</a:t>
            </a:r>
            <a:endParaRPr lang="en-US" sz="850" dirty="0"/>
          </a:p>
        </p:txBody>
      </p:sp>
      <p:sp>
        <p:nvSpPr>
          <p:cNvPr id="15" name="Shape 13"/>
          <p:cNvSpPr/>
          <p:nvPr/>
        </p:nvSpPr>
        <p:spPr>
          <a:xfrm>
            <a:off x="4358640" y="1965960"/>
            <a:ext cx="3471672" cy="3794760"/>
          </a:xfrm>
          <a:prstGeom prst="roundRect">
            <a:avLst>
              <a:gd name="adj" fmla="val 1580"/>
            </a:avLst>
          </a:prstGeom>
          <a:solidFill>
            <a:srgbClr val="FFFFFF"/>
          </a:solidFill>
          <a:ln w="6350">
            <a:solidFill>
              <a:srgbClr val="DBE3EC"/>
            </a:solidFill>
            <a:prstDash val="solid"/>
          </a:ln>
        </p:spPr>
      </p:sp>
      <p:sp>
        <p:nvSpPr>
          <p:cNvPr id="16" name="Shape 14"/>
          <p:cNvSpPr/>
          <p:nvPr/>
        </p:nvSpPr>
        <p:spPr>
          <a:xfrm>
            <a:off x="4358640" y="2011680"/>
            <a:ext cx="41148" cy="3703320"/>
          </a:xfrm>
          <a:prstGeom prst="rect">
            <a:avLst/>
          </a:prstGeom>
          <a:solidFill>
            <a:srgbClr val="5566E0"/>
          </a:solidFill>
          <a:ln/>
        </p:spPr>
      </p:sp>
      <p:sp>
        <p:nvSpPr>
          <p:cNvPr id="17" name="Text 15"/>
          <p:cNvSpPr/>
          <p:nvPr/>
        </p:nvSpPr>
        <p:spPr>
          <a:xfrm>
            <a:off x="4614672" y="2148840"/>
            <a:ext cx="3014472"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GENERATED · FUNCTIONALITY MAP</a:t>
            </a:r>
            <a:endParaRPr lang="en-US" sz="800" dirty="0"/>
          </a:p>
        </p:txBody>
      </p:sp>
      <p:sp>
        <p:nvSpPr>
          <p:cNvPr id="18" name="Text 16"/>
          <p:cNvSpPr/>
          <p:nvPr/>
        </p:nvSpPr>
        <p:spPr>
          <a:xfrm>
            <a:off x="4614672" y="2386584"/>
            <a:ext cx="3014472"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Prior art finally has a reader</a:t>
            </a:r>
            <a:endParaRPr lang="en-US" sz="1300" dirty="0"/>
          </a:p>
        </p:txBody>
      </p:sp>
      <p:sp>
        <p:nvSpPr>
          <p:cNvPr id="19" name="Text 17"/>
          <p:cNvSpPr/>
          <p:nvPr/>
        </p:nvSpPr>
        <p:spPr>
          <a:xfrm>
            <a:off x="4614672" y="2770632"/>
            <a:ext cx="3014472" cy="2203704"/>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47 analysis deliverables sat in the reports tree covered by a single line telling one agent to SKIM them for duplicates. Test models were made durable so the next ticket could reuse them, and nothing ever opened one — one surface has two contradictory models.</a:t>
            </a:r>
            <a:endParaRPr lang="en-US" sz="950" dirty="0"/>
          </a:p>
        </p:txBody>
      </p:sp>
      <p:sp>
        <p:nvSpPr>
          <p:cNvPr id="20" name="Shape 18"/>
          <p:cNvSpPr/>
          <p:nvPr/>
        </p:nvSpPr>
        <p:spPr>
          <a:xfrm>
            <a:off x="4614672" y="5047488"/>
            <a:ext cx="2959608" cy="0"/>
          </a:xfrm>
          <a:prstGeom prst="line">
            <a:avLst/>
          </a:prstGeom>
          <a:noFill/>
          <a:ln w="9525">
            <a:solidFill>
              <a:srgbClr val="DBE3EC"/>
            </a:solidFill>
            <a:prstDash val="dash"/>
          </a:ln>
        </p:spPr>
      </p:sp>
      <p:sp>
        <p:nvSpPr>
          <p:cNvPr id="21" name="Text 19"/>
          <p:cNvSpPr/>
          <p:nvPr/>
        </p:nvSpPr>
        <p:spPr>
          <a:xfrm>
            <a:off x="4614672" y="5102352"/>
            <a:ext cx="3014472" cy="164592"/>
          </a:xfrm>
          <a:prstGeom prst="rect">
            <a:avLst/>
          </a:prstGeom>
          <a:noFill/>
          <a:ln/>
        </p:spPr>
        <p:txBody>
          <a:bodyPr wrap="square" rtlCol="0" anchor="ctr"/>
          <a:lstStyle/>
          <a:p>
            <a:pPr indent="0" marL="0">
              <a:buNone/>
            </a:pPr>
            <a:r>
              <a:rPr lang="en-US" sz="750" b="1" spc="120" kern="0" dirty="0">
                <a:solidFill>
                  <a:srgbClr val="7C8AA0"/>
                </a:solidFill>
                <a:latin typeface="Consolas" pitchFamily="34" charset="0"/>
                <a:ea typeface="Consolas" pitchFamily="34" charset="-122"/>
                <a:cs typeface="Consolas" pitchFamily="34" charset="-120"/>
              </a:rPr>
              <a:t>THE FINDING IT PRODUCED ON RUN ONE</a:t>
            </a:r>
            <a:endParaRPr lang="en-US" sz="750" dirty="0"/>
          </a:p>
        </p:txBody>
      </p:sp>
      <p:sp>
        <p:nvSpPr>
          <p:cNvPr id="22" name="Text 20"/>
          <p:cNvSpPr/>
          <p:nvPr/>
        </p:nvSpPr>
        <p:spPr>
          <a:xfrm>
            <a:off x="4614672" y="5285232"/>
            <a:ext cx="3014472" cy="457200"/>
          </a:xfrm>
          <a:prstGeom prst="rect">
            <a:avLst/>
          </a:prstGeom>
          <a:noFill/>
          <a:ln/>
        </p:spPr>
        <p:txBody>
          <a:bodyPr wrap="square" rtlCol="0" anchor="t"/>
          <a:lstStyle/>
          <a:p>
            <a:pPr indent="0" marL="0">
              <a:lnSpc>
                <a:spcPct val="112000"/>
              </a:lnSpc>
              <a:buNone/>
            </a:pPr>
            <a:r>
              <a:rPr lang="en-US" sz="850" dirty="0">
                <a:solidFill>
                  <a:srgbClr val="D1495B"/>
                </a:solidFill>
                <a:latin typeface="Consolas" pitchFamily="34" charset="0"/>
                <a:ea typeface="Consolas" pitchFamily="34" charset="-122"/>
                <a:cs typeface="Consolas" pitchFamily="34" charset="-120"/>
              </a:rPr>
              <a:t>1 of 13 domains has a declared purpose. An undeclared one says so rather than inventing a guess.</a:t>
            </a:r>
            <a:endParaRPr lang="en-US" sz="850" dirty="0"/>
          </a:p>
        </p:txBody>
      </p:sp>
      <p:sp>
        <p:nvSpPr>
          <p:cNvPr id="23" name="Shape 21"/>
          <p:cNvSpPr/>
          <p:nvPr/>
        </p:nvSpPr>
        <p:spPr>
          <a:xfrm>
            <a:off x="8058912" y="1965960"/>
            <a:ext cx="3471672" cy="3794760"/>
          </a:xfrm>
          <a:prstGeom prst="roundRect">
            <a:avLst>
              <a:gd name="adj" fmla="val 1580"/>
            </a:avLst>
          </a:prstGeom>
          <a:solidFill>
            <a:srgbClr val="FFFFFF"/>
          </a:solidFill>
          <a:ln w="6350">
            <a:solidFill>
              <a:srgbClr val="DBE3EC"/>
            </a:solidFill>
            <a:prstDash val="solid"/>
          </a:ln>
        </p:spPr>
      </p:sp>
      <p:sp>
        <p:nvSpPr>
          <p:cNvPr id="24" name="Shape 22"/>
          <p:cNvSpPr/>
          <p:nvPr/>
        </p:nvSpPr>
        <p:spPr>
          <a:xfrm>
            <a:off x="8058912" y="2011680"/>
            <a:ext cx="41148" cy="3703320"/>
          </a:xfrm>
          <a:prstGeom prst="rect">
            <a:avLst/>
          </a:prstGeom>
          <a:solidFill>
            <a:srgbClr val="1F9D57"/>
          </a:solidFill>
          <a:ln/>
        </p:spPr>
      </p:sp>
      <p:sp>
        <p:nvSpPr>
          <p:cNvPr id="25" name="Text 23"/>
          <p:cNvSpPr/>
          <p:nvPr/>
        </p:nvSpPr>
        <p:spPr>
          <a:xfrm>
            <a:off x="8314944" y="2148840"/>
            <a:ext cx="3014472"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LIVE · VS. DESIGN</a:t>
            </a:r>
            <a:endParaRPr lang="en-US" sz="800" dirty="0"/>
          </a:p>
        </p:txBody>
      </p:sp>
      <p:sp>
        <p:nvSpPr>
          <p:cNvPr id="26" name="Text 24"/>
          <p:cNvSpPr/>
          <p:nvPr/>
        </p:nvSpPr>
        <p:spPr>
          <a:xfrm>
            <a:off x="8314944" y="2386584"/>
            <a:ext cx="3014472"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The dead axis came back</a:t>
            </a:r>
            <a:endParaRPr lang="en-US" sz="1300" dirty="0"/>
          </a:p>
        </p:txBody>
      </p:sp>
      <p:sp>
        <p:nvSpPr>
          <p:cNvPr id="27" name="Text 25"/>
          <p:cNvSpPr/>
          <p:nvPr/>
        </p:nvSpPr>
        <p:spPr>
          <a:xfrm>
            <a:off x="8314944" y="2770632"/>
            <a:ext cx="3014472" cy="2203704"/>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The design-tool integration exposes two auth calls and caps at about six requests a month, so the one defect class where every invariant passes but the build no longer matches the design had NO EXECUTOR AT ALL. Now a real diff of tokens, control geometry and icon glyph parity.</a:t>
            </a:r>
            <a:endParaRPr lang="en-US" sz="950" dirty="0"/>
          </a:p>
        </p:txBody>
      </p:sp>
      <p:sp>
        <p:nvSpPr>
          <p:cNvPr id="28" name="Shape 26"/>
          <p:cNvSpPr/>
          <p:nvPr/>
        </p:nvSpPr>
        <p:spPr>
          <a:xfrm>
            <a:off x="8314944" y="5047488"/>
            <a:ext cx="2959608" cy="0"/>
          </a:xfrm>
          <a:prstGeom prst="line">
            <a:avLst/>
          </a:prstGeom>
          <a:noFill/>
          <a:ln w="9525">
            <a:solidFill>
              <a:srgbClr val="DBE3EC"/>
            </a:solidFill>
            <a:prstDash val="dash"/>
          </a:ln>
        </p:spPr>
      </p:sp>
      <p:sp>
        <p:nvSpPr>
          <p:cNvPr id="29" name="Text 27"/>
          <p:cNvSpPr/>
          <p:nvPr/>
        </p:nvSpPr>
        <p:spPr>
          <a:xfrm>
            <a:off x="8314944" y="5102352"/>
            <a:ext cx="3014472" cy="164592"/>
          </a:xfrm>
          <a:prstGeom prst="rect">
            <a:avLst/>
          </a:prstGeom>
          <a:noFill/>
          <a:ln/>
        </p:spPr>
        <p:txBody>
          <a:bodyPr wrap="square" rtlCol="0" anchor="ctr"/>
          <a:lstStyle/>
          <a:p>
            <a:pPr indent="0" marL="0">
              <a:buNone/>
            </a:pPr>
            <a:r>
              <a:rPr lang="en-US" sz="750" b="1" spc="120" kern="0" dirty="0">
                <a:solidFill>
                  <a:srgbClr val="7C8AA0"/>
                </a:solidFill>
                <a:latin typeface="Consolas" pitchFamily="34" charset="0"/>
                <a:ea typeface="Consolas" pitchFamily="34" charset="-122"/>
                <a:cs typeface="Consolas" pitchFamily="34" charset="-120"/>
              </a:rPr>
              <a:t>PRECEDENCE, SO IT CANNOT MISLEAD</a:t>
            </a:r>
            <a:endParaRPr lang="en-US" sz="750" dirty="0"/>
          </a:p>
        </p:txBody>
      </p:sp>
      <p:sp>
        <p:nvSpPr>
          <p:cNvPr id="30" name="Text 28"/>
          <p:cNvSpPr/>
          <p:nvPr/>
        </p:nvSpPr>
        <p:spPr>
          <a:xfrm>
            <a:off x="8314944" y="5285232"/>
            <a:ext cx="3014472" cy="457200"/>
          </a:xfrm>
          <a:prstGeom prst="rect">
            <a:avLst/>
          </a:prstGeom>
          <a:noFill/>
          <a:ln/>
        </p:spPr>
        <p:txBody>
          <a:bodyPr wrap="square" rtlCol="0" anchor="t"/>
          <a:lstStyle/>
          <a:p>
            <a:pPr indent="0" marL="0">
              <a:lnSpc>
                <a:spcPct val="112000"/>
              </a:lnSpc>
              <a:buNone/>
            </a:pPr>
            <a:r>
              <a:rPr lang="en-US" sz="850" dirty="0">
                <a:solidFill>
                  <a:srgbClr val="D1495B"/>
                </a:solidFill>
                <a:latin typeface="Consolas" pitchFamily="34" charset="0"/>
                <a:ea typeface="Consolas" pitchFamily="34" charset="-122"/>
                <a:cs typeface="Consolas" pitchFamily="34" charset="-120"/>
              </a:rPr>
              <a:t>Invariant beats spec beats heuristic. A skip is reported as a skip, never as a pass.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0447673"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12 / 14</a:t>
            </a:r>
            <a:endParaRPr lang="en-US" sz="900" dirty="0"/>
          </a:p>
        </p:txBody>
      </p:sp>
      <p:sp>
        <p:nvSpPr>
          <p:cNvPr id="4" name="Shape 2"/>
          <p:cNvSpPr/>
          <p:nvPr/>
        </p:nvSpPr>
        <p:spPr>
          <a:xfrm>
            <a:off x="658368" y="566928"/>
            <a:ext cx="237744" cy="25603"/>
          </a:xfrm>
          <a:prstGeom prst="rect">
            <a:avLst/>
          </a:prstGeom>
          <a:solidFill>
            <a:srgbClr val="0F9D8F"/>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0A6E64"/>
                </a:solidFill>
                <a:latin typeface="Consolas" pitchFamily="34" charset="0"/>
                <a:ea typeface="Consolas" pitchFamily="34" charset="-122"/>
                <a:cs typeface="Consolas" pitchFamily="34" charset="-120"/>
              </a:rPr>
              <a:t>FIXED</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800" b="1" dirty="0">
                <a:solidFill>
                  <a:srgbClr val="16202E"/>
                </a:solidFill>
                <a:latin typeface="Segoe UI" pitchFamily="34" charset="0"/>
                <a:ea typeface="Segoe UI" pitchFamily="34" charset="-122"/>
                <a:cs typeface="Segoe UI" pitchFamily="34" charset="-120"/>
              </a:rPr>
              <a:t>Three guarantees that held only when someone remembered.</a:t>
            </a:r>
            <a:endParaRPr lang="en-US" sz="2800" dirty="0"/>
          </a:p>
        </p:txBody>
      </p:sp>
      <p:sp>
        <p:nvSpPr>
          <p:cNvPr id="7" name="Shape 5"/>
          <p:cNvSpPr/>
          <p:nvPr/>
        </p:nvSpPr>
        <p:spPr>
          <a:xfrm>
            <a:off x="658368" y="1874520"/>
            <a:ext cx="5276088" cy="1737360"/>
          </a:xfrm>
          <a:prstGeom prst="roundRect">
            <a:avLst>
              <a:gd name="adj" fmla="val 3158"/>
            </a:avLst>
          </a:prstGeom>
          <a:solidFill>
            <a:srgbClr val="FFFFFF"/>
          </a:solidFill>
          <a:ln w="6350">
            <a:solidFill>
              <a:srgbClr val="DBE3EC"/>
            </a:solidFill>
            <a:prstDash val="solid"/>
          </a:ln>
        </p:spPr>
      </p:sp>
      <p:sp>
        <p:nvSpPr>
          <p:cNvPr id="8" name="Shape 6"/>
          <p:cNvSpPr/>
          <p:nvPr/>
        </p:nvSpPr>
        <p:spPr>
          <a:xfrm>
            <a:off x="658368" y="1920240"/>
            <a:ext cx="41148" cy="1645920"/>
          </a:xfrm>
          <a:prstGeom prst="rect">
            <a:avLst/>
          </a:prstGeom>
          <a:solidFill>
            <a:srgbClr val="0F9D8F"/>
          </a:solidFill>
          <a:ln/>
        </p:spPr>
      </p:sp>
      <p:sp>
        <p:nvSpPr>
          <p:cNvPr id="9" name="Text 7"/>
          <p:cNvSpPr/>
          <p:nvPr/>
        </p:nvSpPr>
        <p:spPr>
          <a:xfrm>
            <a:off x="914400" y="2057400"/>
            <a:ext cx="4818888"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FRONTMATTER</a:t>
            </a:r>
            <a:endParaRPr lang="en-US" sz="800" dirty="0"/>
          </a:p>
        </p:txBody>
      </p:sp>
      <p:sp>
        <p:nvSpPr>
          <p:cNvPr id="10" name="Text 8"/>
          <p:cNvSpPr/>
          <p:nvPr/>
        </p:nvSpPr>
        <p:spPr>
          <a:xfrm>
            <a:off x="914400" y="2295144"/>
            <a:ext cx="4818888"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A description YAML could not parse</a:t>
            </a:r>
            <a:endParaRPr lang="en-US" sz="1300" dirty="0"/>
          </a:p>
        </p:txBody>
      </p:sp>
      <p:sp>
        <p:nvSpPr>
          <p:cNvPr id="11" name="Text 9"/>
          <p:cNvSpPr/>
          <p:nvPr/>
        </p:nvSpPr>
        <p:spPr>
          <a:xfrm>
            <a:off x="914400" y="2679192"/>
            <a:ext cx="4818888" cy="749808"/>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A long unquoted description containing a colon and a space — which in YAML IS the key-value separator. The parser abandoned the whole block and the skill loaded with empty metadata. Present for a month, because nothing checked. A second file had the identical defect.</a:t>
            </a:r>
            <a:endParaRPr lang="en-US" sz="950" dirty="0"/>
          </a:p>
        </p:txBody>
      </p:sp>
      <p:sp>
        <p:nvSpPr>
          <p:cNvPr id="12" name="Shape 10"/>
          <p:cNvSpPr/>
          <p:nvPr/>
        </p:nvSpPr>
        <p:spPr>
          <a:xfrm>
            <a:off x="6254496" y="1874520"/>
            <a:ext cx="5276088" cy="1737360"/>
          </a:xfrm>
          <a:prstGeom prst="roundRect">
            <a:avLst>
              <a:gd name="adj" fmla="val 3158"/>
            </a:avLst>
          </a:prstGeom>
          <a:solidFill>
            <a:srgbClr val="FFFFFF"/>
          </a:solidFill>
          <a:ln w="6350">
            <a:solidFill>
              <a:srgbClr val="DBE3EC"/>
            </a:solidFill>
            <a:prstDash val="solid"/>
          </a:ln>
        </p:spPr>
      </p:sp>
      <p:sp>
        <p:nvSpPr>
          <p:cNvPr id="13" name="Shape 11"/>
          <p:cNvSpPr/>
          <p:nvPr/>
        </p:nvSpPr>
        <p:spPr>
          <a:xfrm>
            <a:off x="6254496" y="1920240"/>
            <a:ext cx="41148" cy="1645920"/>
          </a:xfrm>
          <a:prstGeom prst="rect">
            <a:avLst/>
          </a:prstGeom>
          <a:solidFill>
            <a:srgbClr val="0F9D8F"/>
          </a:solidFill>
          <a:ln/>
        </p:spPr>
      </p:sp>
      <p:sp>
        <p:nvSpPr>
          <p:cNvPr id="14" name="Text 12"/>
          <p:cNvSpPr/>
          <p:nvPr/>
        </p:nvSpPr>
        <p:spPr>
          <a:xfrm>
            <a:off x="6510528" y="2057400"/>
            <a:ext cx="4818888"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THE GUARD</a:t>
            </a:r>
            <a:endParaRPr lang="en-US" sz="800" dirty="0"/>
          </a:p>
        </p:txBody>
      </p:sp>
      <p:sp>
        <p:nvSpPr>
          <p:cNvPr id="15" name="Text 13"/>
          <p:cNvSpPr/>
          <p:nvPr/>
        </p:nvSpPr>
        <p:spPr>
          <a:xfrm>
            <a:off x="6510528" y="2295144"/>
            <a:ext cx="4818888"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And now something does check</a:t>
            </a:r>
            <a:endParaRPr lang="en-US" sz="1300" dirty="0"/>
          </a:p>
        </p:txBody>
      </p:sp>
      <p:sp>
        <p:nvSpPr>
          <p:cNvPr id="16" name="Text 14"/>
          <p:cNvSpPr/>
          <p:nvPr/>
        </p:nvSpPr>
        <p:spPr>
          <a:xfrm>
            <a:off x="6510528" y="2679192"/>
            <a:ext cx="4818888" cy="749808"/>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A scanner over every markdown component both surfaces ship, hunting the values a YAML parser mis-reads. It CANNOT PASS VACUOUSLY — it asserts a floor on the corpus, because a guard that silently checks zero files is the exact failure it exists to prevent.</a:t>
            </a:r>
            <a:endParaRPr lang="en-US" sz="950" dirty="0"/>
          </a:p>
        </p:txBody>
      </p:sp>
      <p:sp>
        <p:nvSpPr>
          <p:cNvPr id="17" name="Shape 15"/>
          <p:cNvSpPr/>
          <p:nvPr/>
        </p:nvSpPr>
        <p:spPr>
          <a:xfrm>
            <a:off x="658368" y="3867912"/>
            <a:ext cx="5276088" cy="1737360"/>
          </a:xfrm>
          <a:prstGeom prst="roundRect">
            <a:avLst>
              <a:gd name="adj" fmla="val 3158"/>
            </a:avLst>
          </a:prstGeom>
          <a:solidFill>
            <a:srgbClr val="FFFFFF"/>
          </a:solidFill>
          <a:ln w="6350">
            <a:solidFill>
              <a:srgbClr val="DBE3EC"/>
            </a:solidFill>
            <a:prstDash val="solid"/>
          </a:ln>
        </p:spPr>
      </p:sp>
      <p:sp>
        <p:nvSpPr>
          <p:cNvPr id="18" name="Shape 16"/>
          <p:cNvSpPr/>
          <p:nvPr/>
        </p:nvSpPr>
        <p:spPr>
          <a:xfrm>
            <a:off x="658368" y="3913632"/>
            <a:ext cx="41148" cy="1645920"/>
          </a:xfrm>
          <a:prstGeom prst="rect">
            <a:avLst/>
          </a:prstGeom>
          <a:solidFill>
            <a:srgbClr val="D1495B"/>
          </a:solidFill>
          <a:ln/>
        </p:spPr>
      </p:sp>
      <p:sp>
        <p:nvSpPr>
          <p:cNvPr id="19" name="Text 17"/>
          <p:cNvSpPr/>
          <p:nvPr/>
        </p:nvSpPr>
        <p:spPr>
          <a:xfrm>
            <a:off x="914400" y="4050792"/>
            <a:ext cx="4818888"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CI</a:t>
            </a:r>
            <a:endParaRPr lang="en-US" sz="800" dirty="0"/>
          </a:p>
        </p:txBody>
      </p:sp>
      <p:sp>
        <p:nvSpPr>
          <p:cNvPr id="20" name="Text 18"/>
          <p:cNvSpPr/>
          <p:nvPr/>
        </p:nvSpPr>
        <p:spPr>
          <a:xfrm>
            <a:off x="914400" y="4288536"/>
            <a:ext cx="4818888"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The unit suite was never run</a:t>
            </a:r>
            <a:endParaRPr lang="en-US" sz="1300" dirty="0"/>
          </a:p>
        </p:txBody>
      </p:sp>
      <p:sp>
        <p:nvSpPr>
          <p:cNvPr id="21" name="Text 19"/>
          <p:cNvSpPr/>
          <p:nvPr/>
        </p:nvSpPr>
        <p:spPr>
          <a:xfrm>
            <a:off x="914400" y="4672584"/>
            <a:ext cx="4818888" cy="749808"/>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Six workflows existed and all six drive QA pipelines against the product; not one ran this repository's own tests. Every guarantee documented as enforced — including a byte-identity check the docs call CI-enforced — held on memory alone. A guard nobody runs is a comment.</a:t>
            </a:r>
            <a:endParaRPr lang="en-US" sz="950" dirty="0"/>
          </a:p>
        </p:txBody>
      </p:sp>
      <p:sp>
        <p:nvSpPr>
          <p:cNvPr id="22" name="Shape 20"/>
          <p:cNvSpPr/>
          <p:nvPr/>
        </p:nvSpPr>
        <p:spPr>
          <a:xfrm>
            <a:off x="6254496" y="3867912"/>
            <a:ext cx="5276088" cy="1737360"/>
          </a:xfrm>
          <a:prstGeom prst="roundRect">
            <a:avLst>
              <a:gd name="adj" fmla="val 3158"/>
            </a:avLst>
          </a:prstGeom>
          <a:solidFill>
            <a:srgbClr val="FFFFFF"/>
          </a:solidFill>
          <a:ln w="6350">
            <a:solidFill>
              <a:srgbClr val="DBE3EC"/>
            </a:solidFill>
            <a:prstDash val="solid"/>
          </a:ln>
        </p:spPr>
      </p:sp>
      <p:sp>
        <p:nvSpPr>
          <p:cNvPr id="23" name="Shape 21"/>
          <p:cNvSpPr/>
          <p:nvPr/>
        </p:nvSpPr>
        <p:spPr>
          <a:xfrm>
            <a:off x="6254496" y="3913632"/>
            <a:ext cx="41148" cy="1645920"/>
          </a:xfrm>
          <a:prstGeom prst="rect">
            <a:avLst/>
          </a:prstGeom>
          <a:solidFill>
            <a:srgbClr val="0F9D8F"/>
          </a:solidFill>
          <a:ln/>
        </p:spPr>
      </p:sp>
      <p:sp>
        <p:nvSpPr>
          <p:cNvPr id="24" name="Text 22"/>
          <p:cNvSpPr/>
          <p:nvPr/>
        </p:nvSpPr>
        <p:spPr>
          <a:xfrm>
            <a:off x="6510528" y="4050792"/>
            <a:ext cx="4818888"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HYGIENE</a:t>
            </a:r>
            <a:endParaRPr lang="en-US" sz="800" dirty="0"/>
          </a:p>
        </p:txBody>
      </p:sp>
      <p:sp>
        <p:nvSpPr>
          <p:cNvPr id="25" name="Text 23"/>
          <p:cNvSpPr/>
          <p:nvPr/>
        </p:nvSpPr>
        <p:spPr>
          <a:xfrm>
            <a:off x="6510528" y="4288536"/>
            <a:ext cx="4818888"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Split by confidence</a:t>
            </a:r>
            <a:endParaRPr lang="en-US" sz="1300" dirty="0"/>
          </a:p>
        </p:txBody>
      </p:sp>
      <p:sp>
        <p:nvSpPr>
          <p:cNvPr id="26" name="Text 24"/>
          <p:cNvSpPr/>
          <p:nvPr/>
        </p:nvSpPr>
        <p:spPr>
          <a:xfrm>
            <a:off x="6510528" y="4672584"/>
            <a:ext cx="4818888" cy="749808"/>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The secret scanner graded an ordinary base64 config value as a certain credential and FAILED READINESS on it — blocking on a harmless value is precisely what teaches everyone to switch a check off. Certain hits may block; suspected hits only ever warn.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1318313"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13 / 14</a:t>
            </a:r>
            <a:endParaRPr lang="en-US" sz="900" dirty="0"/>
          </a:p>
        </p:txBody>
      </p:sp>
      <p:sp>
        <p:nvSpPr>
          <p:cNvPr id="4" name="Shape 2"/>
          <p:cNvSpPr/>
          <p:nvPr/>
        </p:nvSpPr>
        <p:spPr>
          <a:xfrm>
            <a:off x="658368" y="566928"/>
            <a:ext cx="237744" cy="25603"/>
          </a:xfrm>
          <a:prstGeom prst="rect">
            <a:avLst/>
          </a:prstGeom>
          <a:solidFill>
            <a:srgbClr val="0F9D8F"/>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0A6E64"/>
                </a:solidFill>
                <a:latin typeface="Consolas" pitchFamily="34" charset="0"/>
                <a:ea typeface="Consolas" pitchFamily="34" charset="-122"/>
                <a:cs typeface="Consolas" pitchFamily="34" charset="-120"/>
              </a:rPr>
              <a:t>DELIVERED AGAINST TICKETS</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800" b="1" dirty="0">
                <a:solidFill>
                  <a:srgbClr val="16202E"/>
                </a:solidFill>
                <a:latin typeface="Segoe UI" pitchFamily="34" charset="0"/>
                <a:ea typeface="Segoe UI" pitchFamily="34" charset="-122"/>
                <a:cs typeface="Segoe UI" pitchFamily="34" charset="-120"/>
              </a:rPr>
              <a:t>The process work paid for itself on real tickets in the same sprint.</a:t>
            </a:r>
            <a:endParaRPr lang="en-US" sz="2800" dirty="0"/>
          </a:p>
        </p:txBody>
      </p:sp>
      <p:sp>
        <p:nvSpPr>
          <p:cNvPr id="7" name="Shape 5"/>
          <p:cNvSpPr/>
          <p:nvPr/>
        </p:nvSpPr>
        <p:spPr>
          <a:xfrm>
            <a:off x="658368" y="1874520"/>
            <a:ext cx="10872216" cy="0"/>
          </a:xfrm>
          <a:prstGeom prst="line">
            <a:avLst/>
          </a:prstGeom>
          <a:noFill/>
          <a:ln w="9525">
            <a:solidFill>
              <a:srgbClr val="DBE3EC"/>
            </a:solidFill>
            <a:prstDash val="solid"/>
          </a:ln>
        </p:spPr>
      </p:sp>
      <p:sp>
        <p:nvSpPr>
          <p:cNvPr id="8" name="Text 6"/>
          <p:cNvSpPr/>
          <p:nvPr/>
        </p:nvSpPr>
        <p:spPr>
          <a:xfrm>
            <a:off x="658368" y="1965960"/>
            <a:ext cx="1371600" cy="237744"/>
          </a:xfrm>
          <a:prstGeom prst="rect">
            <a:avLst/>
          </a:prstGeom>
          <a:noFill/>
          <a:ln/>
        </p:spPr>
        <p:txBody>
          <a:bodyPr wrap="square" rtlCol="0" anchor="t"/>
          <a:lstStyle/>
          <a:p>
            <a:pPr indent="0" marL="0">
              <a:buNone/>
            </a:pPr>
            <a:r>
              <a:rPr lang="en-US" sz="1050" b="1" dirty="0">
                <a:solidFill>
                  <a:srgbClr val="0A6E64"/>
                </a:solidFill>
                <a:latin typeface="Consolas" pitchFamily="34" charset="0"/>
                <a:ea typeface="Consolas" pitchFamily="34" charset="-122"/>
                <a:cs typeface="Consolas" pitchFamily="34" charset="-120"/>
              </a:rPr>
              <a:t>VCST-5320</a:t>
            </a:r>
            <a:endParaRPr lang="en-US" sz="1050" dirty="0"/>
          </a:p>
        </p:txBody>
      </p:sp>
      <p:sp>
        <p:nvSpPr>
          <p:cNvPr id="9" name="Text 7"/>
          <p:cNvSpPr/>
          <p:nvPr/>
        </p:nvSpPr>
        <p:spPr>
          <a:xfrm>
            <a:off x="2167128" y="1965960"/>
            <a:ext cx="7763256" cy="493776"/>
          </a:xfrm>
          <a:prstGeom prst="rect">
            <a:avLst/>
          </a:prstGeom>
          <a:noFill/>
          <a:ln/>
        </p:spPr>
        <p:txBody>
          <a:bodyPr wrap="square" rtlCol="0" anchor="t"/>
          <a:lstStyle/>
          <a:p>
            <a:pPr indent="0" marL="0">
              <a:lnSpc>
                <a:spcPct val="118000"/>
              </a:lnSpc>
              <a:buNone/>
            </a:pPr>
            <a:r>
              <a:rPr lang="en-US" sz="1050" dirty="0">
                <a:solidFill>
                  <a:srgbClr val="16202E"/>
                </a:solidFill>
                <a:latin typeface="Segoe UI" pitchFamily="34" charset="0"/>
                <a:ea typeface="Segoe UI" pitchFamily="34" charset="-122"/>
                <a:cs typeface="Segoe UI" pitchFamily="34" charset="-120"/>
              </a:rPr>
              <a:t>Missions &amp; Challenges — the ticket that produced the fault-model diagnosis, then got a model and fixtures of its own.</a:t>
            </a:r>
            <a:endParaRPr lang="en-US" sz="1050" dirty="0"/>
          </a:p>
        </p:txBody>
      </p:sp>
      <p:sp>
        <p:nvSpPr>
          <p:cNvPr id="10" name="Text 8"/>
          <p:cNvSpPr/>
          <p:nvPr/>
        </p:nvSpPr>
        <p:spPr>
          <a:xfrm>
            <a:off x="10067544" y="1965960"/>
            <a:ext cx="1463040" cy="237744"/>
          </a:xfrm>
          <a:prstGeom prst="rect">
            <a:avLst/>
          </a:prstGeom>
          <a:noFill/>
          <a:ln/>
        </p:spPr>
        <p:txBody>
          <a:bodyPr wrap="square" rtlCol="0" anchor="t"/>
          <a:lstStyle/>
          <a:p>
            <a:pPr algn="r" indent="0" marL="0">
              <a:buNone/>
            </a:pPr>
            <a:r>
              <a:rPr lang="en-US" sz="850" b="1" spc="120" kern="0" dirty="0">
                <a:solidFill>
                  <a:srgbClr val="1F9D57"/>
                </a:solidFill>
                <a:latin typeface="Consolas" pitchFamily="34" charset="0"/>
                <a:ea typeface="Consolas" pitchFamily="34" charset="-122"/>
                <a:cs typeface="Consolas" pitchFamily="34" charset="-120"/>
              </a:rPr>
              <a:t>LANDED</a:t>
            </a:r>
            <a:endParaRPr lang="en-US" sz="850" dirty="0"/>
          </a:p>
        </p:txBody>
      </p:sp>
      <p:sp>
        <p:nvSpPr>
          <p:cNvPr id="11" name="Shape 9"/>
          <p:cNvSpPr/>
          <p:nvPr/>
        </p:nvSpPr>
        <p:spPr>
          <a:xfrm>
            <a:off x="658368" y="2441448"/>
            <a:ext cx="10872216" cy="0"/>
          </a:xfrm>
          <a:prstGeom prst="line">
            <a:avLst/>
          </a:prstGeom>
          <a:noFill/>
          <a:ln w="6350">
            <a:solidFill>
              <a:srgbClr val="DBE3EC"/>
            </a:solidFill>
            <a:prstDash val="solid"/>
          </a:ln>
        </p:spPr>
      </p:sp>
      <p:sp>
        <p:nvSpPr>
          <p:cNvPr id="12" name="Text 10"/>
          <p:cNvSpPr/>
          <p:nvPr/>
        </p:nvSpPr>
        <p:spPr>
          <a:xfrm>
            <a:off x="658368" y="2532888"/>
            <a:ext cx="1371600" cy="237744"/>
          </a:xfrm>
          <a:prstGeom prst="rect">
            <a:avLst/>
          </a:prstGeom>
          <a:noFill/>
          <a:ln/>
        </p:spPr>
        <p:txBody>
          <a:bodyPr wrap="square" rtlCol="0" anchor="t"/>
          <a:lstStyle/>
          <a:p>
            <a:pPr indent="0" marL="0">
              <a:buNone/>
            </a:pPr>
            <a:r>
              <a:rPr lang="en-US" sz="1050" b="1" dirty="0">
                <a:solidFill>
                  <a:srgbClr val="0A6E64"/>
                </a:solidFill>
                <a:latin typeface="Consolas" pitchFamily="34" charset="0"/>
                <a:ea typeface="Consolas" pitchFamily="34" charset="-122"/>
                <a:cs typeface="Consolas" pitchFamily="34" charset="-120"/>
              </a:rPr>
              <a:t>VCST-5735</a:t>
            </a:r>
            <a:endParaRPr lang="en-US" sz="1050" dirty="0"/>
          </a:p>
        </p:txBody>
      </p:sp>
      <p:sp>
        <p:nvSpPr>
          <p:cNvPr id="13" name="Text 11"/>
          <p:cNvSpPr/>
          <p:nvPr/>
        </p:nvSpPr>
        <p:spPr>
          <a:xfrm>
            <a:off x="2167128" y="2532888"/>
            <a:ext cx="7763256" cy="493776"/>
          </a:xfrm>
          <a:prstGeom prst="rect">
            <a:avLst/>
          </a:prstGeom>
          <a:noFill/>
          <a:ln/>
        </p:spPr>
        <p:txBody>
          <a:bodyPr wrap="square" rtlCol="0" anchor="t"/>
          <a:lstStyle/>
          <a:p>
            <a:pPr indent="0" marL="0">
              <a:lnSpc>
                <a:spcPct val="118000"/>
              </a:lnSpc>
              <a:buNone/>
            </a:pPr>
            <a:r>
              <a:rPr lang="en-US" sz="1050" dirty="0">
                <a:solidFill>
                  <a:srgbClr val="16202E"/>
                </a:solidFill>
                <a:latin typeface="Segoe UI" pitchFamily="34" charset="0"/>
                <a:ea typeface="Segoe UI" pitchFamily="34" charset="-122"/>
                <a:cs typeface="Segoe UI" pitchFamily="34" charset="-120"/>
              </a:rPr>
              <a:t>Compare products — test model, fixtures and run evidence; the first ticket driven end to end by the new Step 1e.</a:t>
            </a:r>
            <a:endParaRPr lang="en-US" sz="1050" dirty="0"/>
          </a:p>
        </p:txBody>
      </p:sp>
      <p:sp>
        <p:nvSpPr>
          <p:cNvPr id="14" name="Text 12"/>
          <p:cNvSpPr/>
          <p:nvPr/>
        </p:nvSpPr>
        <p:spPr>
          <a:xfrm>
            <a:off x="10067544" y="2532888"/>
            <a:ext cx="1463040" cy="237744"/>
          </a:xfrm>
          <a:prstGeom prst="rect">
            <a:avLst/>
          </a:prstGeom>
          <a:noFill/>
          <a:ln/>
        </p:spPr>
        <p:txBody>
          <a:bodyPr wrap="square" rtlCol="0" anchor="t"/>
          <a:lstStyle/>
          <a:p>
            <a:pPr algn="r" indent="0" marL="0">
              <a:buNone/>
            </a:pPr>
            <a:r>
              <a:rPr lang="en-US" sz="850" b="1" spc="120" kern="0" dirty="0">
                <a:solidFill>
                  <a:srgbClr val="1F9D57"/>
                </a:solidFill>
                <a:latin typeface="Consolas" pitchFamily="34" charset="0"/>
                <a:ea typeface="Consolas" pitchFamily="34" charset="-122"/>
                <a:cs typeface="Consolas" pitchFamily="34" charset="-120"/>
              </a:rPr>
              <a:t>LANDED</a:t>
            </a:r>
            <a:endParaRPr lang="en-US" sz="850" dirty="0"/>
          </a:p>
        </p:txBody>
      </p:sp>
      <p:sp>
        <p:nvSpPr>
          <p:cNvPr id="15" name="Shape 13"/>
          <p:cNvSpPr/>
          <p:nvPr/>
        </p:nvSpPr>
        <p:spPr>
          <a:xfrm>
            <a:off x="658368" y="3008376"/>
            <a:ext cx="10872216" cy="0"/>
          </a:xfrm>
          <a:prstGeom prst="line">
            <a:avLst/>
          </a:prstGeom>
          <a:noFill/>
          <a:ln w="6350">
            <a:solidFill>
              <a:srgbClr val="DBE3EC"/>
            </a:solidFill>
            <a:prstDash val="solid"/>
          </a:ln>
        </p:spPr>
      </p:sp>
      <p:sp>
        <p:nvSpPr>
          <p:cNvPr id="16" name="Text 14"/>
          <p:cNvSpPr/>
          <p:nvPr/>
        </p:nvSpPr>
        <p:spPr>
          <a:xfrm>
            <a:off x="658368" y="3099816"/>
            <a:ext cx="1371600" cy="237744"/>
          </a:xfrm>
          <a:prstGeom prst="rect">
            <a:avLst/>
          </a:prstGeom>
          <a:noFill/>
          <a:ln/>
        </p:spPr>
        <p:txBody>
          <a:bodyPr wrap="square" rtlCol="0" anchor="t"/>
          <a:lstStyle/>
          <a:p>
            <a:pPr indent="0" marL="0">
              <a:buNone/>
            </a:pPr>
            <a:r>
              <a:rPr lang="en-US" sz="1050" b="1" dirty="0">
                <a:solidFill>
                  <a:srgbClr val="0A6E64"/>
                </a:solidFill>
                <a:latin typeface="Consolas" pitchFamily="34" charset="0"/>
                <a:ea typeface="Consolas" pitchFamily="34" charset="-122"/>
                <a:cs typeface="Consolas" pitchFamily="34" charset="-120"/>
              </a:rPr>
              <a:t>VCST-5704</a:t>
            </a:r>
            <a:endParaRPr lang="en-US" sz="1050" dirty="0"/>
          </a:p>
        </p:txBody>
      </p:sp>
      <p:sp>
        <p:nvSpPr>
          <p:cNvPr id="17" name="Text 15"/>
          <p:cNvSpPr/>
          <p:nvPr/>
        </p:nvSpPr>
        <p:spPr>
          <a:xfrm>
            <a:off x="2167128" y="3099816"/>
            <a:ext cx="7763256" cy="493776"/>
          </a:xfrm>
          <a:prstGeom prst="rect">
            <a:avLst/>
          </a:prstGeom>
          <a:noFill/>
          <a:ln/>
        </p:spPr>
        <p:txBody>
          <a:bodyPr wrap="square" rtlCol="0" anchor="t"/>
          <a:lstStyle/>
          <a:p>
            <a:pPr indent="0" marL="0">
              <a:lnSpc>
                <a:spcPct val="118000"/>
              </a:lnSpc>
              <a:buNone/>
            </a:pPr>
            <a:r>
              <a:rPr lang="en-US" sz="1050" dirty="0">
                <a:solidFill>
                  <a:srgbClr val="16202E"/>
                </a:solidFill>
                <a:latin typeface="Segoe UI" pitchFamily="34" charset="0"/>
                <a:ea typeface="Segoe UI" pitchFamily="34" charset="-122"/>
                <a:cs typeface="Segoe UI" pitchFamily="34" charset="-120"/>
              </a:rPr>
              <a:t>Page-wide anchor links in Page Builder — regression coverage.</a:t>
            </a:r>
            <a:endParaRPr lang="en-US" sz="1050" dirty="0"/>
          </a:p>
        </p:txBody>
      </p:sp>
      <p:sp>
        <p:nvSpPr>
          <p:cNvPr id="18" name="Text 16"/>
          <p:cNvSpPr/>
          <p:nvPr/>
        </p:nvSpPr>
        <p:spPr>
          <a:xfrm>
            <a:off x="10067544" y="3099816"/>
            <a:ext cx="1463040" cy="237744"/>
          </a:xfrm>
          <a:prstGeom prst="rect">
            <a:avLst/>
          </a:prstGeom>
          <a:noFill/>
          <a:ln/>
        </p:spPr>
        <p:txBody>
          <a:bodyPr wrap="square" rtlCol="0" anchor="t"/>
          <a:lstStyle/>
          <a:p>
            <a:pPr algn="r" indent="0" marL="0">
              <a:buNone/>
            </a:pPr>
            <a:r>
              <a:rPr lang="en-US" sz="850" b="1" spc="120" kern="0" dirty="0">
                <a:solidFill>
                  <a:srgbClr val="1F9D57"/>
                </a:solidFill>
                <a:latin typeface="Consolas" pitchFamily="34" charset="0"/>
                <a:ea typeface="Consolas" pitchFamily="34" charset="-122"/>
                <a:cs typeface="Consolas" pitchFamily="34" charset="-120"/>
              </a:rPr>
              <a:t>LANDED</a:t>
            </a:r>
            <a:endParaRPr lang="en-US" sz="850" dirty="0"/>
          </a:p>
        </p:txBody>
      </p:sp>
      <p:sp>
        <p:nvSpPr>
          <p:cNvPr id="19" name="Shape 17"/>
          <p:cNvSpPr/>
          <p:nvPr/>
        </p:nvSpPr>
        <p:spPr>
          <a:xfrm>
            <a:off x="658368" y="3575304"/>
            <a:ext cx="10872216" cy="0"/>
          </a:xfrm>
          <a:prstGeom prst="line">
            <a:avLst/>
          </a:prstGeom>
          <a:noFill/>
          <a:ln w="6350">
            <a:solidFill>
              <a:srgbClr val="DBE3EC"/>
            </a:solidFill>
            <a:prstDash val="solid"/>
          </a:ln>
        </p:spPr>
      </p:sp>
      <p:sp>
        <p:nvSpPr>
          <p:cNvPr id="20" name="Text 18"/>
          <p:cNvSpPr/>
          <p:nvPr/>
        </p:nvSpPr>
        <p:spPr>
          <a:xfrm>
            <a:off x="658368" y="3666744"/>
            <a:ext cx="1371600" cy="237744"/>
          </a:xfrm>
          <a:prstGeom prst="rect">
            <a:avLst/>
          </a:prstGeom>
          <a:noFill/>
          <a:ln/>
        </p:spPr>
        <p:txBody>
          <a:bodyPr wrap="square" rtlCol="0" anchor="t"/>
          <a:lstStyle/>
          <a:p>
            <a:pPr indent="0" marL="0">
              <a:buNone/>
            </a:pPr>
            <a:r>
              <a:rPr lang="en-US" sz="1050" b="1" dirty="0">
                <a:solidFill>
                  <a:srgbClr val="0A6E64"/>
                </a:solidFill>
                <a:latin typeface="Consolas" pitchFamily="34" charset="0"/>
                <a:ea typeface="Consolas" pitchFamily="34" charset="-122"/>
                <a:cs typeface="Consolas" pitchFamily="34" charset="-120"/>
              </a:rPr>
              <a:t>VCST-5745</a:t>
            </a:r>
            <a:endParaRPr lang="en-US" sz="1050" dirty="0"/>
          </a:p>
        </p:txBody>
      </p:sp>
      <p:sp>
        <p:nvSpPr>
          <p:cNvPr id="21" name="Text 19"/>
          <p:cNvSpPr/>
          <p:nvPr/>
        </p:nvSpPr>
        <p:spPr>
          <a:xfrm>
            <a:off x="2167128" y="3666744"/>
            <a:ext cx="7763256" cy="493776"/>
          </a:xfrm>
          <a:prstGeom prst="rect">
            <a:avLst/>
          </a:prstGeom>
          <a:noFill/>
          <a:ln/>
        </p:spPr>
        <p:txBody>
          <a:bodyPr wrap="square" rtlCol="0" anchor="t"/>
          <a:lstStyle/>
          <a:p>
            <a:pPr indent="0" marL="0">
              <a:lnSpc>
                <a:spcPct val="118000"/>
              </a:lnSpc>
              <a:buNone/>
            </a:pPr>
            <a:r>
              <a:rPr lang="en-US" sz="1050" dirty="0">
                <a:solidFill>
                  <a:srgbClr val="16202E"/>
                </a:solidFill>
                <a:latin typeface="Segoe UI" pitchFamily="34" charset="0"/>
                <a:ea typeface="Segoe UI" pitchFamily="34" charset="-122"/>
                <a:cs typeface="Segoe UI" pitchFamily="34" charset="-120"/>
              </a:rPr>
              <a:t>CSV export file-name token — suite registered, cases aligned to shipped behaviour and promoted on run evidence.</a:t>
            </a:r>
            <a:endParaRPr lang="en-US" sz="1050" dirty="0"/>
          </a:p>
        </p:txBody>
      </p:sp>
      <p:sp>
        <p:nvSpPr>
          <p:cNvPr id="22" name="Text 20"/>
          <p:cNvSpPr/>
          <p:nvPr/>
        </p:nvSpPr>
        <p:spPr>
          <a:xfrm>
            <a:off x="10067544" y="3666744"/>
            <a:ext cx="1463040" cy="237744"/>
          </a:xfrm>
          <a:prstGeom prst="rect">
            <a:avLst/>
          </a:prstGeom>
          <a:noFill/>
          <a:ln/>
        </p:spPr>
        <p:txBody>
          <a:bodyPr wrap="square" rtlCol="0" anchor="t"/>
          <a:lstStyle/>
          <a:p>
            <a:pPr algn="r" indent="0" marL="0">
              <a:buNone/>
            </a:pPr>
            <a:r>
              <a:rPr lang="en-US" sz="850" b="1" spc="120" kern="0" dirty="0">
                <a:solidFill>
                  <a:srgbClr val="1F9D57"/>
                </a:solidFill>
                <a:latin typeface="Consolas" pitchFamily="34" charset="0"/>
                <a:ea typeface="Consolas" pitchFamily="34" charset="-122"/>
                <a:cs typeface="Consolas" pitchFamily="34" charset="-120"/>
              </a:rPr>
              <a:t>LANDED</a:t>
            </a:r>
            <a:endParaRPr lang="en-US" sz="850" dirty="0"/>
          </a:p>
        </p:txBody>
      </p:sp>
      <p:sp>
        <p:nvSpPr>
          <p:cNvPr id="23" name="Shape 21"/>
          <p:cNvSpPr/>
          <p:nvPr/>
        </p:nvSpPr>
        <p:spPr>
          <a:xfrm>
            <a:off x="658368" y="4142232"/>
            <a:ext cx="10872216" cy="0"/>
          </a:xfrm>
          <a:prstGeom prst="line">
            <a:avLst/>
          </a:prstGeom>
          <a:noFill/>
          <a:ln w="6350">
            <a:solidFill>
              <a:srgbClr val="DBE3EC"/>
            </a:solidFill>
            <a:prstDash val="solid"/>
          </a:ln>
        </p:spPr>
      </p:sp>
      <p:sp>
        <p:nvSpPr>
          <p:cNvPr id="24" name="Text 22"/>
          <p:cNvSpPr/>
          <p:nvPr/>
        </p:nvSpPr>
        <p:spPr>
          <a:xfrm>
            <a:off x="658368" y="4233672"/>
            <a:ext cx="1371600" cy="237744"/>
          </a:xfrm>
          <a:prstGeom prst="rect">
            <a:avLst/>
          </a:prstGeom>
          <a:noFill/>
          <a:ln/>
        </p:spPr>
        <p:txBody>
          <a:bodyPr wrap="square" rtlCol="0" anchor="t"/>
          <a:lstStyle/>
          <a:p>
            <a:pPr indent="0" marL="0">
              <a:buNone/>
            </a:pPr>
            <a:r>
              <a:rPr lang="en-US" sz="1050" b="1" dirty="0">
                <a:solidFill>
                  <a:srgbClr val="0A6E64"/>
                </a:solidFill>
                <a:latin typeface="Consolas" pitchFamily="34" charset="0"/>
                <a:ea typeface="Consolas" pitchFamily="34" charset="-122"/>
                <a:cs typeface="Consolas" pitchFamily="34" charset="-120"/>
              </a:rPr>
              <a:t>044 · 049</a:t>
            </a:r>
            <a:endParaRPr lang="en-US" sz="1050" dirty="0"/>
          </a:p>
        </p:txBody>
      </p:sp>
      <p:sp>
        <p:nvSpPr>
          <p:cNvPr id="25" name="Text 23"/>
          <p:cNvSpPr/>
          <p:nvPr/>
        </p:nvSpPr>
        <p:spPr>
          <a:xfrm>
            <a:off x="2167128" y="4233672"/>
            <a:ext cx="7763256" cy="493776"/>
          </a:xfrm>
          <a:prstGeom prst="rect">
            <a:avLst/>
          </a:prstGeom>
          <a:noFill/>
          <a:ln/>
        </p:spPr>
        <p:txBody>
          <a:bodyPr wrap="square" rtlCol="0" anchor="t"/>
          <a:lstStyle/>
          <a:p>
            <a:pPr indent="0" marL="0">
              <a:lnSpc>
                <a:spcPct val="118000"/>
              </a:lnSpc>
              <a:buNone/>
            </a:pPr>
            <a:r>
              <a:rPr lang="en-US" sz="1050" dirty="0">
                <a:solidFill>
                  <a:srgbClr val="16202E"/>
                </a:solidFill>
                <a:latin typeface="Segoe UI" pitchFamily="34" charset="0"/>
                <a:ea typeface="Segoe UI" pitchFamily="34" charset="-122"/>
                <a:cs typeface="Segoe UI" pitchFamily="34" charset="-120"/>
              </a:rPr>
              <a:t>Security and Platform API suites — triangulated against docs, live and source; every high-severity finding cleared.</a:t>
            </a:r>
            <a:endParaRPr lang="en-US" sz="1050" dirty="0"/>
          </a:p>
        </p:txBody>
      </p:sp>
      <p:sp>
        <p:nvSpPr>
          <p:cNvPr id="26" name="Text 24"/>
          <p:cNvSpPr/>
          <p:nvPr/>
        </p:nvSpPr>
        <p:spPr>
          <a:xfrm>
            <a:off x="10067544" y="4233672"/>
            <a:ext cx="1463040" cy="237744"/>
          </a:xfrm>
          <a:prstGeom prst="rect">
            <a:avLst/>
          </a:prstGeom>
          <a:noFill/>
          <a:ln/>
        </p:spPr>
        <p:txBody>
          <a:bodyPr wrap="square" rtlCol="0" anchor="t"/>
          <a:lstStyle/>
          <a:p>
            <a:pPr algn="r" indent="0" marL="0">
              <a:buNone/>
            </a:pPr>
            <a:r>
              <a:rPr lang="en-US" sz="850" b="1" spc="120" kern="0" dirty="0">
                <a:solidFill>
                  <a:srgbClr val="1F9D57"/>
                </a:solidFill>
                <a:latin typeface="Consolas" pitchFamily="34" charset="0"/>
                <a:ea typeface="Consolas" pitchFamily="34" charset="-122"/>
                <a:cs typeface="Consolas" pitchFamily="34" charset="-120"/>
              </a:rPr>
              <a:t>LANDED</a:t>
            </a:r>
            <a:endParaRPr lang="en-US" sz="850" dirty="0"/>
          </a:p>
        </p:txBody>
      </p:sp>
      <p:sp>
        <p:nvSpPr>
          <p:cNvPr id="27" name="Shape 25"/>
          <p:cNvSpPr/>
          <p:nvPr/>
        </p:nvSpPr>
        <p:spPr>
          <a:xfrm>
            <a:off x="658368" y="4709160"/>
            <a:ext cx="10872216" cy="0"/>
          </a:xfrm>
          <a:prstGeom prst="line">
            <a:avLst/>
          </a:prstGeom>
          <a:noFill/>
          <a:ln w="6350">
            <a:solidFill>
              <a:srgbClr val="DBE3EC"/>
            </a:solidFill>
            <a:prstDash val="solid"/>
          </a:ln>
        </p:spPr>
      </p:sp>
      <p:sp>
        <p:nvSpPr>
          <p:cNvPr id="28" name="Text 26"/>
          <p:cNvSpPr/>
          <p:nvPr/>
        </p:nvSpPr>
        <p:spPr>
          <a:xfrm>
            <a:off x="658368" y="4800600"/>
            <a:ext cx="1371600" cy="237744"/>
          </a:xfrm>
          <a:prstGeom prst="rect">
            <a:avLst/>
          </a:prstGeom>
          <a:noFill/>
          <a:ln/>
        </p:spPr>
        <p:txBody>
          <a:bodyPr wrap="square" rtlCol="0" anchor="t"/>
          <a:lstStyle/>
          <a:p>
            <a:pPr indent="0" marL="0">
              <a:buNone/>
            </a:pPr>
            <a:r>
              <a:rPr lang="en-US" sz="1050" b="1" dirty="0">
                <a:solidFill>
                  <a:srgbClr val="0A6E64"/>
                </a:solidFill>
                <a:latin typeface="Consolas" pitchFamily="34" charset="0"/>
                <a:ea typeface="Consolas" pitchFamily="34" charset="-122"/>
                <a:cs typeface="Consolas" pitchFamily="34" charset="-120"/>
              </a:rPr>
              <a:t>VCST-5733</a:t>
            </a:r>
            <a:endParaRPr lang="en-US" sz="1050" dirty="0"/>
          </a:p>
        </p:txBody>
      </p:sp>
      <p:sp>
        <p:nvSpPr>
          <p:cNvPr id="29" name="Text 27"/>
          <p:cNvSpPr/>
          <p:nvPr/>
        </p:nvSpPr>
        <p:spPr>
          <a:xfrm>
            <a:off x="2167128" y="4800600"/>
            <a:ext cx="7763256" cy="493776"/>
          </a:xfrm>
          <a:prstGeom prst="rect">
            <a:avLst/>
          </a:prstGeom>
          <a:noFill/>
          <a:ln/>
        </p:spPr>
        <p:txBody>
          <a:bodyPr wrap="square" rtlCol="0" anchor="t"/>
          <a:lstStyle/>
          <a:p>
            <a:pPr indent="0" marL="0">
              <a:lnSpc>
                <a:spcPct val="118000"/>
              </a:lnSpc>
              <a:buNone/>
            </a:pPr>
            <a:r>
              <a:rPr lang="en-US" sz="1050" dirty="0">
                <a:solidFill>
                  <a:srgbClr val="16202E"/>
                </a:solidFill>
                <a:latin typeface="Segoe UI" pitchFamily="34" charset="0"/>
                <a:ea typeface="Segoe UI" pitchFamily="34" charset="-122"/>
                <a:cs typeface="Segoe UI" pitchFamily="34" charset="-120"/>
              </a:rPr>
              <a:t>Sales-rep customer orders — round-one findings, design report and evidence; the first run to exercise the visual axis for real.</a:t>
            </a:r>
            <a:endParaRPr lang="en-US" sz="1050" dirty="0"/>
          </a:p>
        </p:txBody>
      </p:sp>
      <p:sp>
        <p:nvSpPr>
          <p:cNvPr id="30" name="Text 28"/>
          <p:cNvSpPr/>
          <p:nvPr/>
        </p:nvSpPr>
        <p:spPr>
          <a:xfrm>
            <a:off x="10067544" y="4800600"/>
            <a:ext cx="1463040" cy="237744"/>
          </a:xfrm>
          <a:prstGeom prst="rect">
            <a:avLst/>
          </a:prstGeom>
          <a:noFill/>
          <a:ln/>
        </p:spPr>
        <p:txBody>
          <a:bodyPr wrap="square" rtlCol="0" anchor="t"/>
          <a:lstStyle/>
          <a:p>
            <a:pPr algn="r" indent="0" marL="0">
              <a:buNone/>
            </a:pPr>
            <a:r>
              <a:rPr lang="en-US" sz="850" b="1" spc="120" kern="0" dirty="0">
                <a:solidFill>
                  <a:srgbClr val="C98A1A"/>
                </a:solidFill>
                <a:latin typeface="Consolas" pitchFamily="34" charset="0"/>
                <a:ea typeface="Consolas" pitchFamily="34" charset="-122"/>
                <a:cs typeface="Consolas" pitchFamily="34" charset="-120"/>
              </a:rPr>
              <a:t>IN FLIGHT</a:t>
            </a:r>
            <a:endParaRPr lang="en-US" sz="850" dirty="0"/>
          </a:p>
        </p:txBody>
      </p:sp>
      <p:sp>
        <p:nvSpPr>
          <p:cNvPr id="31" name="Shape 29"/>
          <p:cNvSpPr/>
          <p:nvPr/>
        </p:nvSpPr>
        <p:spPr>
          <a:xfrm>
            <a:off x="658368" y="5276088"/>
            <a:ext cx="10872216" cy="0"/>
          </a:xfrm>
          <a:prstGeom prst="line">
            <a:avLst/>
          </a:prstGeom>
          <a:noFill/>
          <a:ln w="6350">
            <a:solidFill>
              <a:srgbClr val="DBE3EC"/>
            </a:solidFill>
            <a:prstDash val="solid"/>
          </a:ln>
        </p:spPr>
      </p:sp>
      <p:sp>
        <p:nvSpPr>
          <p:cNvPr id="32" name="Text 30"/>
          <p:cNvSpPr/>
          <p:nvPr/>
        </p:nvSpPr>
        <p:spPr>
          <a:xfrm>
            <a:off x="658368" y="5596128"/>
            <a:ext cx="10872216" cy="274320"/>
          </a:xfrm>
          <a:prstGeom prst="rect">
            <a:avLst/>
          </a:prstGeom>
          <a:noFill/>
          <a:ln/>
        </p:spPr>
        <p:txBody>
          <a:bodyPr wrap="square" rtlCol="0" anchor="ctr"/>
          <a:lstStyle/>
          <a:p>
            <a:pPr indent="0" marL="0">
              <a:buNone/>
            </a:pPr>
            <a:r>
              <a:rPr lang="en-US" sz="1050" dirty="0">
                <a:solidFill>
                  <a:srgbClr val="4D5C70"/>
                </a:solidFill>
                <a:latin typeface="Consolas" pitchFamily="34" charset="0"/>
                <a:ea typeface="Consolas" pitchFamily="34" charset="-122"/>
                <a:cs typeface="Consolas" pitchFamily="34" charset="-120"/>
              </a:rPr>
              <a:t>VCST-5733 is also the run that found the design axis needs a signed-in browser lane — a finding about our own tooling, produced by our own tooling.</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12188952" cy="50292"/>
          </a:xfrm>
          <a:prstGeom prst="rect">
            <a:avLst/>
          </a:prstGeom>
          <a:solidFill>
            <a:srgbClr val="0F9D8F"/>
          </a:solidFill>
          <a:ln/>
        </p:spPr>
      </p:sp>
      <p:sp>
        <p:nvSpPr>
          <p:cNvPr id="3" name="Text 1"/>
          <p:cNvSpPr/>
          <p:nvPr/>
        </p:nvSpPr>
        <p:spPr>
          <a:xfrm>
            <a:off x="10515600" y="6355080"/>
            <a:ext cx="1097280" cy="274320"/>
          </a:xfrm>
          <a:prstGeom prst="rect">
            <a:avLst/>
          </a:prstGeom>
          <a:noFill/>
          <a:ln/>
        </p:spPr>
        <p:txBody>
          <a:bodyPr wrap="square" rtlCol="0" anchor="ctr"/>
          <a:lstStyle/>
          <a:p>
            <a:pPr algn="r" indent="0" marL="0">
              <a:buNone/>
            </a:pPr>
            <a:r>
              <a:rPr lang="en-US" sz="900" dirty="0">
                <a:solidFill>
                  <a:srgbClr val="7C8AA0"/>
                </a:solidFill>
                <a:latin typeface="Consolas" pitchFamily="34" charset="0"/>
                <a:ea typeface="Consolas" pitchFamily="34" charset="-122"/>
                <a:cs typeface="Consolas" pitchFamily="34" charset="-120"/>
              </a:rPr>
              <a:t>14 / 14</a:t>
            </a:r>
            <a:endParaRPr lang="en-US" sz="900" dirty="0"/>
          </a:p>
        </p:txBody>
      </p:sp>
      <p:sp>
        <p:nvSpPr>
          <p:cNvPr id="4" name="Shape 2"/>
          <p:cNvSpPr/>
          <p:nvPr/>
        </p:nvSpPr>
        <p:spPr>
          <a:xfrm>
            <a:off x="658368" y="566928"/>
            <a:ext cx="237744" cy="25603"/>
          </a:xfrm>
          <a:prstGeom prst="rect">
            <a:avLst/>
          </a:prstGeom>
          <a:solidFill>
            <a:srgbClr val="0F9D8F"/>
          </a:solidFill>
          <a:ln/>
        </p:spPr>
      </p:sp>
      <p:sp>
        <p:nvSpPr>
          <p:cNvPr id="5" name="Text 3"/>
          <p:cNvSpPr/>
          <p:nvPr/>
        </p:nvSpPr>
        <p:spPr>
          <a:xfrm>
            <a:off x="1005840" y="402336"/>
            <a:ext cx="10524744" cy="292608"/>
          </a:xfrm>
          <a:prstGeom prst="rect">
            <a:avLst/>
          </a:prstGeom>
          <a:noFill/>
          <a:ln/>
        </p:spPr>
        <p:txBody>
          <a:bodyPr wrap="square" rtlCol="0" anchor="ctr"/>
          <a:lstStyle/>
          <a:p>
            <a:pPr indent="0" marL="0">
              <a:buNone/>
            </a:pPr>
            <a:r>
              <a:rPr lang="en-US" sz="950" b="1" spc="220" kern="0" dirty="0">
                <a:solidFill>
                  <a:srgbClr val="0A6E64"/>
                </a:solidFill>
                <a:latin typeface="Consolas" pitchFamily="34" charset="0"/>
                <a:ea typeface="Consolas" pitchFamily="34" charset="-122"/>
                <a:cs typeface="Consolas" pitchFamily="34" charset="-120"/>
              </a:rPr>
              <a:t>WHERE THAT LEAVES US</a:t>
            </a:r>
            <a:endParaRPr lang="en-US" sz="950" dirty="0"/>
          </a:p>
        </p:txBody>
      </p:sp>
      <p:sp>
        <p:nvSpPr>
          <p:cNvPr id="6" name="Text 4"/>
          <p:cNvSpPr/>
          <p:nvPr/>
        </p:nvSpPr>
        <p:spPr>
          <a:xfrm>
            <a:off x="658368" y="841248"/>
            <a:ext cx="10872216" cy="868680"/>
          </a:xfrm>
          <a:prstGeom prst="rect">
            <a:avLst/>
          </a:prstGeom>
          <a:noFill/>
          <a:ln/>
        </p:spPr>
        <p:txBody>
          <a:bodyPr wrap="square" rtlCol="0" anchor="t"/>
          <a:lstStyle/>
          <a:p>
            <a:pPr indent="0" marL="0">
              <a:buNone/>
            </a:pPr>
            <a:r>
              <a:rPr lang="en-US" sz="2800" b="1" dirty="0">
                <a:solidFill>
                  <a:srgbClr val="16202E"/>
                </a:solidFill>
                <a:latin typeface="Segoe UI" pitchFamily="34" charset="0"/>
                <a:ea typeface="Segoe UI" pitchFamily="34" charset="-122"/>
                <a:cs typeface="Segoe UI" pitchFamily="34" charset="-120"/>
              </a:rPr>
              <a:t>Three shifts, and they are all the same shift.</a:t>
            </a:r>
            <a:endParaRPr lang="en-US" sz="2800" dirty="0"/>
          </a:p>
        </p:txBody>
      </p:sp>
      <p:sp>
        <p:nvSpPr>
          <p:cNvPr id="7" name="Text 5"/>
          <p:cNvSpPr/>
          <p:nvPr/>
        </p:nvSpPr>
        <p:spPr>
          <a:xfrm>
            <a:off x="658368" y="1737360"/>
            <a:ext cx="9692640" cy="685800"/>
          </a:xfrm>
          <a:prstGeom prst="rect">
            <a:avLst/>
          </a:prstGeom>
          <a:noFill/>
          <a:ln/>
        </p:spPr>
        <p:txBody>
          <a:bodyPr wrap="square" rtlCol="0" anchor="t"/>
          <a:lstStyle/>
          <a:p>
            <a:pPr indent="0" marL="0">
              <a:lnSpc>
                <a:spcPct val="125000"/>
              </a:lnSpc>
              <a:buNone/>
            </a:pPr>
            <a:r>
              <a:rPr lang="en-US" sz="1300" dirty="0">
                <a:solidFill>
                  <a:srgbClr val="4D5C70"/>
                </a:solidFill>
                <a:latin typeface="Segoe UI" pitchFamily="34" charset="0"/>
                <a:ea typeface="Segoe UI" pitchFamily="34" charset="-122"/>
                <a:cs typeface="Segoe UI" pitchFamily="34" charset="-120"/>
              </a:rPr>
              <a:t>Stop trusting that something was checked. Make it checkable, and then check it.</a:t>
            </a:r>
            <a:endParaRPr lang="en-US" sz="1300" dirty="0"/>
          </a:p>
        </p:txBody>
      </p:sp>
      <p:sp>
        <p:nvSpPr>
          <p:cNvPr id="8" name="Shape 6"/>
          <p:cNvSpPr/>
          <p:nvPr/>
        </p:nvSpPr>
        <p:spPr>
          <a:xfrm>
            <a:off x="658368" y="2468880"/>
            <a:ext cx="3471672" cy="2286000"/>
          </a:xfrm>
          <a:prstGeom prst="roundRect">
            <a:avLst>
              <a:gd name="adj" fmla="val 2400"/>
            </a:avLst>
          </a:prstGeom>
          <a:solidFill>
            <a:srgbClr val="FFFFFF"/>
          </a:solidFill>
          <a:ln w="6350">
            <a:solidFill>
              <a:srgbClr val="DBE3EC"/>
            </a:solidFill>
            <a:prstDash val="solid"/>
          </a:ln>
        </p:spPr>
      </p:sp>
      <p:sp>
        <p:nvSpPr>
          <p:cNvPr id="9" name="Shape 7"/>
          <p:cNvSpPr/>
          <p:nvPr/>
        </p:nvSpPr>
        <p:spPr>
          <a:xfrm>
            <a:off x="658368" y="2514600"/>
            <a:ext cx="41148" cy="2194560"/>
          </a:xfrm>
          <a:prstGeom prst="rect">
            <a:avLst/>
          </a:prstGeom>
          <a:solidFill>
            <a:srgbClr val="0F9D8F"/>
          </a:solidFill>
          <a:ln/>
        </p:spPr>
      </p:sp>
      <p:sp>
        <p:nvSpPr>
          <p:cNvPr id="10" name="Text 8"/>
          <p:cNvSpPr/>
          <p:nvPr/>
        </p:nvSpPr>
        <p:spPr>
          <a:xfrm>
            <a:off x="914400" y="2651760"/>
            <a:ext cx="3014472"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DESIGN</a:t>
            </a:r>
            <a:endParaRPr lang="en-US" sz="800" dirty="0"/>
          </a:p>
        </p:txBody>
      </p:sp>
      <p:sp>
        <p:nvSpPr>
          <p:cNvPr id="11" name="Text 9"/>
          <p:cNvSpPr/>
          <p:nvPr/>
        </p:nvSpPr>
        <p:spPr>
          <a:xfrm>
            <a:off x="914400" y="2889504"/>
            <a:ext cx="3014472"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Name the mechanism first</a:t>
            </a:r>
            <a:endParaRPr lang="en-US" sz="1300" dirty="0"/>
          </a:p>
        </p:txBody>
      </p:sp>
      <p:sp>
        <p:nvSpPr>
          <p:cNvPr id="12" name="Text 10"/>
          <p:cNvSpPr/>
          <p:nvPr/>
        </p:nvSpPr>
        <p:spPr>
          <a:xfrm>
            <a:off x="914400" y="3273552"/>
            <a:ext cx="3014472" cy="1298448"/>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A value chain before a parameter space. Every case now has to say what it reads, what a customer would see fail, and why that failure is plausible here — before it is written, which is the only point at which culling it is cheap.</a:t>
            </a:r>
            <a:endParaRPr lang="en-US" sz="950" dirty="0"/>
          </a:p>
        </p:txBody>
      </p:sp>
      <p:sp>
        <p:nvSpPr>
          <p:cNvPr id="13" name="Shape 11"/>
          <p:cNvSpPr/>
          <p:nvPr/>
        </p:nvSpPr>
        <p:spPr>
          <a:xfrm>
            <a:off x="4358640" y="2468880"/>
            <a:ext cx="3471672" cy="2286000"/>
          </a:xfrm>
          <a:prstGeom prst="roundRect">
            <a:avLst>
              <a:gd name="adj" fmla="val 2400"/>
            </a:avLst>
          </a:prstGeom>
          <a:solidFill>
            <a:srgbClr val="FFFFFF"/>
          </a:solidFill>
          <a:ln w="6350">
            <a:solidFill>
              <a:srgbClr val="DBE3EC"/>
            </a:solidFill>
            <a:prstDash val="solid"/>
          </a:ln>
        </p:spPr>
      </p:sp>
      <p:sp>
        <p:nvSpPr>
          <p:cNvPr id="14" name="Shape 12"/>
          <p:cNvSpPr/>
          <p:nvPr/>
        </p:nvSpPr>
        <p:spPr>
          <a:xfrm>
            <a:off x="4358640" y="2514600"/>
            <a:ext cx="41148" cy="2194560"/>
          </a:xfrm>
          <a:prstGeom prst="rect">
            <a:avLst/>
          </a:prstGeom>
          <a:solidFill>
            <a:srgbClr val="5566E0"/>
          </a:solidFill>
          <a:ln/>
        </p:spPr>
      </p:sp>
      <p:sp>
        <p:nvSpPr>
          <p:cNvPr id="15" name="Text 13"/>
          <p:cNvSpPr/>
          <p:nvPr/>
        </p:nvSpPr>
        <p:spPr>
          <a:xfrm>
            <a:off x="4614672" y="2651760"/>
            <a:ext cx="3014472"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SCOPE</a:t>
            </a:r>
            <a:endParaRPr lang="en-US" sz="800" dirty="0"/>
          </a:p>
        </p:txBody>
      </p:sp>
      <p:sp>
        <p:nvSpPr>
          <p:cNvPr id="16" name="Text 14"/>
          <p:cNvSpPr/>
          <p:nvPr/>
        </p:nvSpPr>
        <p:spPr>
          <a:xfrm>
            <a:off x="4614672" y="2889504"/>
            <a:ext cx="3014472"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Read what already exists</a:t>
            </a:r>
            <a:endParaRPr lang="en-US" sz="1300" dirty="0"/>
          </a:p>
        </p:txBody>
      </p:sp>
      <p:sp>
        <p:nvSpPr>
          <p:cNvPr id="17" name="Text 15"/>
          <p:cNvSpPr/>
          <p:nvPr/>
        </p:nvSpPr>
        <p:spPr>
          <a:xfrm>
            <a:off x="4614672" y="3273552"/>
            <a:ext cx="3014472" cy="1298448"/>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Prior analysis, prior models, the current contract, and the rows this change makes wrong. Every one of those was on disk and unread. Prior art is a hypothesis to triangulate, never a baseline to trust.</a:t>
            </a:r>
            <a:endParaRPr lang="en-US" sz="950" dirty="0"/>
          </a:p>
        </p:txBody>
      </p:sp>
      <p:sp>
        <p:nvSpPr>
          <p:cNvPr id="18" name="Shape 16"/>
          <p:cNvSpPr/>
          <p:nvPr/>
        </p:nvSpPr>
        <p:spPr>
          <a:xfrm>
            <a:off x="8058912" y="2468880"/>
            <a:ext cx="3471672" cy="2286000"/>
          </a:xfrm>
          <a:prstGeom prst="roundRect">
            <a:avLst>
              <a:gd name="adj" fmla="val 2400"/>
            </a:avLst>
          </a:prstGeom>
          <a:solidFill>
            <a:srgbClr val="FFFFFF"/>
          </a:solidFill>
          <a:ln w="6350">
            <a:solidFill>
              <a:srgbClr val="DBE3EC"/>
            </a:solidFill>
            <a:prstDash val="solid"/>
          </a:ln>
        </p:spPr>
      </p:sp>
      <p:sp>
        <p:nvSpPr>
          <p:cNvPr id="19" name="Shape 17"/>
          <p:cNvSpPr/>
          <p:nvPr/>
        </p:nvSpPr>
        <p:spPr>
          <a:xfrm>
            <a:off x="8058912" y="2514600"/>
            <a:ext cx="41148" cy="2194560"/>
          </a:xfrm>
          <a:prstGeom prst="rect">
            <a:avLst/>
          </a:prstGeom>
          <a:solidFill>
            <a:srgbClr val="1F9D57"/>
          </a:solidFill>
          <a:ln/>
        </p:spPr>
      </p:sp>
      <p:sp>
        <p:nvSpPr>
          <p:cNvPr id="20" name="Text 18"/>
          <p:cNvSpPr/>
          <p:nvPr/>
        </p:nvSpPr>
        <p:spPr>
          <a:xfrm>
            <a:off x="8314944" y="2651760"/>
            <a:ext cx="3014472" cy="201168"/>
          </a:xfrm>
          <a:prstGeom prst="rect">
            <a:avLst/>
          </a:prstGeom>
          <a:noFill/>
          <a:ln/>
        </p:spPr>
        <p:txBody>
          <a:bodyPr wrap="square" rtlCol="0" anchor="ctr"/>
          <a:lstStyle/>
          <a:p>
            <a:pPr indent="0" marL="0">
              <a:buNone/>
            </a:pPr>
            <a:r>
              <a:rPr lang="en-US" sz="800" b="1" spc="140" kern="0" dirty="0">
                <a:solidFill>
                  <a:srgbClr val="7C8AA0"/>
                </a:solidFill>
                <a:latin typeface="Consolas" pitchFamily="34" charset="0"/>
                <a:ea typeface="Consolas" pitchFamily="34" charset="-122"/>
                <a:cs typeface="Consolas" pitchFamily="34" charset="-120"/>
              </a:rPr>
              <a:t>COST</a:t>
            </a:r>
            <a:endParaRPr lang="en-US" sz="800" dirty="0"/>
          </a:p>
        </p:txBody>
      </p:sp>
      <p:sp>
        <p:nvSpPr>
          <p:cNvPr id="21" name="Text 19"/>
          <p:cNvSpPr/>
          <p:nvPr/>
        </p:nvSpPr>
        <p:spPr>
          <a:xfrm>
            <a:off x="8314944" y="2889504"/>
            <a:ext cx="3014472" cy="310896"/>
          </a:xfrm>
          <a:prstGeom prst="rect">
            <a:avLst/>
          </a:prstGeom>
          <a:noFill/>
          <a:ln/>
        </p:spPr>
        <p:txBody>
          <a:bodyPr wrap="square" rtlCol="0" anchor="t"/>
          <a:lstStyle/>
          <a:p>
            <a:pPr indent="0" marL="0">
              <a:buNone/>
            </a:pPr>
            <a:r>
              <a:rPr lang="en-US" sz="1300" b="1" dirty="0">
                <a:solidFill>
                  <a:srgbClr val="16202E"/>
                </a:solidFill>
                <a:latin typeface="Segoe UI" pitchFamily="34" charset="0"/>
                <a:ea typeface="Segoe UI" pitchFamily="34" charset="-122"/>
                <a:cs typeface="Segoe UI" pitchFamily="34" charset="-120"/>
              </a:rPr>
              <a:t>Effort tracks risk</a:t>
            </a:r>
            <a:endParaRPr lang="en-US" sz="1300" dirty="0"/>
          </a:p>
        </p:txBody>
      </p:sp>
      <p:sp>
        <p:nvSpPr>
          <p:cNvPr id="22" name="Text 20"/>
          <p:cNvSpPr/>
          <p:nvPr/>
        </p:nvSpPr>
        <p:spPr>
          <a:xfrm>
            <a:off x="8314944" y="3273552"/>
            <a:ext cx="3014472" cy="1298448"/>
          </a:xfrm>
          <a:prstGeom prst="rect">
            <a:avLst/>
          </a:prstGeom>
          <a:noFill/>
          <a:ln/>
        </p:spPr>
        <p:txBody>
          <a:bodyPr wrap="square" rtlCol="0" anchor="t"/>
          <a:lstStyle/>
          <a:p>
            <a:pPr indent="0" marL="0">
              <a:lnSpc>
                <a:spcPct val="118000"/>
              </a:lnSpc>
              <a:buNone/>
            </a:pPr>
            <a:r>
              <a:rPr lang="en-US" sz="950" dirty="0">
                <a:solidFill>
                  <a:srgbClr val="4D5C70"/>
                </a:solidFill>
                <a:latin typeface="Segoe UI" pitchFamily="34" charset="0"/>
                <a:ea typeface="Segoe UI" pitchFamily="34" charset="-122"/>
                <a:cs typeface="Segoe UI" pitchFamily="34" charset="-120"/>
              </a:rPr>
              <a:t>FAST is a checklist. FULL buys a model, authoring and three independent verifiers. Three axes are opt-in on FAST until the measurements say otherwise — and merge and release are still human.</a:t>
            </a:r>
            <a:endParaRPr lang="en-US" sz="950" dirty="0"/>
          </a:p>
        </p:txBody>
      </p:sp>
      <p:sp>
        <p:nvSpPr>
          <p:cNvPr id="23" name="Text 21"/>
          <p:cNvSpPr/>
          <p:nvPr/>
        </p:nvSpPr>
        <p:spPr>
          <a:xfrm>
            <a:off x="658368" y="5257800"/>
            <a:ext cx="10872216" cy="274320"/>
          </a:xfrm>
          <a:prstGeom prst="rect">
            <a:avLst/>
          </a:prstGeom>
          <a:noFill/>
          <a:ln/>
        </p:spPr>
        <p:txBody>
          <a:bodyPr wrap="square" rtlCol="0" anchor="ctr"/>
          <a:lstStyle/>
          <a:p>
            <a:pPr algn="ctr" indent="0" marL="0">
              <a:buNone/>
            </a:pPr>
            <a:r>
              <a:rPr lang="en-US" sz="1100" dirty="0">
                <a:solidFill>
                  <a:srgbClr val="4D5C70"/>
                </a:solidFill>
                <a:latin typeface="Consolas" pitchFamily="34" charset="0"/>
                <a:ea typeface="Consolas" pitchFamily="34" charset="-122"/>
                <a:cs typeface="Consolas" pitchFamily="34" charset="-120"/>
              </a:rPr>
              <a:t>Thank you · questions &amp; walkthrough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Virto Commerce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Sprint 26-17 Demo — Agentic QA</dc:title>
  <dc:subject>Sprint 26-17 — Agentic QA</dc:subject>
  <dc:creator>Virto Commerce QA Engineering</dc:creator>
  <cp:lastModifiedBy>Virto Commerce QA Engineering</cp:lastModifiedBy>
  <cp:revision>1</cp:revision>
  <dcterms:created xsi:type="dcterms:W3CDTF">2026-09-04T09:18:15Z</dcterms:created>
  <dcterms:modified xsi:type="dcterms:W3CDTF">2026-09-04T09:18:15Z</dcterms:modified>
</cp:coreProperties>
</file>